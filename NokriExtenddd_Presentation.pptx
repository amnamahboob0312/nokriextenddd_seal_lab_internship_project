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56" y="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Good morning, everyone. My name is Amna Mahboob, and today I'll be presenting my project, NokriExtenddd, a fake job detector for LinkedIn.</a:t>
            </a:r>
          </a:p>
          <a:p>
            <a:r>
              <a:rPr lang="en-US" altLang="en-US" dirty="0"/>
              <a:t>It's a Chrome extension that automatically checks LinkedIn job postings for signs of fraud, right where you're already browsing.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Let me start with why this project matters and honestly, it started from something personal. When I was applying for jobs and internships myself, I had to do a lot of my own manual research just to check whether a posting was legitimate — and at one point, I very nearly applied to one that turned out to be a scam. That experience is really what pushed me to build this.</a:t>
            </a:r>
          </a:p>
          <a:p>
            <a:r>
              <a:rPr lang="en-US" altLang="en-US" dirty="0"/>
              <a:t>More broadly, fake job postings and internship scams are a real, growing problem — and the people most likely to fall for them are students and early-career job seekers, because they have the least experience spotting red flags.</a:t>
            </a:r>
          </a:p>
          <a:p>
            <a:r>
              <a:rPr lang="en-US" altLang="en-US" dirty="0"/>
              <a:t>Right now, if you want to check whether a company is legitimate, you have to leave LinkedIn, search separately, and cross-reference information yourself. Most people don't bother — they just apply, or worse, they get scammed, the same way I almost did.</a:t>
            </a:r>
          </a:p>
          <a:p>
            <a:r>
              <a:rPr lang="en-US" altLang="en-US" dirty="0"/>
              <a:t>And LinkedIn itself doesn't give you any kind of fraud score. There's no trust signal at all. So the objective of this project was simple: give every job seeker an automatic, real-time trust signal on the exact posting they're viewing — no extra research required.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Before I get into how it works, let me quickly explain what the system is actually built from because it's not one program, it's seven small pieces working together, like a small team.</a:t>
            </a:r>
          </a:p>
          <a:p>
            <a:r>
              <a:rPr lang="en-US" altLang="en-US" dirty="0"/>
              <a:t>"There's the Chrome Extension — that's the part the user actually sees and interacts with in their browser. It reads the job posting and shows the result."</a:t>
            </a:r>
          </a:p>
          <a:p>
            <a:r>
              <a:rPr lang="en-US" altLang="en-US" dirty="0"/>
              <a:t>"Behind that is a backend server, built with Node.js — think of this as the 'brain' that receives information, makes decisions, and stores it. It talks to a database, PostgreSQL, which is just where all the information is permanently saved — user accounts, scores, saved jobs, and so on."</a:t>
            </a:r>
          </a:p>
          <a:p>
            <a:r>
              <a:rPr lang="en-US" altLang="en-US" dirty="0"/>
              <a:t>"For the actual fraud-detection intelligence, I trained a machine learning model in Python, and that model runs inside a small separate service called Flask, which the main backend talks to whenever it needs a prediction."</a:t>
            </a:r>
          </a:p>
          <a:p>
            <a:r>
              <a:rPr lang="en-US" altLang="en-US" dirty="0"/>
              <a:t>"One more thing worth saying directly: you won't see any hardware or hosting specifications on this slide, and that's on purpose, not something I forgot. This is a working prototype that runs entirely on my own laptop right now — none of it is deployed to a live server. Before something like this could go up on the Chrome Web Store, it still needs further refinement and a proper hosting setup, which is actually one of the next steps I'll come back to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"So how does this actually work end-to-end? When you open a job posting on LinkedIn, five things happen in under two seconds."</a:t>
            </a:r>
          </a:p>
          <a:p>
            <a:r>
              <a:rPr lang="en-US" altLang="en-US" dirty="0"/>
              <a:t>"First, the extension scrapes — meaning it reads — nine pieces of information off the page: job title, company, description, and so on."</a:t>
            </a:r>
          </a:p>
          <a:p>
            <a:r>
              <a:rPr lang="en-US" altLang="en-US" dirty="0"/>
              <a:t>"That information is sent to the backend, which first checks whether you've used up your monthly quota. If you're within your limit, it runs three checks at the same time: the machine learning model gives a fraud probability, a blacklist check sees if the company has already been flagged by other users, and a set of simple rule checks look for obvious red flags — like a missing job description."</a:t>
            </a:r>
          </a:p>
          <a:p>
            <a:r>
              <a:rPr lang="en-US" altLang="en-US" dirty="0"/>
              <a:t>"These three signals are combined using a weighted formula — you can see it here: sixty percent machine learning, thirty percent blacklist, ten percent rule checks."</a:t>
            </a:r>
          </a:p>
          <a:p>
            <a:r>
              <a:rPr lang="en-US" altLang="en-US" dirty="0"/>
              <a:t>[Point to the formula on screen]</a:t>
            </a:r>
          </a:p>
          <a:p>
            <a:r>
              <a:rPr lang="en-US" altLang="en-US" dirty="0"/>
              <a:t>"I weighted the machine learning model highest because it's the most sophisticated signal, but I didn't want to rely on it completely, since it was trained on a relatively small dataset — so the blacklist and rule checks act as a safety net."</a:t>
            </a:r>
          </a:p>
          <a:p>
            <a:r>
              <a:rPr lang="en-US" altLang="en-US" dirty="0"/>
              <a:t>"I also deliberately chose a traffic-light color scheme for the result — green, amber, red — because it's something everyone already reads instinctively. The amber 'use caution' band isn't just a middle option for looks — I put it there on purpose, to represent genuine uncertainty, so a borderline posting doesn't get forced into a falsely confident 'safe' or 'unsafe' label."</a:t>
            </a:r>
          </a:p>
          <a:p>
            <a:r>
              <a:rPr lang="en-US" altLang="en-US" dirty="0"/>
              <a:t>"That combined score becomes what the user sees as a Trust Score — a percentage from zero to a hundred, color-coded green, amber, or red, so it reads intuitively, like a battery indicator. I chose to show a Trust Score rather than the internal Fraud Score specifically because a higher number meaning better reads far more naturally to users than a higher number meaning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"One honest limitation I want to flag myself, rather than have it be found: this only works on structured job posting pages — the ones with a dedicated title, company, and description field, like this one on the left."</a:t>
            </a:r>
          </a:p>
          <a:p>
            <a:r>
              <a:rPr lang="en-US" altLang="en-US" dirty="0"/>
              <a:t>[Point to the green "SUPPORTED" screenshot]</a:t>
            </a:r>
          </a:p>
          <a:p>
            <a:r>
              <a:rPr lang="en-US" altLang="en-US" dirty="0"/>
              <a:t>"It can't yet screen free-text hiring posts people share in the main LinkedIn feed, like this one on the right. The reason comes down to how the page itself is built: LinkedIn's dedicated job pages have named, structured fields — a specific field for the title, one for the company, one for the description — so the extension can reliably reach in and grab exactly what it needs. A free-text feed post is just one big, unstructured block of text with no such labeled fields, so there's nothing consistent for it to grab onto."</a:t>
            </a:r>
          </a:p>
          <a:p>
            <a:r>
              <a:rPr lang="en-US" altLang="en-US" dirty="0"/>
              <a:t>"Extracting information from free-flowing text like that is a fundamentally different, harder technique than reading a structured page, and it's something I've listed as a next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 trained it on 202 labeled job postings — meaning 202 real examples where I already knew which were real and which were fake. I combined the text fields from each posting and converted them into numbers the model could actually process, using a technique called TF-IDF."</a:t>
            </a:r>
          </a:p>
          <a:p>
            <a:r>
              <a:rPr lang="en-US" altLang="en-US" dirty="0"/>
              <a:t>"It's a way of turning words into numbers based on how important and how unusual they are in a piece of text — so words that show up in almost every posting, like 'the' or 'and,' get ignored, while distinctive words that might signal a scam get more weight."</a:t>
            </a:r>
          </a:p>
          <a:p>
            <a:r>
              <a:rPr lang="en-US" altLang="en-US" dirty="0"/>
              <a:t>"The model itself is a Logistic Regression — a well-established, simple algorithm that's good at yes/no style predictions, in this case, 'is this fake or not.' I didn't use deep learning because with only 202 examples, a more complex model would have just memorized the data rather than learned general patterns — that's called overfitting."</a:t>
            </a:r>
          </a:p>
          <a:p>
            <a:r>
              <a:rPr lang="en-US" altLang="en-US" dirty="0"/>
              <a:t>"I split the data eighty-twenty — eighty percent to train the model, twenty percent, or 41 postings, held back to test it fairly, on data it had never seen."</a:t>
            </a:r>
          </a:p>
          <a:p>
            <a:r>
              <a:rPr lang="en-US" altLang="en-US" dirty="0"/>
              <a:t>"To evaluate it fairly, I used something called a confusion matrix — basically a table comparing what the model predicted against what actually was true, so I could see exactly where it got things right or wrong, not just one overall percentage."</a:t>
            </a:r>
          </a:p>
          <a:p>
            <a:r>
              <a:rPr lang="en-US" altLang="en-US" dirty="0"/>
              <a:t>[Point to the results panel]</a:t>
            </a:r>
          </a:p>
          <a:p>
            <a:r>
              <a:rPr lang="en-US" altLang="en-US" dirty="0"/>
              <a:t>"On that held-out test set, it scored 0.758 on something called the F2 score. I specifically chose F2 instead of the more common F1 score, because in fraud detection, missing an actual fake posting is worse than occasionally over-flagging a real one — F2 puts more weight on catching fakes, even at the cost of some false alarms."</a:t>
            </a:r>
          </a:p>
          <a:p>
            <a:r>
              <a:rPr lang="en-US" altLang="en-US" dirty="0"/>
              <a:t>"It correctly caught 10 out of 14 fake postings, and correctly identified all 27 real postings, for 90% overall accuracy. But I want to be upfront: 202 rows is a small dataset, so these numbers carry real statistical noise — which is exactly why I didn't let the model act alone in the final scoring formula."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"Stepping back from the technical details — here's everything that actually got built. All eleven functional requirements from the original spec were completed, plus two extra features I added along the way: a Contact Us form, and an editable saved-jobs list with deadlines."</a:t>
            </a:r>
          </a:p>
          <a:p>
            <a:r>
              <a:rPr lang="en-US" altLang="en-US" dirty="0"/>
              <a:t>"The product also has a simple business model built in — a free tier with 200 screenings a month and one saved preference, and a Pro tier with unlimited screenings, ten saved preferences, and deadline reminders."</a:t>
            </a:r>
          </a:p>
          <a:p>
            <a:r>
              <a:rPr lang="en-US" altLang="en-US" dirty="0"/>
              <a:t>"Let me actually show you this live for a moment rather than just describe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"Just briefly — the visual design went through a real evolution. It started as this retro, pixel-art, dark 'game UI' style badge on the left, and ended up here, on the right, matching LinkedIn's own blue, rounded, professional look — because the goal was for it to feel like it belongs on the page, not like a separate gadget bolted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"First, brittle web scraping. LinkedIn auto-generates its CSS styling class names, and they change constantly — sometimes even between two loads of the exact same page in the exact same session, because they're generated fresh at build time rather than deliberately named. My first scraper broke almost immediately because it depended on one of those exact names, and hard-coding any specific class name was doomed to break sooner or later. I fixed it by matching on the structure of the page instead — for example, 'find the link that points to a job view URL' rather than 'find the element with this specific class name.' That's far more stable, because that structural pattern stays the same across LinkedIn's redesigns even when the styling underneath keeps changing."</a:t>
            </a:r>
          </a:p>
          <a:p>
            <a:r>
              <a:rPr lang="en-US" altLang="en-US" dirty="0"/>
              <a:t>"Second, salary scraping is still incomplete. I use a pattern-matching technique to pull salary numbers out of free text, and it only works when the posting states salary in a format I anticipated. This is a genuine, unresolved limitation I'm carrying forward as a next step, not something I'm hiding."</a:t>
            </a:r>
          </a:p>
          <a:p>
            <a:r>
              <a:rPr lang="en-US" altLang="en-US" dirty="0"/>
              <a:t>"Third — and this one taught me the most — a silent timezone bug. Saved deadlines were quietly shifting back by one day. To explain a bit more: PostgreSQL was storing the date correctly, but the problem was in the middle layer — the Node.js database driver automatically converts date values based on a timezone when it reads them out of the database, and again when it sends them back out as text, and those two conversions together quietly pushed the date back by a full day. There was no crash and no error message anywhere — the data always looked technically valid on the surface — so this could easily have shipped exactly like that, and I'd have had no idea until a reminder simply failed to fire on the wrong 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"Looking ahead, the clearest next steps are: building a much larger labeled dataset — well beyond 202 rows — retraining the model on it, extending the system to eventually handle free-text feed posts, fixing the salary-scraping gap, and — as I mentioned earlier — finally moving this off my laptop onto real hosting with HTTPS and a proper email service, so reminders and contact messages actually reach people and it's ready for something like the Chrome Web Store."</a:t>
            </a:r>
          </a:p>
          <a:p>
            <a:r>
              <a:rPr lang="en-US" altLang="en-US" dirty="0"/>
              <a:t>"That's NokriExtenddd — thank you. I'm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10378440" y="502920"/>
            <a:ext cx="63734" cy="63734"/>
          </a:xfrm>
          <a:prstGeom prst="rect">
            <a:avLst/>
          </a:prstGeom>
          <a:solidFill>
            <a:srgbClr val="0A66C2"/>
          </a:solidFill>
        </p:spPr>
        <p:txBody>
          <a:bodyPr/>
          <a:lstStyle/>
          <a:p>
            <a:endParaRPr lang="en-US"/>
          </a:p>
        </p:txBody>
      </p:sp>
      <p:sp>
        <p:nvSpPr>
          <p:cNvPr id="3" name="Shape 1"/>
          <p:cNvSpPr/>
          <p:nvPr/>
        </p:nvSpPr>
        <p:spPr>
          <a:xfrm>
            <a:off x="10844784" y="502920"/>
            <a:ext cx="63734" cy="63734"/>
          </a:xfrm>
          <a:prstGeom prst="rect">
            <a:avLst/>
          </a:prstGeom>
          <a:solidFill>
            <a:srgbClr val="0A66C2"/>
          </a:solidFill>
        </p:spPr>
        <p:txBody>
          <a:bodyPr/>
          <a:lstStyle/>
          <a:p>
            <a:endParaRPr lang="en-US"/>
          </a:p>
        </p:txBody>
      </p:sp>
      <p:sp>
        <p:nvSpPr>
          <p:cNvPr id="4" name="Shape 2"/>
          <p:cNvSpPr/>
          <p:nvPr/>
        </p:nvSpPr>
        <p:spPr>
          <a:xfrm>
            <a:off x="10456164" y="580644"/>
            <a:ext cx="63734" cy="63734"/>
          </a:xfrm>
          <a:prstGeom prst="rect">
            <a:avLst/>
          </a:prstGeom>
          <a:solidFill>
            <a:srgbClr val="0A66C2"/>
          </a:solidFill>
        </p:spPr>
        <p:txBody>
          <a:bodyPr/>
          <a:lstStyle/>
          <a:p>
            <a:endParaRPr lang="en-US"/>
          </a:p>
        </p:txBody>
      </p:sp>
      <p:sp>
        <p:nvSpPr>
          <p:cNvPr id="5" name="Shape 3"/>
          <p:cNvSpPr/>
          <p:nvPr/>
        </p:nvSpPr>
        <p:spPr>
          <a:xfrm>
            <a:off x="10767060" y="580644"/>
            <a:ext cx="63734" cy="63734"/>
          </a:xfrm>
          <a:prstGeom prst="rect">
            <a:avLst/>
          </a:prstGeom>
          <a:solidFill>
            <a:srgbClr val="0A66C2"/>
          </a:solidFill>
        </p:spPr>
        <p:txBody>
          <a:bodyPr/>
          <a:lstStyle/>
          <a:p>
            <a:endParaRPr lang="en-US"/>
          </a:p>
        </p:txBody>
      </p:sp>
      <p:sp>
        <p:nvSpPr>
          <p:cNvPr id="6" name="Shape 4"/>
          <p:cNvSpPr/>
          <p:nvPr/>
        </p:nvSpPr>
        <p:spPr>
          <a:xfrm>
            <a:off x="10533888" y="658368"/>
            <a:ext cx="63734" cy="63734"/>
          </a:xfrm>
          <a:prstGeom prst="rect">
            <a:avLst/>
          </a:prstGeom>
          <a:solidFill>
            <a:srgbClr val="0A66C2"/>
          </a:solidFill>
        </p:spPr>
        <p:txBody>
          <a:bodyPr/>
          <a:lstStyle/>
          <a:p>
            <a:endParaRPr lang="en-US"/>
          </a:p>
        </p:txBody>
      </p:sp>
      <p:sp>
        <p:nvSpPr>
          <p:cNvPr id="7" name="Shape 5"/>
          <p:cNvSpPr/>
          <p:nvPr/>
        </p:nvSpPr>
        <p:spPr>
          <a:xfrm>
            <a:off x="10689336" y="658368"/>
            <a:ext cx="63734" cy="63734"/>
          </a:xfrm>
          <a:prstGeom prst="rect">
            <a:avLst/>
          </a:prstGeom>
          <a:solidFill>
            <a:srgbClr val="0A66C2"/>
          </a:solidFill>
        </p:spPr>
        <p:txBody>
          <a:bodyPr/>
          <a:lstStyle/>
          <a:p>
            <a:endParaRPr lang="en-US"/>
          </a:p>
        </p:txBody>
      </p:sp>
      <p:sp>
        <p:nvSpPr>
          <p:cNvPr id="8" name="Shape 6"/>
          <p:cNvSpPr/>
          <p:nvPr/>
        </p:nvSpPr>
        <p:spPr>
          <a:xfrm>
            <a:off x="10611612" y="736092"/>
            <a:ext cx="63734" cy="63734"/>
          </a:xfrm>
          <a:prstGeom prst="rect">
            <a:avLst/>
          </a:prstGeom>
          <a:solidFill>
            <a:srgbClr val="0A66C2"/>
          </a:solidFill>
        </p:spPr>
        <p:txBody>
          <a:bodyPr/>
          <a:lstStyle/>
          <a:p>
            <a:endParaRPr lang="en-US"/>
          </a:p>
        </p:txBody>
      </p:sp>
      <p:sp>
        <p:nvSpPr>
          <p:cNvPr id="9" name="Shape 7"/>
          <p:cNvSpPr/>
          <p:nvPr/>
        </p:nvSpPr>
        <p:spPr>
          <a:xfrm>
            <a:off x="10533888" y="813816"/>
            <a:ext cx="63734" cy="63734"/>
          </a:xfrm>
          <a:prstGeom prst="rect">
            <a:avLst/>
          </a:prstGeom>
          <a:solidFill>
            <a:srgbClr val="0A66C2"/>
          </a:solidFill>
        </p:spPr>
        <p:txBody>
          <a:bodyPr/>
          <a:lstStyle/>
          <a:p>
            <a:endParaRPr lang="en-US"/>
          </a:p>
        </p:txBody>
      </p:sp>
      <p:sp>
        <p:nvSpPr>
          <p:cNvPr id="10" name="Shape 8"/>
          <p:cNvSpPr/>
          <p:nvPr/>
        </p:nvSpPr>
        <p:spPr>
          <a:xfrm>
            <a:off x="10689336" y="813816"/>
            <a:ext cx="63734" cy="63734"/>
          </a:xfrm>
          <a:prstGeom prst="rect">
            <a:avLst/>
          </a:prstGeom>
          <a:solidFill>
            <a:srgbClr val="0A66C2"/>
          </a:solidFill>
        </p:spPr>
        <p:txBody>
          <a:bodyPr/>
          <a:lstStyle/>
          <a:p>
            <a:endParaRPr lang="en-US"/>
          </a:p>
        </p:txBody>
      </p:sp>
      <p:sp>
        <p:nvSpPr>
          <p:cNvPr id="11" name="Shape 9"/>
          <p:cNvSpPr/>
          <p:nvPr/>
        </p:nvSpPr>
        <p:spPr>
          <a:xfrm>
            <a:off x="10456164" y="891540"/>
            <a:ext cx="63734" cy="63734"/>
          </a:xfrm>
          <a:prstGeom prst="rect">
            <a:avLst/>
          </a:prstGeom>
          <a:solidFill>
            <a:srgbClr val="0A66C2"/>
          </a:solidFill>
        </p:spPr>
        <p:txBody>
          <a:bodyPr/>
          <a:lstStyle/>
          <a:p>
            <a:endParaRPr lang="en-US"/>
          </a:p>
        </p:txBody>
      </p:sp>
      <p:sp>
        <p:nvSpPr>
          <p:cNvPr id="12" name="Shape 10"/>
          <p:cNvSpPr/>
          <p:nvPr/>
        </p:nvSpPr>
        <p:spPr>
          <a:xfrm>
            <a:off x="10767060" y="891540"/>
            <a:ext cx="63734" cy="63734"/>
          </a:xfrm>
          <a:prstGeom prst="rect">
            <a:avLst/>
          </a:prstGeom>
          <a:solidFill>
            <a:srgbClr val="0A66C2"/>
          </a:solidFill>
        </p:spPr>
        <p:txBody>
          <a:bodyPr/>
          <a:lstStyle/>
          <a:p>
            <a:endParaRPr lang="en-US"/>
          </a:p>
        </p:txBody>
      </p:sp>
      <p:sp>
        <p:nvSpPr>
          <p:cNvPr id="13" name="Shape 11"/>
          <p:cNvSpPr/>
          <p:nvPr/>
        </p:nvSpPr>
        <p:spPr>
          <a:xfrm>
            <a:off x="10378440" y="969264"/>
            <a:ext cx="63734" cy="63734"/>
          </a:xfrm>
          <a:prstGeom prst="rect">
            <a:avLst/>
          </a:prstGeom>
          <a:solidFill>
            <a:srgbClr val="0A66C2"/>
          </a:solidFill>
        </p:spPr>
        <p:txBody>
          <a:bodyPr/>
          <a:lstStyle/>
          <a:p>
            <a:endParaRPr lang="en-US"/>
          </a:p>
        </p:txBody>
      </p:sp>
      <p:sp>
        <p:nvSpPr>
          <p:cNvPr id="14" name="Shape 12"/>
          <p:cNvSpPr/>
          <p:nvPr/>
        </p:nvSpPr>
        <p:spPr>
          <a:xfrm>
            <a:off x="10844784" y="969264"/>
            <a:ext cx="63734" cy="63734"/>
          </a:xfrm>
          <a:prstGeom prst="rect">
            <a:avLst/>
          </a:prstGeom>
          <a:solidFill>
            <a:srgbClr val="0A66C2"/>
          </a:solidFill>
        </p:spPr>
        <p:txBody>
          <a:bodyPr/>
          <a:lstStyle/>
          <a:p>
            <a:endParaRPr lang="en-US"/>
          </a:p>
        </p:txBody>
      </p:sp>
      <p:sp>
        <p:nvSpPr>
          <p:cNvPr id="15" name="Shape 13"/>
          <p:cNvSpPr/>
          <p:nvPr/>
        </p:nvSpPr>
        <p:spPr>
          <a:xfrm>
            <a:off x="640080" y="2148840"/>
            <a:ext cx="777240" cy="777240"/>
          </a:xfrm>
          <a:prstGeom prst="roundRect">
            <a:avLst>
              <a:gd name="adj" fmla="val 18824"/>
            </a:avLst>
          </a:prstGeom>
          <a:solidFill>
            <a:srgbClr val="0A66C2"/>
          </a:solidFill>
        </p:spPr>
        <p:txBody>
          <a:bodyPr/>
          <a:lstStyle/>
          <a:p>
            <a:endParaRPr lang="en-US"/>
          </a:p>
        </p:txBody>
      </p:sp>
      <p:sp>
        <p:nvSpPr>
          <p:cNvPr id="16" name="Text 14"/>
          <p:cNvSpPr/>
          <p:nvPr/>
        </p:nvSpPr>
        <p:spPr>
          <a:xfrm>
            <a:off x="640080" y="2148840"/>
            <a:ext cx="777240" cy="777240"/>
          </a:xfrm>
          <a:prstGeom prst="rect">
            <a:avLst/>
          </a:prstGeom>
          <a:noFill/>
        </p:spPr>
        <p:txBody>
          <a:bodyPr wrap="square" lIns="0" tIns="0" rIns="0" bIns="0" rtlCol="0" anchor="ctr"/>
          <a:lstStyle/>
          <a:p>
            <a:pPr marL="0" indent="0" algn="ctr">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2400" dirty="0"/>
          </a:p>
        </p:txBody>
      </p:sp>
      <p:sp>
        <p:nvSpPr>
          <p:cNvPr id="17" name="Text 15"/>
          <p:cNvSpPr/>
          <p:nvPr/>
        </p:nvSpPr>
        <p:spPr>
          <a:xfrm>
            <a:off x="594360" y="3063240"/>
            <a:ext cx="10058400" cy="91440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NokriExtenddd</a:t>
            </a:r>
            <a:endParaRPr lang="en-US" sz="4600" dirty="0"/>
          </a:p>
        </p:txBody>
      </p:sp>
      <p:sp>
        <p:nvSpPr>
          <p:cNvPr id="18" name="Text 16"/>
          <p:cNvSpPr/>
          <p:nvPr/>
        </p:nvSpPr>
        <p:spPr>
          <a:xfrm>
            <a:off x="621792" y="3886200"/>
            <a:ext cx="10058400" cy="502920"/>
          </a:xfrm>
          <a:prstGeom prst="rect">
            <a:avLst/>
          </a:prstGeom>
          <a:noFill/>
        </p:spPr>
        <p:txBody>
          <a:bodyPr wrap="square" lIns="0" tIns="0" rIns="0" bIns="0" rtlCol="0" anchor="ctr"/>
          <a:lstStyle/>
          <a:p>
            <a:pPr marL="0" indent="0">
              <a:buNone/>
            </a:pPr>
            <a:r>
              <a:rPr lang="en-US" sz="2000" dirty="0">
                <a:solidFill>
                  <a:srgbClr val="C9D6E8"/>
                </a:solidFill>
                <a:latin typeface="Calibri" panose="020F0502020204030204" pitchFamily="34" charset="0"/>
                <a:ea typeface="Calibri" panose="020F0502020204030204" pitchFamily="34" charset="-122"/>
                <a:cs typeface="Calibri" panose="020F0502020204030204" pitchFamily="34" charset="-120"/>
              </a:rPr>
              <a:t>A Fake Job Detector for LinkedIn</a:t>
            </a:r>
            <a:endParaRPr lang="en-US" sz="2000" dirty="0"/>
          </a:p>
        </p:txBody>
      </p:sp>
      <p:sp>
        <p:nvSpPr>
          <p:cNvPr id="19" name="Text 17"/>
          <p:cNvSpPr/>
          <p:nvPr/>
        </p:nvSpPr>
        <p:spPr>
          <a:xfrm>
            <a:off x="621792" y="4434840"/>
            <a:ext cx="10058400" cy="365760"/>
          </a:xfrm>
          <a:prstGeom prst="rect">
            <a:avLst/>
          </a:prstGeom>
          <a:noFill/>
        </p:spPr>
        <p:txBody>
          <a:bodyPr wrap="square" lIns="0" tIns="0" rIns="0" bIns="0" rtlCol="0" anchor="ctr"/>
          <a:lstStyle/>
          <a:p>
            <a:pPr marL="0" indent="0">
              <a:buNone/>
            </a:pPr>
            <a:r>
              <a:rPr lang="en-US" sz="1250" dirty="0">
                <a:solidFill>
                  <a:srgbClr val="8FA3BF"/>
                </a:solidFill>
                <a:latin typeface="Calibri" panose="020F0502020204030204" pitchFamily="34" charset="0"/>
                <a:ea typeface="Calibri" panose="020F0502020204030204" pitchFamily="34" charset="-122"/>
                <a:cs typeface="Calibri" panose="020F0502020204030204" pitchFamily="34" charset="-120"/>
              </a:rPr>
              <a:t>Chrome Extension  ·  Node.js / Express  ·  PostgreSQL  ·  Python / scikit-learn  ·  Flask</a:t>
            </a:r>
            <a:endParaRPr lang="en-US" sz="1250" dirty="0"/>
          </a:p>
        </p:txBody>
      </p:sp>
      <p:sp>
        <p:nvSpPr>
          <p:cNvPr id="21" name="Text 19"/>
          <p:cNvSpPr/>
          <p:nvPr/>
        </p:nvSpPr>
        <p:spPr>
          <a:xfrm>
            <a:off x="786384" y="5623560"/>
            <a:ext cx="6986016" cy="566928"/>
          </a:xfrm>
          <a:prstGeom prst="rect">
            <a:avLst/>
          </a:prstGeom>
          <a:noFill/>
        </p:spPr>
        <p:txBody>
          <a:bodyPr wrap="square" lIns="0" tIns="0" rIns="0" bIns="0" rtlCol="0" anchor="ctr"/>
          <a:lstStyle/>
          <a:p>
            <a:r>
              <a:rPr lang="en-US" sz="1600" b="1" dirty="0">
                <a:solidFill>
                  <a:schemeClr val="bg1"/>
                </a:solidFill>
                <a:latin typeface="Calibri" panose="020F0502020204030204" pitchFamily="34" charset="0"/>
                <a:ea typeface="Calibri" panose="020F0502020204030204" pitchFamily="34" charset="-122"/>
                <a:cs typeface="Calibri" panose="020F0502020204030204" pitchFamily="34" charset="-120"/>
              </a:rPr>
              <a:t>Amna Mahboob (SP25-BED-015) </a:t>
            </a:r>
            <a:r>
              <a:rPr lang="en-US" sz="1600" dirty="0">
                <a:solidFill>
                  <a:schemeClr val="bg1"/>
                </a:solidFill>
                <a:latin typeface="Calibri" panose="020F0502020204030204" pitchFamily="34" charset="0"/>
                <a:ea typeface="Calibri" panose="020F0502020204030204" pitchFamily="34" charset="-122"/>
                <a:cs typeface="Calibri" panose="020F0502020204030204" pitchFamily="34" charset="-120"/>
              </a:rPr>
              <a:t>·  </a:t>
            </a:r>
            <a:r>
              <a:rPr lang="en-US" sz="1600" b="1" dirty="0">
                <a:solidFill>
                  <a:schemeClr val="bg1"/>
                </a:solidFill>
                <a:latin typeface="Calibri" panose="020F0502020204030204" pitchFamily="34" charset="0"/>
                <a:ea typeface="Calibri" panose="020F0502020204030204" pitchFamily="34" charset="-122"/>
                <a:cs typeface="Calibri" panose="020F0502020204030204" pitchFamily="34" charset="-120"/>
              </a:rPr>
              <a:t>SEAL Lab Project Under Sir Bilal Khalid Dar</a:t>
            </a:r>
            <a:endParaRPr lang="en-US" sz="1600" dirty="0">
              <a:solidFill>
                <a:schemeClr val="bg1"/>
              </a:solidFill>
            </a:endParaRPr>
          </a:p>
        </p:txBody>
      </p:sp>
      <p:sp>
        <p:nvSpPr>
          <p:cNvPr id="22" name="Text 20"/>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01 / 10</a:t>
            </a:r>
            <a:endParaRPr lang="en-US" sz="1000" dirty="0"/>
          </a:p>
        </p:txBody>
      </p:sp>
      <p:sp>
        <p:nvSpPr>
          <p:cNvPr id="23" name="Text 21"/>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WHY THIS EXISTS</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Job seekers are the target of a growing scam economy</a:t>
            </a:r>
            <a:endParaRPr lang="en-US" sz="2800" dirty="0"/>
          </a:p>
        </p:txBody>
      </p:sp>
      <p:sp>
        <p:nvSpPr>
          <p:cNvPr id="6" name="Shape 4"/>
          <p:cNvSpPr/>
          <p:nvPr/>
        </p:nvSpPr>
        <p:spPr>
          <a:xfrm>
            <a:off x="457200" y="1691640"/>
            <a:ext cx="3611880" cy="2651760"/>
          </a:xfrm>
          <a:prstGeom prst="roundRect">
            <a:avLst>
              <a:gd name="adj" fmla="val 2759"/>
            </a:avLst>
          </a:prstGeom>
          <a:solidFill>
            <a:srgbClr val="F3F2EF"/>
          </a:solidFill>
          <a:ln w="9525">
            <a:solidFill>
              <a:srgbClr val="E0E0E0"/>
            </a:solidFill>
            <a:prstDash val="solid"/>
          </a:ln>
        </p:spPr>
        <p:txBody>
          <a:bodyPr/>
          <a:lstStyle/>
          <a:p>
            <a:endParaRPr lang="en-US"/>
          </a:p>
        </p:txBody>
      </p:sp>
      <p:sp>
        <p:nvSpPr>
          <p:cNvPr id="7" name="Shape 5"/>
          <p:cNvSpPr/>
          <p:nvPr/>
        </p:nvSpPr>
        <p:spPr>
          <a:xfrm>
            <a:off x="731520" y="1965960"/>
            <a:ext cx="502920" cy="502920"/>
          </a:xfrm>
          <a:prstGeom prst="ellipse">
            <a:avLst/>
          </a:prstGeom>
          <a:solidFill>
            <a:srgbClr val="0A66C2"/>
          </a:solidFill>
        </p:spPr>
        <p:txBody>
          <a:bodyPr/>
          <a:lstStyle/>
          <a:p>
            <a:endParaRPr lang="en-US"/>
          </a:p>
        </p:txBody>
      </p:sp>
      <p:sp>
        <p:nvSpPr>
          <p:cNvPr id="8" name="Text 6"/>
          <p:cNvSpPr/>
          <p:nvPr/>
        </p:nvSpPr>
        <p:spPr>
          <a:xfrm>
            <a:off x="73152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9" name="Text 7"/>
          <p:cNvSpPr/>
          <p:nvPr/>
        </p:nvSpPr>
        <p:spPr>
          <a:xfrm>
            <a:off x="731520" y="2651760"/>
            <a:ext cx="3063240" cy="822960"/>
          </a:xfrm>
          <a:prstGeom prst="rect">
            <a:avLst/>
          </a:prstGeom>
          <a:noFill/>
        </p:spPr>
        <p:txBody>
          <a:bodyPr wrap="square" lIns="0" tIns="0" rIns="0" bIns="0" rtlCol="0" anchor="ctr"/>
          <a:lstStyle/>
          <a:p>
            <a:pPr marL="0" indent="0">
              <a:lnSpc>
                <a:spcPct val="105000"/>
              </a:lnSpc>
              <a:buNone/>
            </a:pPr>
            <a:r>
              <a:rPr lang="en-US" sz="1450" b="1" dirty="0">
                <a:solidFill>
                  <a:srgbClr val="191919"/>
                </a:solidFill>
                <a:latin typeface="Calibri" panose="020F0502020204030204" pitchFamily="34" charset="0"/>
                <a:ea typeface="Calibri" panose="020F0502020204030204" pitchFamily="34" charset="-122"/>
                <a:cs typeface="Calibri" panose="020F0502020204030204" pitchFamily="34" charset="-120"/>
              </a:rPr>
              <a:t>Students &amp; early-career applicants are disproportionately targeted</a:t>
            </a:r>
            <a:endParaRPr lang="en-US" sz="1450" dirty="0"/>
          </a:p>
        </p:txBody>
      </p:sp>
      <p:sp>
        <p:nvSpPr>
          <p:cNvPr id="10" name="Text 8"/>
          <p:cNvSpPr/>
          <p:nvPr/>
        </p:nvSpPr>
        <p:spPr>
          <a:xfrm>
            <a:off x="731520" y="3474720"/>
            <a:ext cx="3063240" cy="777240"/>
          </a:xfrm>
          <a:prstGeom prst="rect">
            <a:avLst/>
          </a:prstGeom>
          <a:noFill/>
        </p:spPr>
        <p:txBody>
          <a:bodyPr wrap="square" lIns="0" tIns="0" rIns="0" bIns="0" rtlCol="0" anchor="ctr"/>
          <a:lstStyle/>
          <a:p>
            <a:pPr marL="0" indent="0">
              <a:lnSpc>
                <a:spcPct val="115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Fake internship and entry-level job postings prey on people with the least experience spotting red flags.</a:t>
            </a:r>
            <a:endParaRPr lang="en-US" sz="1150" dirty="0"/>
          </a:p>
        </p:txBody>
      </p:sp>
      <p:sp>
        <p:nvSpPr>
          <p:cNvPr id="11" name="Shape 9"/>
          <p:cNvSpPr/>
          <p:nvPr/>
        </p:nvSpPr>
        <p:spPr>
          <a:xfrm>
            <a:off x="4297680" y="1691640"/>
            <a:ext cx="3611880" cy="2651760"/>
          </a:xfrm>
          <a:prstGeom prst="roundRect">
            <a:avLst>
              <a:gd name="adj" fmla="val 2759"/>
            </a:avLst>
          </a:prstGeom>
          <a:solidFill>
            <a:srgbClr val="F3F2EF"/>
          </a:solidFill>
          <a:ln w="9525">
            <a:solidFill>
              <a:srgbClr val="E0E0E0"/>
            </a:solidFill>
            <a:prstDash val="solid"/>
          </a:ln>
        </p:spPr>
        <p:txBody>
          <a:bodyPr/>
          <a:lstStyle/>
          <a:p>
            <a:endParaRPr lang="en-US"/>
          </a:p>
        </p:txBody>
      </p:sp>
      <p:sp>
        <p:nvSpPr>
          <p:cNvPr id="12" name="Shape 10"/>
          <p:cNvSpPr/>
          <p:nvPr/>
        </p:nvSpPr>
        <p:spPr>
          <a:xfrm>
            <a:off x="4572000" y="1965960"/>
            <a:ext cx="502920" cy="502920"/>
          </a:xfrm>
          <a:prstGeom prst="ellipse">
            <a:avLst/>
          </a:prstGeom>
          <a:solidFill>
            <a:srgbClr val="0A66C2"/>
          </a:solidFill>
        </p:spPr>
        <p:txBody>
          <a:bodyPr/>
          <a:lstStyle/>
          <a:p>
            <a:endParaRPr lang="en-US"/>
          </a:p>
        </p:txBody>
      </p:sp>
      <p:sp>
        <p:nvSpPr>
          <p:cNvPr id="13" name="Text 11"/>
          <p:cNvSpPr/>
          <p:nvPr/>
        </p:nvSpPr>
        <p:spPr>
          <a:xfrm>
            <a:off x="457200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4" name="Text 12"/>
          <p:cNvSpPr/>
          <p:nvPr/>
        </p:nvSpPr>
        <p:spPr>
          <a:xfrm>
            <a:off x="4572000" y="2651760"/>
            <a:ext cx="3063240" cy="822960"/>
          </a:xfrm>
          <a:prstGeom prst="rect">
            <a:avLst/>
          </a:prstGeom>
          <a:noFill/>
        </p:spPr>
        <p:txBody>
          <a:bodyPr wrap="square" lIns="0" tIns="0" rIns="0" bIns="0" rtlCol="0" anchor="ctr"/>
          <a:lstStyle/>
          <a:p>
            <a:pPr marL="0" indent="0">
              <a:lnSpc>
                <a:spcPct val="105000"/>
              </a:lnSpc>
              <a:buNone/>
            </a:pPr>
            <a:r>
              <a:rPr lang="en-US" sz="1450" b="1" dirty="0">
                <a:solidFill>
                  <a:srgbClr val="191919"/>
                </a:solidFill>
                <a:latin typeface="Calibri" panose="020F0502020204030204" pitchFamily="34" charset="0"/>
                <a:ea typeface="Calibri" panose="020F0502020204030204" pitchFamily="34" charset="-122"/>
                <a:cs typeface="Calibri" panose="020F0502020204030204" pitchFamily="34" charset="-120"/>
              </a:rPr>
              <a:t>Verifying a posting takes real effort</a:t>
            </a:r>
            <a:endParaRPr lang="en-US" sz="1450" dirty="0"/>
          </a:p>
        </p:txBody>
      </p:sp>
      <p:sp>
        <p:nvSpPr>
          <p:cNvPr id="15" name="Text 13"/>
          <p:cNvSpPr/>
          <p:nvPr/>
        </p:nvSpPr>
        <p:spPr>
          <a:xfrm>
            <a:off x="4572000" y="3474720"/>
            <a:ext cx="3063240" cy="777240"/>
          </a:xfrm>
          <a:prstGeom prst="rect">
            <a:avLst/>
          </a:prstGeom>
          <a:noFill/>
        </p:spPr>
        <p:txBody>
          <a:bodyPr wrap="square" lIns="0" tIns="0" rIns="0" bIns="0" rtlCol="0" anchor="ctr"/>
          <a:lstStyle/>
          <a:p>
            <a:pPr marL="0" indent="0">
              <a:lnSpc>
                <a:spcPct val="115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Checking a company's legitimacy means leaving LinkedIn, searching separately, and cross-referencing — most people simply don't.</a:t>
            </a:r>
            <a:endParaRPr lang="en-US" sz="1150" dirty="0"/>
          </a:p>
        </p:txBody>
      </p:sp>
      <p:sp>
        <p:nvSpPr>
          <p:cNvPr id="16" name="Shape 14"/>
          <p:cNvSpPr/>
          <p:nvPr/>
        </p:nvSpPr>
        <p:spPr>
          <a:xfrm>
            <a:off x="8138160" y="1691640"/>
            <a:ext cx="3611880" cy="2651760"/>
          </a:xfrm>
          <a:prstGeom prst="roundRect">
            <a:avLst>
              <a:gd name="adj" fmla="val 2759"/>
            </a:avLst>
          </a:prstGeom>
          <a:solidFill>
            <a:srgbClr val="F3F2EF"/>
          </a:solidFill>
          <a:ln w="9525">
            <a:solidFill>
              <a:srgbClr val="E0E0E0"/>
            </a:solidFill>
            <a:prstDash val="solid"/>
          </a:ln>
        </p:spPr>
        <p:txBody>
          <a:bodyPr/>
          <a:lstStyle/>
          <a:p>
            <a:endParaRPr lang="en-US"/>
          </a:p>
        </p:txBody>
      </p:sp>
      <p:sp>
        <p:nvSpPr>
          <p:cNvPr id="17" name="Shape 15"/>
          <p:cNvSpPr/>
          <p:nvPr/>
        </p:nvSpPr>
        <p:spPr>
          <a:xfrm>
            <a:off x="8412480" y="1965960"/>
            <a:ext cx="502920" cy="502920"/>
          </a:xfrm>
          <a:prstGeom prst="ellipse">
            <a:avLst/>
          </a:prstGeom>
          <a:solidFill>
            <a:srgbClr val="0A66C2"/>
          </a:solidFill>
        </p:spPr>
        <p:txBody>
          <a:bodyPr/>
          <a:lstStyle/>
          <a:p>
            <a:endParaRPr lang="en-US"/>
          </a:p>
        </p:txBody>
      </p:sp>
      <p:sp>
        <p:nvSpPr>
          <p:cNvPr id="18" name="Text 16"/>
          <p:cNvSpPr/>
          <p:nvPr/>
        </p:nvSpPr>
        <p:spPr>
          <a:xfrm>
            <a:off x="841248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19" name="Text 17"/>
          <p:cNvSpPr/>
          <p:nvPr/>
        </p:nvSpPr>
        <p:spPr>
          <a:xfrm>
            <a:off x="8412480" y="2651760"/>
            <a:ext cx="3063240" cy="822960"/>
          </a:xfrm>
          <a:prstGeom prst="rect">
            <a:avLst/>
          </a:prstGeom>
          <a:noFill/>
        </p:spPr>
        <p:txBody>
          <a:bodyPr wrap="square" lIns="0" tIns="0" rIns="0" bIns="0" rtlCol="0" anchor="ctr"/>
          <a:lstStyle/>
          <a:p>
            <a:pPr marL="0" indent="0">
              <a:lnSpc>
                <a:spcPct val="105000"/>
              </a:lnSpc>
              <a:buNone/>
            </a:pPr>
            <a:r>
              <a:rPr lang="en-US" sz="1450" b="1" dirty="0">
                <a:solidFill>
                  <a:srgbClr val="191919"/>
                </a:solidFill>
                <a:latin typeface="Calibri" panose="020F0502020204030204" pitchFamily="34" charset="0"/>
                <a:ea typeface="Calibri" panose="020F0502020204030204" pitchFamily="34" charset="-122"/>
                <a:cs typeface="Calibri" panose="020F0502020204030204" pitchFamily="34" charset="-120"/>
              </a:rPr>
              <a:t>No at-a-glance trust signal exists today</a:t>
            </a:r>
            <a:endParaRPr lang="en-US" sz="1450" dirty="0"/>
          </a:p>
        </p:txBody>
      </p:sp>
      <p:sp>
        <p:nvSpPr>
          <p:cNvPr id="20" name="Text 18"/>
          <p:cNvSpPr/>
          <p:nvPr/>
        </p:nvSpPr>
        <p:spPr>
          <a:xfrm>
            <a:off x="8412480" y="3474720"/>
            <a:ext cx="3063240" cy="777240"/>
          </a:xfrm>
          <a:prstGeom prst="rect">
            <a:avLst/>
          </a:prstGeom>
          <a:noFill/>
        </p:spPr>
        <p:txBody>
          <a:bodyPr wrap="square" lIns="0" tIns="0" rIns="0" bIns="0" rtlCol="0" anchor="ctr"/>
          <a:lstStyle/>
          <a:p>
            <a:pPr marL="0" indent="0">
              <a:lnSpc>
                <a:spcPct val="115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LinkedIn itself doesn't score postings for fraud risk — users are on their own.</a:t>
            </a:r>
            <a:endParaRPr lang="en-US" sz="1150" dirty="0"/>
          </a:p>
        </p:txBody>
      </p:sp>
      <p:sp>
        <p:nvSpPr>
          <p:cNvPr id="21" name="Shape 19"/>
          <p:cNvSpPr/>
          <p:nvPr/>
        </p:nvSpPr>
        <p:spPr>
          <a:xfrm>
            <a:off x="457200" y="4617720"/>
            <a:ext cx="11247120" cy="1417320"/>
          </a:xfrm>
          <a:prstGeom prst="roundRect">
            <a:avLst>
              <a:gd name="adj" fmla="val 5161"/>
            </a:avLst>
          </a:prstGeom>
          <a:solidFill>
            <a:srgbClr val="EAF2FB"/>
          </a:solidFill>
        </p:spPr>
        <p:txBody>
          <a:bodyPr/>
          <a:lstStyle/>
          <a:p>
            <a:endParaRPr lang="en-US"/>
          </a:p>
        </p:txBody>
      </p:sp>
      <p:sp>
        <p:nvSpPr>
          <p:cNvPr id="22" name="Text 20"/>
          <p:cNvSpPr/>
          <p:nvPr/>
        </p:nvSpPr>
        <p:spPr>
          <a:xfrm>
            <a:off x="777240" y="4754880"/>
            <a:ext cx="10607040" cy="1143000"/>
          </a:xfrm>
          <a:prstGeom prst="rect">
            <a:avLst/>
          </a:prstGeom>
          <a:noFill/>
        </p:spPr>
        <p:txBody>
          <a:bodyPr wrap="square" lIns="0" tIns="0" rIns="0" bIns="0" rtlCol="0" anchor="ctr"/>
          <a:lstStyle/>
          <a:p>
            <a:pPr marL="0" indent="0">
              <a:lnSpc>
                <a:spcPct val="120000"/>
              </a:lnSpc>
              <a:buNone/>
            </a:pPr>
            <a:r>
              <a:rPr lang="en-US" sz="1400" b="1" dirty="0">
                <a:solidFill>
                  <a:srgbClr val="004182"/>
                </a:solidFill>
                <a:latin typeface="Calibri" panose="020F0502020204030204" pitchFamily="34" charset="0"/>
                <a:ea typeface="Calibri" panose="020F0502020204030204" pitchFamily="34" charset="-122"/>
                <a:cs typeface="Calibri" panose="020F0502020204030204" pitchFamily="34" charset="-120"/>
              </a:rPr>
              <a:t>The objective:  </a:t>
            </a:r>
            <a:r>
              <a:rPr lang="en-US" sz="1400" dirty="0">
                <a:solidFill>
                  <a:srgbClr val="191919"/>
                </a:solidFill>
                <a:latin typeface="Calibri" panose="020F0502020204030204" pitchFamily="34" charset="0"/>
                <a:ea typeface="Calibri" panose="020F0502020204030204" pitchFamily="34" charset="-122"/>
                <a:cs typeface="Calibri" panose="020F0502020204030204" pitchFamily="34" charset="-120"/>
              </a:rPr>
              <a:t>give every job seeker an automatic, real-time trust signal on the LinkedIn posting they're already viewing — combining a trained ML model, a human-reviewed blacklist, and quick rule-based checks into one 0–100% score, with no extra research required.</a:t>
            </a:r>
            <a:endParaRPr lang="en-US" sz="1400" dirty="0"/>
          </a:p>
        </p:txBody>
      </p:sp>
      <p:sp>
        <p:nvSpPr>
          <p:cNvPr id="23" name="Text 21"/>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02 / 10</a:t>
            </a:r>
            <a:endParaRPr lang="en-US" sz="1000" dirty="0"/>
          </a:p>
        </p:txBody>
      </p:sp>
      <p:sp>
        <p:nvSpPr>
          <p:cNvPr id="24" name="Text 22"/>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SYSTEM CONFIGURATION</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Seven small programs, working as one system</a:t>
            </a:r>
            <a:endParaRPr lang="en-US" sz="2800" dirty="0"/>
          </a:p>
        </p:txBody>
      </p:sp>
      <p:sp>
        <p:nvSpPr>
          <p:cNvPr id="6" name="Shape 4"/>
          <p:cNvSpPr/>
          <p:nvPr/>
        </p:nvSpPr>
        <p:spPr>
          <a:xfrm>
            <a:off x="457200" y="1691640"/>
            <a:ext cx="11247120" cy="530352"/>
          </a:xfrm>
          <a:prstGeom prst="rect">
            <a:avLst/>
          </a:prstGeom>
          <a:solidFill>
            <a:srgbClr val="F3F2EF"/>
          </a:solidFill>
        </p:spPr>
        <p:txBody>
          <a:bodyPr/>
          <a:lstStyle/>
          <a:p>
            <a:endParaRPr lang="en-US"/>
          </a:p>
        </p:txBody>
      </p:sp>
      <p:sp>
        <p:nvSpPr>
          <p:cNvPr id="7" name="Shape 5"/>
          <p:cNvSpPr/>
          <p:nvPr/>
        </p:nvSpPr>
        <p:spPr>
          <a:xfrm>
            <a:off x="457200" y="1691640"/>
            <a:ext cx="54864" cy="530352"/>
          </a:xfrm>
          <a:prstGeom prst="rect">
            <a:avLst/>
          </a:prstGeom>
          <a:solidFill>
            <a:srgbClr val="0A66C2"/>
          </a:solidFill>
        </p:spPr>
        <p:txBody>
          <a:bodyPr/>
          <a:lstStyle/>
          <a:p>
            <a:endParaRPr lang="en-US"/>
          </a:p>
        </p:txBody>
      </p:sp>
      <p:sp>
        <p:nvSpPr>
          <p:cNvPr id="8" name="Text 6"/>
          <p:cNvSpPr/>
          <p:nvPr/>
        </p:nvSpPr>
        <p:spPr>
          <a:xfrm>
            <a:off x="685800" y="1691640"/>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Chrome Extension (Manifest V3)</a:t>
            </a:r>
            <a:endParaRPr lang="en-US" sz="1300" dirty="0"/>
          </a:p>
        </p:txBody>
      </p:sp>
      <p:sp>
        <p:nvSpPr>
          <p:cNvPr id="9" name="Text 7"/>
          <p:cNvSpPr/>
          <p:nvPr/>
        </p:nvSpPr>
        <p:spPr>
          <a:xfrm>
            <a:off x="4114800" y="1691640"/>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In-browser client — scrapes postings, injects the badge, provides popup &amp; dashboard</a:t>
            </a:r>
            <a:endParaRPr lang="en-US" sz="1200" dirty="0"/>
          </a:p>
        </p:txBody>
      </p:sp>
      <p:sp>
        <p:nvSpPr>
          <p:cNvPr id="10" name="Shape 8"/>
          <p:cNvSpPr/>
          <p:nvPr/>
        </p:nvSpPr>
        <p:spPr>
          <a:xfrm>
            <a:off x="457200" y="2295144"/>
            <a:ext cx="11247120" cy="530352"/>
          </a:xfrm>
          <a:prstGeom prst="rect">
            <a:avLst/>
          </a:prstGeom>
          <a:solidFill>
            <a:srgbClr val="FFFFFF"/>
          </a:solidFill>
        </p:spPr>
        <p:txBody>
          <a:bodyPr/>
          <a:lstStyle/>
          <a:p>
            <a:endParaRPr lang="en-US"/>
          </a:p>
        </p:txBody>
      </p:sp>
      <p:sp>
        <p:nvSpPr>
          <p:cNvPr id="11" name="Shape 9"/>
          <p:cNvSpPr/>
          <p:nvPr/>
        </p:nvSpPr>
        <p:spPr>
          <a:xfrm>
            <a:off x="457200" y="2295144"/>
            <a:ext cx="54864" cy="530352"/>
          </a:xfrm>
          <a:prstGeom prst="rect">
            <a:avLst/>
          </a:prstGeom>
          <a:solidFill>
            <a:srgbClr val="0A66C2"/>
          </a:solidFill>
        </p:spPr>
        <p:txBody>
          <a:bodyPr/>
          <a:lstStyle/>
          <a:p>
            <a:endParaRPr lang="en-US"/>
          </a:p>
        </p:txBody>
      </p:sp>
      <p:sp>
        <p:nvSpPr>
          <p:cNvPr id="12" name="Text 10"/>
          <p:cNvSpPr/>
          <p:nvPr/>
        </p:nvSpPr>
        <p:spPr>
          <a:xfrm>
            <a:off x="685800" y="2295144"/>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Node.js + Express</a:t>
            </a:r>
            <a:endParaRPr lang="en-US" sz="1300" dirty="0"/>
          </a:p>
        </p:txBody>
      </p:sp>
      <p:sp>
        <p:nvSpPr>
          <p:cNvPr id="13" name="Text 11"/>
          <p:cNvSpPr/>
          <p:nvPr/>
        </p:nvSpPr>
        <p:spPr>
          <a:xfrm>
            <a:off x="4114800" y="2295144"/>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Backend API — auth, scoring, quota, preferences, blacklist, saved jobs</a:t>
            </a:r>
            <a:endParaRPr lang="en-US" sz="1200" dirty="0"/>
          </a:p>
        </p:txBody>
      </p:sp>
      <p:sp>
        <p:nvSpPr>
          <p:cNvPr id="14" name="Shape 12"/>
          <p:cNvSpPr/>
          <p:nvPr/>
        </p:nvSpPr>
        <p:spPr>
          <a:xfrm>
            <a:off x="457200" y="2898648"/>
            <a:ext cx="11247120" cy="530352"/>
          </a:xfrm>
          <a:prstGeom prst="rect">
            <a:avLst/>
          </a:prstGeom>
          <a:solidFill>
            <a:srgbClr val="F3F2EF"/>
          </a:solidFill>
        </p:spPr>
        <p:txBody>
          <a:bodyPr/>
          <a:lstStyle/>
          <a:p>
            <a:endParaRPr lang="en-US"/>
          </a:p>
        </p:txBody>
      </p:sp>
      <p:sp>
        <p:nvSpPr>
          <p:cNvPr id="15" name="Shape 13"/>
          <p:cNvSpPr/>
          <p:nvPr/>
        </p:nvSpPr>
        <p:spPr>
          <a:xfrm>
            <a:off x="457200" y="2898648"/>
            <a:ext cx="54864" cy="530352"/>
          </a:xfrm>
          <a:prstGeom prst="rect">
            <a:avLst/>
          </a:prstGeom>
          <a:solidFill>
            <a:srgbClr val="057642"/>
          </a:solidFill>
        </p:spPr>
        <p:txBody>
          <a:bodyPr/>
          <a:lstStyle/>
          <a:p>
            <a:endParaRPr lang="en-US"/>
          </a:p>
        </p:txBody>
      </p:sp>
      <p:sp>
        <p:nvSpPr>
          <p:cNvPr id="16" name="Text 14"/>
          <p:cNvSpPr/>
          <p:nvPr/>
        </p:nvSpPr>
        <p:spPr>
          <a:xfrm>
            <a:off x="685800" y="2898648"/>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PostgreSQL</a:t>
            </a:r>
            <a:endParaRPr lang="en-US" sz="1300" dirty="0"/>
          </a:p>
        </p:txBody>
      </p:sp>
      <p:sp>
        <p:nvSpPr>
          <p:cNvPr id="17" name="Text 15"/>
          <p:cNvSpPr/>
          <p:nvPr/>
        </p:nvSpPr>
        <p:spPr>
          <a:xfrm>
            <a:off x="4114800" y="2898648"/>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Primary database for all persistent data</a:t>
            </a:r>
            <a:endParaRPr lang="en-US" sz="1200" dirty="0"/>
          </a:p>
        </p:txBody>
      </p:sp>
      <p:sp>
        <p:nvSpPr>
          <p:cNvPr id="18" name="Shape 16"/>
          <p:cNvSpPr/>
          <p:nvPr/>
        </p:nvSpPr>
        <p:spPr>
          <a:xfrm>
            <a:off x="457200" y="3502152"/>
            <a:ext cx="11247120" cy="530352"/>
          </a:xfrm>
          <a:prstGeom prst="rect">
            <a:avLst/>
          </a:prstGeom>
          <a:solidFill>
            <a:srgbClr val="FFFFFF"/>
          </a:solidFill>
        </p:spPr>
        <p:txBody>
          <a:bodyPr/>
          <a:lstStyle/>
          <a:p>
            <a:endParaRPr lang="en-US"/>
          </a:p>
        </p:txBody>
      </p:sp>
      <p:sp>
        <p:nvSpPr>
          <p:cNvPr id="19" name="Shape 17"/>
          <p:cNvSpPr/>
          <p:nvPr/>
        </p:nvSpPr>
        <p:spPr>
          <a:xfrm>
            <a:off x="457200" y="3502152"/>
            <a:ext cx="54864" cy="530352"/>
          </a:xfrm>
          <a:prstGeom prst="rect">
            <a:avLst/>
          </a:prstGeom>
          <a:solidFill>
            <a:srgbClr val="057642"/>
          </a:solidFill>
        </p:spPr>
        <p:txBody>
          <a:bodyPr/>
          <a:lstStyle/>
          <a:p>
            <a:endParaRPr lang="en-US"/>
          </a:p>
        </p:txBody>
      </p:sp>
      <p:sp>
        <p:nvSpPr>
          <p:cNvPr id="20" name="Text 18"/>
          <p:cNvSpPr/>
          <p:nvPr/>
        </p:nvSpPr>
        <p:spPr>
          <a:xfrm>
            <a:off x="685800" y="3502152"/>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node-cron</a:t>
            </a:r>
            <a:endParaRPr lang="en-US" sz="1300" dirty="0"/>
          </a:p>
        </p:txBody>
      </p:sp>
      <p:sp>
        <p:nvSpPr>
          <p:cNvPr id="21" name="Text 19"/>
          <p:cNvSpPr/>
          <p:nvPr/>
        </p:nvSpPr>
        <p:spPr>
          <a:xfrm>
            <a:off x="4114800" y="3502152"/>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Scheduled daily job — checks saved jobs for deadlines due tomorrow</a:t>
            </a:r>
            <a:endParaRPr lang="en-US" sz="1200" dirty="0"/>
          </a:p>
        </p:txBody>
      </p:sp>
      <p:sp>
        <p:nvSpPr>
          <p:cNvPr id="22" name="Shape 20"/>
          <p:cNvSpPr/>
          <p:nvPr/>
        </p:nvSpPr>
        <p:spPr>
          <a:xfrm>
            <a:off x="457200" y="4105656"/>
            <a:ext cx="11247120" cy="530352"/>
          </a:xfrm>
          <a:prstGeom prst="rect">
            <a:avLst/>
          </a:prstGeom>
          <a:solidFill>
            <a:srgbClr val="F3F2EF"/>
          </a:solidFill>
        </p:spPr>
        <p:txBody>
          <a:bodyPr/>
          <a:lstStyle/>
          <a:p>
            <a:endParaRPr lang="en-US"/>
          </a:p>
        </p:txBody>
      </p:sp>
      <p:sp>
        <p:nvSpPr>
          <p:cNvPr id="23" name="Shape 21"/>
          <p:cNvSpPr/>
          <p:nvPr/>
        </p:nvSpPr>
        <p:spPr>
          <a:xfrm>
            <a:off x="457200" y="4105656"/>
            <a:ext cx="54864" cy="530352"/>
          </a:xfrm>
          <a:prstGeom prst="rect">
            <a:avLst/>
          </a:prstGeom>
          <a:solidFill>
            <a:srgbClr val="B8860B"/>
          </a:solidFill>
        </p:spPr>
        <p:txBody>
          <a:bodyPr/>
          <a:lstStyle/>
          <a:p>
            <a:endParaRPr lang="en-US"/>
          </a:p>
        </p:txBody>
      </p:sp>
      <p:sp>
        <p:nvSpPr>
          <p:cNvPr id="24" name="Text 22"/>
          <p:cNvSpPr/>
          <p:nvPr/>
        </p:nvSpPr>
        <p:spPr>
          <a:xfrm>
            <a:off x="685800" y="4105656"/>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Python + scikit-learn</a:t>
            </a:r>
            <a:endParaRPr lang="en-US" sz="1300" dirty="0"/>
          </a:p>
        </p:txBody>
      </p:sp>
      <p:sp>
        <p:nvSpPr>
          <p:cNvPr id="25" name="Text 23"/>
          <p:cNvSpPr/>
          <p:nvPr/>
        </p:nvSpPr>
        <p:spPr>
          <a:xfrm>
            <a:off x="4114800" y="4105656"/>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Trains the fraud-detection logistic regression model</a:t>
            </a:r>
            <a:endParaRPr lang="en-US" sz="1200" dirty="0"/>
          </a:p>
        </p:txBody>
      </p:sp>
      <p:sp>
        <p:nvSpPr>
          <p:cNvPr id="26" name="Shape 24"/>
          <p:cNvSpPr/>
          <p:nvPr/>
        </p:nvSpPr>
        <p:spPr>
          <a:xfrm>
            <a:off x="457200" y="4709160"/>
            <a:ext cx="11247120" cy="530352"/>
          </a:xfrm>
          <a:prstGeom prst="rect">
            <a:avLst/>
          </a:prstGeom>
          <a:solidFill>
            <a:srgbClr val="FFFFFF"/>
          </a:solidFill>
        </p:spPr>
        <p:txBody>
          <a:bodyPr/>
          <a:lstStyle/>
          <a:p>
            <a:endParaRPr lang="en-US"/>
          </a:p>
        </p:txBody>
      </p:sp>
      <p:sp>
        <p:nvSpPr>
          <p:cNvPr id="27" name="Shape 25"/>
          <p:cNvSpPr/>
          <p:nvPr/>
        </p:nvSpPr>
        <p:spPr>
          <a:xfrm>
            <a:off x="457200" y="4709160"/>
            <a:ext cx="54864" cy="530352"/>
          </a:xfrm>
          <a:prstGeom prst="rect">
            <a:avLst/>
          </a:prstGeom>
          <a:solidFill>
            <a:srgbClr val="B8860B"/>
          </a:solidFill>
        </p:spPr>
        <p:txBody>
          <a:bodyPr/>
          <a:lstStyle/>
          <a:p>
            <a:endParaRPr lang="en-US"/>
          </a:p>
        </p:txBody>
      </p:sp>
      <p:sp>
        <p:nvSpPr>
          <p:cNvPr id="28" name="Text 26"/>
          <p:cNvSpPr/>
          <p:nvPr/>
        </p:nvSpPr>
        <p:spPr>
          <a:xfrm>
            <a:off x="685800" y="4709160"/>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Flask</a:t>
            </a:r>
            <a:endParaRPr lang="en-US" sz="1300" dirty="0"/>
          </a:p>
        </p:txBody>
      </p:sp>
      <p:sp>
        <p:nvSpPr>
          <p:cNvPr id="29" name="Text 27"/>
          <p:cNvSpPr/>
          <p:nvPr/>
        </p:nvSpPr>
        <p:spPr>
          <a:xfrm>
            <a:off x="4114800" y="4709160"/>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Small Python service — loads the trained model, serves predictions over HTTP</a:t>
            </a:r>
            <a:endParaRPr lang="en-US" sz="1200" dirty="0"/>
          </a:p>
        </p:txBody>
      </p:sp>
      <p:sp>
        <p:nvSpPr>
          <p:cNvPr id="30" name="Shape 28"/>
          <p:cNvSpPr/>
          <p:nvPr/>
        </p:nvSpPr>
        <p:spPr>
          <a:xfrm>
            <a:off x="457200" y="5312664"/>
            <a:ext cx="11247120" cy="530352"/>
          </a:xfrm>
          <a:prstGeom prst="rect">
            <a:avLst/>
          </a:prstGeom>
          <a:solidFill>
            <a:srgbClr val="F3F2EF"/>
          </a:solidFill>
        </p:spPr>
        <p:txBody>
          <a:bodyPr/>
          <a:lstStyle/>
          <a:p>
            <a:endParaRPr lang="en-US"/>
          </a:p>
        </p:txBody>
      </p:sp>
      <p:sp>
        <p:nvSpPr>
          <p:cNvPr id="31" name="Shape 29"/>
          <p:cNvSpPr/>
          <p:nvPr/>
        </p:nvSpPr>
        <p:spPr>
          <a:xfrm>
            <a:off x="457200" y="5312664"/>
            <a:ext cx="54864" cy="530352"/>
          </a:xfrm>
          <a:prstGeom prst="rect">
            <a:avLst/>
          </a:prstGeom>
          <a:solidFill>
            <a:srgbClr val="B8860B"/>
          </a:solidFill>
        </p:spPr>
        <p:txBody>
          <a:bodyPr/>
          <a:lstStyle/>
          <a:p>
            <a:endParaRPr lang="en-US"/>
          </a:p>
        </p:txBody>
      </p:sp>
      <p:sp>
        <p:nvSpPr>
          <p:cNvPr id="32" name="Text 30"/>
          <p:cNvSpPr/>
          <p:nvPr/>
        </p:nvSpPr>
        <p:spPr>
          <a:xfrm>
            <a:off x="685800" y="5312664"/>
            <a:ext cx="3291840" cy="530352"/>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Google Colab</a:t>
            </a:r>
            <a:endParaRPr lang="en-US" sz="1300" dirty="0"/>
          </a:p>
        </p:txBody>
      </p:sp>
      <p:sp>
        <p:nvSpPr>
          <p:cNvPr id="33" name="Text 31"/>
          <p:cNvSpPr/>
          <p:nvPr/>
        </p:nvSpPr>
        <p:spPr>
          <a:xfrm>
            <a:off x="4114800" y="5312664"/>
            <a:ext cx="7863840" cy="530352"/>
          </a:xfrm>
          <a:prstGeom prst="rect">
            <a:avLst/>
          </a:prstGeom>
          <a:noFill/>
        </p:spPr>
        <p:txBody>
          <a:bodyPr wrap="square" lIns="0" tIns="0" rIns="0" bIns="0" rtlCol="0" anchor="ctr"/>
          <a:lstStyle/>
          <a:p>
            <a:pPr marL="0" indent="0">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Environment where the model was originally trained</a:t>
            </a:r>
            <a:endParaRPr lang="en-US" sz="1200" dirty="0"/>
          </a:p>
        </p:txBody>
      </p:sp>
      <p:sp>
        <p:nvSpPr>
          <p:cNvPr id="34" name="Text 32"/>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03 / 10</a:t>
            </a:r>
            <a:endParaRPr lang="en-US" sz="1000" dirty="0"/>
          </a:p>
        </p:txBody>
      </p:sp>
      <p:sp>
        <p:nvSpPr>
          <p:cNvPr id="35" name="Text 33"/>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HOW A SCREENING HAPPENS</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Scrape → score → badge, in under two seconds</a:t>
            </a:r>
            <a:endParaRPr lang="en-US" sz="2800" dirty="0"/>
          </a:p>
        </p:txBody>
      </p:sp>
      <p:sp>
        <p:nvSpPr>
          <p:cNvPr id="6" name="Shape 4"/>
          <p:cNvSpPr/>
          <p:nvPr/>
        </p:nvSpPr>
        <p:spPr>
          <a:xfrm>
            <a:off x="457200" y="1783080"/>
            <a:ext cx="2084832" cy="1691640"/>
          </a:xfrm>
          <a:prstGeom prst="roundRect">
            <a:avLst>
              <a:gd name="adj" fmla="val 4324"/>
            </a:avLst>
          </a:prstGeom>
          <a:solidFill>
            <a:srgbClr val="F3F2EF"/>
          </a:solidFill>
          <a:ln w="9525">
            <a:solidFill>
              <a:srgbClr val="E0E0E0"/>
            </a:solidFill>
            <a:prstDash val="solid"/>
          </a:ln>
        </p:spPr>
        <p:txBody>
          <a:bodyPr/>
          <a:lstStyle/>
          <a:p>
            <a:endParaRPr lang="en-US"/>
          </a:p>
        </p:txBody>
      </p:sp>
      <p:sp>
        <p:nvSpPr>
          <p:cNvPr id="7" name="Text 5"/>
          <p:cNvSpPr/>
          <p:nvPr/>
        </p:nvSpPr>
        <p:spPr>
          <a:xfrm>
            <a:off x="621792" y="1892808"/>
            <a:ext cx="548640" cy="457200"/>
          </a:xfrm>
          <a:prstGeom prst="rect">
            <a:avLst/>
          </a:prstGeom>
          <a:noFill/>
        </p:spPr>
        <p:txBody>
          <a:bodyPr wrap="square" lIns="0" tIns="0" rIns="0" bIns="0" rtlCol="0" anchor="ctr"/>
          <a:lstStyle/>
          <a:p>
            <a:pPr marL="0" indent="0">
              <a:buNone/>
            </a:pPr>
            <a:r>
              <a:rPr lang="en-US" sz="2200" b="1" dirty="0">
                <a:solidFill>
                  <a:srgbClr val="0A66C2"/>
                </a:solidFill>
                <a:latin typeface="Calibri" panose="020F0502020204030204" pitchFamily="34" charset="0"/>
                <a:ea typeface="Calibri" panose="020F0502020204030204" pitchFamily="34" charset="-122"/>
                <a:cs typeface="Calibri" panose="020F0502020204030204" pitchFamily="34" charset="-120"/>
              </a:rPr>
              <a:t>1</a:t>
            </a:r>
            <a:endParaRPr lang="en-US" sz="2200" dirty="0"/>
          </a:p>
        </p:txBody>
      </p:sp>
      <p:sp>
        <p:nvSpPr>
          <p:cNvPr id="8" name="Text 6"/>
          <p:cNvSpPr/>
          <p:nvPr/>
        </p:nvSpPr>
        <p:spPr>
          <a:xfrm>
            <a:off x="621792" y="2377440"/>
            <a:ext cx="1755648" cy="1005840"/>
          </a:xfrm>
          <a:prstGeom prst="rect">
            <a:avLst/>
          </a:prstGeom>
          <a:noFill/>
        </p:spPr>
        <p:txBody>
          <a:bodyPr wrap="square" lIns="0" tIns="0" rIns="0" bIns="0" rtlCol="0" anchor="ctr"/>
          <a:lstStyle/>
          <a:p>
            <a:pPr marL="0" indent="0">
              <a:lnSpc>
                <a:spcPct val="11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Content script scrapes 9 fields from the job posting</a:t>
            </a:r>
            <a:endParaRPr lang="en-US" sz="1150" dirty="0"/>
          </a:p>
        </p:txBody>
      </p:sp>
      <p:sp>
        <p:nvSpPr>
          <p:cNvPr id="9" name="Text 7"/>
          <p:cNvSpPr/>
          <p:nvPr/>
        </p:nvSpPr>
        <p:spPr>
          <a:xfrm>
            <a:off x="2546604" y="2331720"/>
            <a:ext cx="164592" cy="548640"/>
          </a:xfrm>
          <a:prstGeom prst="rect">
            <a:avLst/>
          </a:prstGeom>
          <a:noFill/>
        </p:spPr>
        <p:txBody>
          <a:bodyPr wrap="square" lIns="0" tIns="0" rIns="0" bIns="0" rtlCol="0" anchor="ctr"/>
          <a:lstStyle/>
          <a:p>
            <a:pPr marL="0" indent="0" algn="ctr">
              <a:buNone/>
            </a:pPr>
            <a:r>
              <a:rPr lang="en-US" sz="1800" dirty="0">
                <a:solidFill>
                  <a:srgbClr val="666666"/>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0" name="Shape 8"/>
          <p:cNvSpPr/>
          <p:nvPr/>
        </p:nvSpPr>
        <p:spPr>
          <a:xfrm>
            <a:off x="2711196" y="1783080"/>
            <a:ext cx="2084832" cy="1691640"/>
          </a:xfrm>
          <a:prstGeom prst="roundRect">
            <a:avLst>
              <a:gd name="adj" fmla="val 4324"/>
            </a:avLst>
          </a:prstGeom>
          <a:solidFill>
            <a:srgbClr val="F3F2EF"/>
          </a:solidFill>
          <a:ln w="9525">
            <a:solidFill>
              <a:srgbClr val="E0E0E0"/>
            </a:solidFill>
            <a:prstDash val="solid"/>
          </a:ln>
        </p:spPr>
        <p:txBody>
          <a:bodyPr/>
          <a:lstStyle/>
          <a:p>
            <a:endParaRPr lang="en-US"/>
          </a:p>
        </p:txBody>
      </p:sp>
      <p:sp>
        <p:nvSpPr>
          <p:cNvPr id="11" name="Text 9"/>
          <p:cNvSpPr/>
          <p:nvPr/>
        </p:nvSpPr>
        <p:spPr>
          <a:xfrm>
            <a:off x="2875788" y="1892808"/>
            <a:ext cx="548640" cy="457200"/>
          </a:xfrm>
          <a:prstGeom prst="rect">
            <a:avLst/>
          </a:prstGeom>
          <a:noFill/>
        </p:spPr>
        <p:txBody>
          <a:bodyPr wrap="square" lIns="0" tIns="0" rIns="0" bIns="0" rtlCol="0" anchor="ctr"/>
          <a:lstStyle/>
          <a:p>
            <a:pPr marL="0" indent="0">
              <a:buNone/>
            </a:pPr>
            <a:r>
              <a:rPr lang="en-US" sz="2200" b="1" dirty="0">
                <a:solidFill>
                  <a:srgbClr val="0A66C2"/>
                </a:solidFill>
                <a:latin typeface="Calibri" panose="020F0502020204030204" pitchFamily="34" charset="0"/>
                <a:ea typeface="Calibri" panose="020F0502020204030204" pitchFamily="34" charset="-122"/>
                <a:cs typeface="Calibri" panose="020F0502020204030204" pitchFamily="34" charset="-120"/>
              </a:rPr>
              <a:t>2</a:t>
            </a:r>
            <a:endParaRPr lang="en-US" sz="2200" dirty="0"/>
          </a:p>
        </p:txBody>
      </p:sp>
      <p:sp>
        <p:nvSpPr>
          <p:cNvPr id="12" name="Text 10"/>
          <p:cNvSpPr/>
          <p:nvPr/>
        </p:nvSpPr>
        <p:spPr>
          <a:xfrm>
            <a:off x="2875788" y="2377440"/>
            <a:ext cx="1755648" cy="1005840"/>
          </a:xfrm>
          <a:prstGeom prst="rect">
            <a:avLst/>
          </a:prstGeom>
          <a:noFill/>
        </p:spPr>
        <p:txBody>
          <a:bodyPr wrap="square" lIns="0" tIns="0" rIns="0" bIns="0" rtlCol="0" anchor="ctr"/>
          <a:lstStyle/>
          <a:p>
            <a:pPr marL="0" indent="0">
              <a:lnSpc>
                <a:spcPct val="11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Node API checks the user's monthly quota first</a:t>
            </a:r>
            <a:endParaRPr lang="en-US" sz="1150" dirty="0"/>
          </a:p>
        </p:txBody>
      </p:sp>
      <p:sp>
        <p:nvSpPr>
          <p:cNvPr id="13" name="Text 11"/>
          <p:cNvSpPr/>
          <p:nvPr/>
        </p:nvSpPr>
        <p:spPr>
          <a:xfrm>
            <a:off x="4800600" y="2331720"/>
            <a:ext cx="164592" cy="548640"/>
          </a:xfrm>
          <a:prstGeom prst="rect">
            <a:avLst/>
          </a:prstGeom>
          <a:noFill/>
        </p:spPr>
        <p:txBody>
          <a:bodyPr wrap="square" lIns="0" tIns="0" rIns="0" bIns="0" rtlCol="0" anchor="ctr"/>
          <a:lstStyle/>
          <a:p>
            <a:pPr marL="0" indent="0" algn="ctr">
              <a:buNone/>
            </a:pPr>
            <a:r>
              <a:rPr lang="en-US" sz="1800" dirty="0">
                <a:solidFill>
                  <a:srgbClr val="666666"/>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4" name="Shape 12"/>
          <p:cNvSpPr/>
          <p:nvPr/>
        </p:nvSpPr>
        <p:spPr>
          <a:xfrm>
            <a:off x="4965192" y="1783080"/>
            <a:ext cx="2084832" cy="1691640"/>
          </a:xfrm>
          <a:prstGeom prst="roundRect">
            <a:avLst>
              <a:gd name="adj" fmla="val 4324"/>
            </a:avLst>
          </a:prstGeom>
          <a:solidFill>
            <a:srgbClr val="F3F2EF"/>
          </a:solidFill>
          <a:ln w="9525">
            <a:solidFill>
              <a:srgbClr val="E0E0E0"/>
            </a:solidFill>
            <a:prstDash val="solid"/>
          </a:ln>
        </p:spPr>
        <p:txBody>
          <a:bodyPr/>
          <a:lstStyle/>
          <a:p>
            <a:endParaRPr lang="en-US"/>
          </a:p>
        </p:txBody>
      </p:sp>
      <p:sp>
        <p:nvSpPr>
          <p:cNvPr id="15" name="Text 13"/>
          <p:cNvSpPr/>
          <p:nvPr/>
        </p:nvSpPr>
        <p:spPr>
          <a:xfrm>
            <a:off x="5129784" y="1892808"/>
            <a:ext cx="548640" cy="457200"/>
          </a:xfrm>
          <a:prstGeom prst="rect">
            <a:avLst/>
          </a:prstGeom>
          <a:noFill/>
        </p:spPr>
        <p:txBody>
          <a:bodyPr wrap="square" lIns="0" tIns="0" rIns="0" bIns="0" rtlCol="0" anchor="ctr"/>
          <a:lstStyle/>
          <a:p>
            <a:pPr marL="0" indent="0">
              <a:buNone/>
            </a:pPr>
            <a:r>
              <a:rPr lang="en-US" sz="2200" b="1" dirty="0">
                <a:solidFill>
                  <a:srgbClr val="0A66C2"/>
                </a:solidFill>
                <a:latin typeface="Calibri" panose="020F0502020204030204" pitchFamily="34" charset="0"/>
                <a:ea typeface="Calibri" panose="020F0502020204030204" pitchFamily="34" charset="-122"/>
                <a:cs typeface="Calibri" panose="020F0502020204030204" pitchFamily="34" charset="-120"/>
              </a:rPr>
              <a:t>3</a:t>
            </a:r>
            <a:endParaRPr lang="en-US" sz="2200" dirty="0"/>
          </a:p>
        </p:txBody>
      </p:sp>
      <p:sp>
        <p:nvSpPr>
          <p:cNvPr id="16" name="Text 14"/>
          <p:cNvSpPr/>
          <p:nvPr/>
        </p:nvSpPr>
        <p:spPr>
          <a:xfrm>
            <a:off x="5129784" y="2377440"/>
            <a:ext cx="1755648" cy="1005840"/>
          </a:xfrm>
          <a:prstGeom prst="rect">
            <a:avLst/>
          </a:prstGeom>
          <a:noFill/>
        </p:spPr>
        <p:txBody>
          <a:bodyPr wrap="square" lIns="0" tIns="0" rIns="0" bIns="0" rtlCol="0" anchor="ctr"/>
          <a:lstStyle/>
          <a:p>
            <a:pPr marL="0" indent="0">
              <a:lnSpc>
                <a:spcPct val="11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Three checks run: ML model · blacklist · rule checks</a:t>
            </a:r>
            <a:endParaRPr lang="en-US" sz="1150" dirty="0"/>
          </a:p>
        </p:txBody>
      </p:sp>
      <p:sp>
        <p:nvSpPr>
          <p:cNvPr id="17" name="Text 15"/>
          <p:cNvSpPr/>
          <p:nvPr/>
        </p:nvSpPr>
        <p:spPr>
          <a:xfrm>
            <a:off x="7054596" y="2331720"/>
            <a:ext cx="164592" cy="548640"/>
          </a:xfrm>
          <a:prstGeom prst="rect">
            <a:avLst/>
          </a:prstGeom>
          <a:noFill/>
        </p:spPr>
        <p:txBody>
          <a:bodyPr wrap="square" lIns="0" tIns="0" rIns="0" bIns="0" rtlCol="0" anchor="ctr"/>
          <a:lstStyle/>
          <a:p>
            <a:pPr marL="0" indent="0" algn="ctr">
              <a:buNone/>
            </a:pPr>
            <a:r>
              <a:rPr lang="en-US" sz="1800" dirty="0">
                <a:solidFill>
                  <a:srgbClr val="666666"/>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8" name="Shape 16"/>
          <p:cNvSpPr/>
          <p:nvPr/>
        </p:nvSpPr>
        <p:spPr>
          <a:xfrm>
            <a:off x="7219188" y="1783080"/>
            <a:ext cx="2084832" cy="1691640"/>
          </a:xfrm>
          <a:prstGeom prst="roundRect">
            <a:avLst>
              <a:gd name="adj" fmla="val 4324"/>
            </a:avLst>
          </a:prstGeom>
          <a:solidFill>
            <a:srgbClr val="F3F2EF"/>
          </a:solidFill>
          <a:ln w="9525">
            <a:solidFill>
              <a:srgbClr val="E0E0E0"/>
            </a:solidFill>
            <a:prstDash val="solid"/>
          </a:ln>
        </p:spPr>
        <p:txBody>
          <a:bodyPr/>
          <a:lstStyle/>
          <a:p>
            <a:endParaRPr lang="en-US"/>
          </a:p>
        </p:txBody>
      </p:sp>
      <p:sp>
        <p:nvSpPr>
          <p:cNvPr id="19" name="Text 17"/>
          <p:cNvSpPr/>
          <p:nvPr/>
        </p:nvSpPr>
        <p:spPr>
          <a:xfrm>
            <a:off x="7383780" y="1892808"/>
            <a:ext cx="548640" cy="457200"/>
          </a:xfrm>
          <a:prstGeom prst="rect">
            <a:avLst/>
          </a:prstGeom>
          <a:noFill/>
        </p:spPr>
        <p:txBody>
          <a:bodyPr wrap="square" lIns="0" tIns="0" rIns="0" bIns="0" rtlCol="0" anchor="ctr"/>
          <a:lstStyle/>
          <a:p>
            <a:pPr marL="0" indent="0">
              <a:buNone/>
            </a:pPr>
            <a:r>
              <a:rPr lang="en-US" sz="2200" b="1" dirty="0">
                <a:solidFill>
                  <a:srgbClr val="0A66C2"/>
                </a:solidFill>
                <a:latin typeface="Calibri" panose="020F0502020204030204" pitchFamily="34" charset="0"/>
                <a:ea typeface="Calibri" panose="020F0502020204030204" pitchFamily="34" charset="-122"/>
                <a:cs typeface="Calibri" panose="020F0502020204030204" pitchFamily="34" charset="-120"/>
              </a:rPr>
              <a:t>4</a:t>
            </a:r>
            <a:endParaRPr lang="en-US" sz="2200" dirty="0"/>
          </a:p>
        </p:txBody>
      </p:sp>
      <p:sp>
        <p:nvSpPr>
          <p:cNvPr id="20" name="Text 18"/>
          <p:cNvSpPr/>
          <p:nvPr/>
        </p:nvSpPr>
        <p:spPr>
          <a:xfrm>
            <a:off x="7383780" y="2377440"/>
            <a:ext cx="1755648" cy="1005840"/>
          </a:xfrm>
          <a:prstGeom prst="rect">
            <a:avLst/>
          </a:prstGeom>
          <a:noFill/>
        </p:spPr>
        <p:txBody>
          <a:bodyPr wrap="square" lIns="0" tIns="0" rIns="0" bIns="0" rtlCol="0" anchor="ctr"/>
          <a:lstStyle/>
          <a:p>
            <a:pPr marL="0" indent="0">
              <a:lnSpc>
                <a:spcPct val="11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Signals combine into one 0–100 fraud score + flags</a:t>
            </a:r>
            <a:endParaRPr lang="en-US" sz="1150" dirty="0"/>
          </a:p>
        </p:txBody>
      </p:sp>
      <p:sp>
        <p:nvSpPr>
          <p:cNvPr id="21" name="Text 19"/>
          <p:cNvSpPr/>
          <p:nvPr/>
        </p:nvSpPr>
        <p:spPr>
          <a:xfrm>
            <a:off x="9308592" y="2331720"/>
            <a:ext cx="164592" cy="548640"/>
          </a:xfrm>
          <a:prstGeom prst="rect">
            <a:avLst/>
          </a:prstGeom>
          <a:noFill/>
        </p:spPr>
        <p:txBody>
          <a:bodyPr wrap="square" lIns="0" tIns="0" rIns="0" bIns="0" rtlCol="0" anchor="ctr"/>
          <a:lstStyle/>
          <a:p>
            <a:pPr marL="0" indent="0" algn="ctr">
              <a:buNone/>
            </a:pPr>
            <a:r>
              <a:rPr lang="en-US" sz="1800" dirty="0">
                <a:solidFill>
                  <a:srgbClr val="666666"/>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2" name="Shape 20"/>
          <p:cNvSpPr/>
          <p:nvPr/>
        </p:nvSpPr>
        <p:spPr>
          <a:xfrm>
            <a:off x="9473184" y="1783080"/>
            <a:ext cx="2084832" cy="1691640"/>
          </a:xfrm>
          <a:prstGeom prst="roundRect">
            <a:avLst>
              <a:gd name="adj" fmla="val 4324"/>
            </a:avLst>
          </a:prstGeom>
          <a:solidFill>
            <a:srgbClr val="EAF2FB"/>
          </a:solidFill>
          <a:ln w="15875">
            <a:solidFill>
              <a:srgbClr val="0A66C2"/>
            </a:solidFill>
            <a:prstDash val="solid"/>
          </a:ln>
        </p:spPr>
        <p:txBody>
          <a:bodyPr/>
          <a:lstStyle/>
          <a:p>
            <a:endParaRPr lang="en-US"/>
          </a:p>
        </p:txBody>
      </p:sp>
      <p:sp>
        <p:nvSpPr>
          <p:cNvPr id="23" name="Text 21"/>
          <p:cNvSpPr/>
          <p:nvPr/>
        </p:nvSpPr>
        <p:spPr>
          <a:xfrm>
            <a:off x="9637776" y="1892808"/>
            <a:ext cx="548640" cy="457200"/>
          </a:xfrm>
          <a:prstGeom prst="rect">
            <a:avLst/>
          </a:prstGeom>
          <a:noFill/>
        </p:spPr>
        <p:txBody>
          <a:bodyPr wrap="square" lIns="0" tIns="0" rIns="0" bIns="0" rtlCol="0" anchor="ctr"/>
          <a:lstStyle/>
          <a:p>
            <a:pPr marL="0" indent="0">
              <a:buNone/>
            </a:pPr>
            <a:r>
              <a:rPr lang="en-US" sz="2200" b="1" dirty="0">
                <a:solidFill>
                  <a:srgbClr val="0A66C2"/>
                </a:solidFill>
                <a:latin typeface="Calibri" panose="020F0502020204030204" pitchFamily="34" charset="0"/>
                <a:ea typeface="Calibri" panose="020F0502020204030204" pitchFamily="34" charset="-122"/>
                <a:cs typeface="Calibri" panose="020F0502020204030204" pitchFamily="34" charset="-120"/>
              </a:rPr>
              <a:t>5</a:t>
            </a:r>
            <a:endParaRPr lang="en-US" sz="2200" dirty="0"/>
          </a:p>
        </p:txBody>
      </p:sp>
      <p:sp>
        <p:nvSpPr>
          <p:cNvPr id="24" name="Text 22"/>
          <p:cNvSpPr/>
          <p:nvPr/>
        </p:nvSpPr>
        <p:spPr>
          <a:xfrm>
            <a:off x="9637776" y="2377440"/>
            <a:ext cx="1755648" cy="1005840"/>
          </a:xfrm>
          <a:prstGeom prst="rect">
            <a:avLst/>
          </a:prstGeom>
          <a:noFill/>
        </p:spPr>
        <p:txBody>
          <a:bodyPr wrap="square" lIns="0" tIns="0" rIns="0" bIns="0" rtlCol="0" anchor="ctr"/>
          <a:lstStyle/>
          <a:p>
            <a:pPr marL="0" indent="0">
              <a:lnSpc>
                <a:spcPct val="11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Extension shows a color-coded Trust Score badge</a:t>
            </a:r>
            <a:endParaRPr lang="en-US" sz="1150" dirty="0"/>
          </a:p>
        </p:txBody>
      </p:sp>
      <p:sp>
        <p:nvSpPr>
          <p:cNvPr id="25" name="Shape 23"/>
          <p:cNvSpPr/>
          <p:nvPr/>
        </p:nvSpPr>
        <p:spPr>
          <a:xfrm>
            <a:off x="457200" y="3794760"/>
            <a:ext cx="11247120" cy="960120"/>
          </a:xfrm>
          <a:prstGeom prst="roundRect">
            <a:avLst>
              <a:gd name="adj" fmla="val 7619"/>
            </a:avLst>
          </a:prstGeom>
          <a:solidFill>
            <a:srgbClr val="191919"/>
          </a:solidFill>
        </p:spPr>
        <p:txBody>
          <a:bodyPr/>
          <a:lstStyle/>
          <a:p>
            <a:endParaRPr lang="en-US"/>
          </a:p>
        </p:txBody>
      </p:sp>
      <p:sp>
        <p:nvSpPr>
          <p:cNvPr id="26" name="Text 24"/>
          <p:cNvSpPr/>
          <p:nvPr/>
        </p:nvSpPr>
        <p:spPr>
          <a:xfrm>
            <a:off x="457200" y="3794760"/>
            <a:ext cx="11247120" cy="960120"/>
          </a:xfrm>
          <a:prstGeom prst="rect">
            <a:avLst/>
          </a:prstGeom>
          <a:noFill/>
        </p:spPr>
        <p:txBody>
          <a:bodyPr wrap="square" lIns="0" tIns="0" rIns="0" bIns="0" rtlCol="0" anchor="ctr"/>
          <a:lstStyle/>
          <a:p>
            <a:pPr marL="0" indent="0" algn="ctr">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Fraud Score  =  </a:t>
            </a:r>
            <a:r>
              <a:rPr lang="en-US" sz="1900" b="1" dirty="0">
                <a:solidFill>
                  <a:srgbClr val="6FB2F5"/>
                </a:solidFill>
                <a:latin typeface="Calibri" panose="020F0502020204030204" pitchFamily="34" charset="0"/>
                <a:ea typeface="Calibri" panose="020F0502020204030204" pitchFamily="34" charset="-122"/>
                <a:cs typeface="Calibri" panose="020F0502020204030204" pitchFamily="34" charset="-120"/>
              </a:rPr>
              <a:t>0.6</a:t>
            </a:r>
            <a:r>
              <a:rPr lang="en-US" sz="1900" dirty="0">
                <a:solidFill>
                  <a:srgbClr val="FFFFFF"/>
                </a:solidFill>
                <a:latin typeface="Calibri" panose="020F0502020204030204" pitchFamily="34" charset="0"/>
                <a:ea typeface="Calibri" panose="020F0502020204030204" pitchFamily="34" charset="-122"/>
                <a:cs typeface="Calibri" panose="020F0502020204030204" pitchFamily="34" charset="-120"/>
              </a:rPr>
              <a:t> × ML probability   +   </a:t>
            </a:r>
            <a:r>
              <a:rPr lang="en-US" sz="1900" b="1" dirty="0">
                <a:solidFill>
                  <a:srgbClr val="F5A25A"/>
                </a:solidFill>
                <a:latin typeface="Calibri" panose="020F0502020204030204" pitchFamily="34" charset="0"/>
                <a:ea typeface="Calibri" panose="020F0502020204030204" pitchFamily="34" charset="-122"/>
                <a:cs typeface="Calibri" panose="020F0502020204030204" pitchFamily="34" charset="-120"/>
              </a:rPr>
              <a:t>0.3</a:t>
            </a:r>
            <a:r>
              <a:rPr lang="en-US" sz="1900" dirty="0">
                <a:solidFill>
                  <a:srgbClr val="FFFFFF"/>
                </a:solidFill>
                <a:latin typeface="Calibri" panose="020F0502020204030204" pitchFamily="34" charset="0"/>
                <a:ea typeface="Calibri" panose="020F0502020204030204" pitchFamily="34" charset="-122"/>
                <a:cs typeface="Calibri" panose="020F0502020204030204" pitchFamily="34" charset="-120"/>
              </a:rPr>
              <a:t> × blacklist match   +   </a:t>
            </a:r>
            <a:r>
              <a:rPr lang="en-US" sz="1900" b="1" dirty="0">
                <a:solidFill>
                  <a:srgbClr val="8FE0A8"/>
                </a:solidFill>
                <a:latin typeface="Calibri" panose="020F0502020204030204" pitchFamily="34" charset="0"/>
                <a:ea typeface="Calibri" panose="020F0502020204030204" pitchFamily="34" charset="-122"/>
                <a:cs typeface="Calibri" panose="020F0502020204030204" pitchFamily="34" charset="-120"/>
              </a:rPr>
              <a:t>0.1</a:t>
            </a:r>
            <a:r>
              <a:rPr lang="en-US" sz="1900" dirty="0">
                <a:solidFill>
                  <a:srgbClr val="FFFFFF"/>
                </a:solidFill>
                <a:latin typeface="Calibri" panose="020F0502020204030204" pitchFamily="34" charset="0"/>
                <a:ea typeface="Calibri" panose="020F0502020204030204" pitchFamily="34" charset="-122"/>
                <a:cs typeface="Calibri" panose="020F0502020204030204" pitchFamily="34" charset="-120"/>
              </a:rPr>
              <a:t> × rule-check score</a:t>
            </a:r>
            <a:endParaRPr lang="en-US" sz="1900" dirty="0"/>
          </a:p>
        </p:txBody>
      </p:sp>
      <p:sp>
        <p:nvSpPr>
          <p:cNvPr id="27" name="Text 25"/>
          <p:cNvSpPr/>
          <p:nvPr/>
        </p:nvSpPr>
        <p:spPr>
          <a:xfrm>
            <a:off x="457200" y="4937760"/>
            <a:ext cx="11247120" cy="320040"/>
          </a:xfrm>
          <a:prstGeom prst="rect">
            <a:avLst/>
          </a:prstGeom>
          <a:noFill/>
        </p:spPr>
        <p:txBody>
          <a:bodyPr wrap="square" lIns="0" tIns="0" rIns="0" bIns="0" rtlCol="0" anchor="ctr"/>
          <a:lstStyle/>
          <a:p>
            <a:pPr marL="0" indent="0">
              <a:buNone/>
            </a:pPr>
            <a:r>
              <a:rPr lang="en-US" sz="1250" dirty="0">
                <a:solidFill>
                  <a:srgbClr val="666666"/>
                </a:solidFill>
                <a:latin typeface="Calibri" panose="020F0502020204030204" pitchFamily="34" charset="0"/>
                <a:ea typeface="Calibri" panose="020F0502020204030204" pitchFamily="34" charset="-122"/>
                <a:cs typeface="Calibri" panose="020F0502020204030204" pitchFamily="34" charset="-120"/>
              </a:rPr>
              <a:t>Displayed to the user as a Trust Score (100 − fraud score), color-banded:</a:t>
            </a:r>
            <a:endParaRPr lang="en-US" sz="1250" dirty="0"/>
          </a:p>
        </p:txBody>
      </p:sp>
      <p:sp>
        <p:nvSpPr>
          <p:cNvPr id="28" name="Shape 26"/>
          <p:cNvSpPr/>
          <p:nvPr/>
        </p:nvSpPr>
        <p:spPr>
          <a:xfrm>
            <a:off x="457200" y="5349240"/>
            <a:ext cx="3566160" cy="777240"/>
          </a:xfrm>
          <a:prstGeom prst="roundRect">
            <a:avLst>
              <a:gd name="adj" fmla="val 9412"/>
            </a:avLst>
          </a:prstGeom>
          <a:solidFill>
            <a:srgbClr val="E9F7EF"/>
          </a:solidFill>
        </p:spPr>
        <p:txBody>
          <a:bodyPr/>
          <a:lstStyle/>
          <a:p>
            <a:endParaRPr lang="en-US"/>
          </a:p>
        </p:txBody>
      </p:sp>
      <p:sp>
        <p:nvSpPr>
          <p:cNvPr id="29" name="Text 27"/>
          <p:cNvSpPr/>
          <p:nvPr/>
        </p:nvSpPr>
        <p:spPr>
          <a:xfrm>
            <a:off x="457200" y="5349240"/>
            <a:ext cx="3566160" cy="777240"/>
          </a:xfrm>
          <a:prstGeom prst="rect">
            <a:avLst/>
          </a:prstGeom>
          <a:noFill/>
        </p:spPr>
        <p:txBody>
          <a:bodyPr wrap="square" lIns="0" tIns="0" rIns="0" bIns="0" rtlCol="0" anchor="ctr"/>
          <a:lstStyle/>
          <a:p>
            <a:pPr marL="0" indent="0" algn="ctr">
              <a:buNone/>
            </a:pPr>
            <a:r>
              <a:rPr lang="en-US" sz="1800" b="1" dirty="0">
                <a:solidFill>
                  <a:srgbClr val="057642"/>
                </a:solidFill>
                <a:latin typeface="Calibri" panose="020F0502020204030204" pitchFamily="34" charset="0"/>
                <a:ea typeface="Calibri" panose="020F0502020204030204" pitchFamily="34" charset="-122"/>
                <a:cs typeface="Calibri" panose="020F0502020204030204" pitchFamily="34" charset="-120"/>
              </a:rPr>
              <a:t>≥ 70%   </a:t>
            </a:r>
            <a:r>
              <a:rPr lang="en-US" sz="1300" dirty="0">
                <a:solidFill>
                  <a:srgbClr val="057642"/>
                </a:solidFill>
                <a:latin typeface="Calibri" panose="020F0502020204030204" pitchFamily="34" charset="0"/>
                <a:ea typeface="Calibri" panose="020F0502020204030204" pitchFamily="34" charset="-122"/>
                <a:cs typeface="Calibri" panose="020F0502020204030204" pitchFamily="34" charset="-120"/>
              </a:rPr>
              <a:t>Likely Real</a:t>
            </a:r>
            <a:endParaRPr lang="en-US" sz="1800" dirty="0"/>
          </a:p>
        </p:txBody>
      </p:sp>
      <p:sp>
        <p:nvSpPr>
          <p:cNvPr id="30" name="Shape 28"/>
          <p:cNvSpPr/>
          <p:nvPr/>
        </p:nvSpPr>
        <p:spPr>
          <a:xfrm>
            <a:off x="4160520" y="5349240"/>
            <a:ext cx="3566160" cy="777240"/>
          </a:xfrm>
          <a:prstGeom prst="roundRect">
            <a:avLst>
              <a:gd name="adj" fmla="val 9412"/>
            </a:avLst>
          </a:prstGeom>
          <a:solidFill>
            <a:srgbClr val="FFF8E6"/>
          </a:solidFill>
        </p:spPr>
        <p:txBody>
          <a:bodyPr/>
          <a:lstStyle/>
          <a:p>
            <a:endParaRPr lang="en-US"/>
          </a:p>
        </p:txBody>
      </p:sp>
      <p:sp>
        <p:nvSpPr>
          <p:cNvPr id="31" name="Text 29"/>
          <p:cNvSpPr/>
          <p:nvPr/>
        </p:nvSpPr>
        <p:spPr>
          <a:xfrm>
            <a:off x="4160520" y="5349240"/>
            <a:ext cx="3566160" cy="777240"/>
          </a:xfrm>
          <a:prstGeom prst="rect">
            <a:avLst/>
          </a:prstGeom>
          <a:noFill/>
        </p:spPr>
        <p:txBody>
          <a:bodyPr wrap="square" lIns="0" tIns="0" rIns="0" bIns="0" rtlCol="0" anchor="ctr"/>
          <a:lstStyle/>
          <a:p>
            <a:pPr marL="0" indent="0" algn="ctr">
              <a:buNone/>
            </a:pPr>
            <a:r>
              <a:rPr lang="en-US" sz="1800" b="1" dirty="0">
                <a:solidFill>
                  <a:srgbClr val="B8860B"/>
                </a:solidFill>
                <a:latin typeface="Calibri" panose="020F0502020204030204" pitchFamily="34" charset="0"/>
                <a:ea typeface="Calibri" panose="020F0502020204030204" pitchFamily="34" charset="-122"/>
                <a:cs typeface="Calibri" panose="020F0502020204030204" pitchFamily="34" charset="-120"/>
              </a:rPr>
              <a:t>40–69%   </a:t>
            </a:r>
            <a:r>
              <a:rPr lang="en-US" sz="1300" dirty="0">
                <a:solidFill>
                  <a:srgbClr val="B8860B"/>
                </a:solidFill>
                <a:latin typeface="Calibri" panose="020F0502020204030204" pitchFamily="34" charset="0"/>
                <a:ea typeface="Calibri" panose="020F0502020204030204" pitchFamily="34" charset="-122"/>
                <a:cs typeface="Calibri" panose="020F0502020204030204" pitchFamily="34" charset="-120"/>
              </a:rPr>
              <a:t>Use Caution</a:t>
            </a:r>
            <a:endParaRPr lang="en-US" sz="1800" dirty="0"/>
          </a:p>
        </p:txBody>
      </p:sp>
      <p:sp>
        <p:nvSpPr>
          <p:cNvPr id="32" name="Shape 30"/>
          <p:cNvSpPr/>
          <p:nvPr/>
        </p:nvSpPr>
        <p:spPr>
          <a:xfrm>
            <a:off x="7863840" y="5349240"/>
            <a:ext cx="3566160" cy="777240"/>
          </a:xfrm>
          <a:prstGeom prst="roundRect">
            <a:avLst>
              <a:gd name="adj" fmla="val 9412"/>
            </a:avLst>
          </a:prstGeom>
          <a:solidFill>
            <a:srgbClr val="FDECEC"/>
          </a:solidFill>
        </p:spPr>
        <p:txBody>
          <a:bodyPr/>
          <a:lstStyle/>
          <a:p>
            <a:endParaRPr lang="en-US"/>
          </a:p>
        </p:txBody>
      </p:sp>
      <p:sp>
        <p:nvSpPr>
          <p:cNvPr id="33" name="Text 31"/>
          <p:cNvSpPr/>
          <p:nvPr/>
        </p:nvSpPr>
        <p:spPr>
          <a:xfrm>
            <a:off x="7863840" y="5349240"/>
            <a:ext cx="3566160" cy="777240"/>
          </a:xfrm>
          <a:prstGeom prst="rect">
            <a:avLst/>
          </a:prstGeom>
          <a:noFill/>
        </p:spPr>
        <p:txBody>
          <a:bodyPr wrap="square" lIns="0" tIns="0" rIns="0" bIns="0" rtlCol="0" anchor="ctr"/>
          <a:lstStyle/>
          <a:p>
            <a:pPr marL="0" indent="0" algn="ctr">
              <a:buNone/>
            </a:pPr>
            <a:r>
              <a:rPr lang="en-US" sz="1800" b="1" dirty="0">
                <a:solidFill>
                  <a:srgbClr val="CC1016"/>
                </a:solidFill>
                <a:latin typeface="Calibri" panose="020F0502020204030204" pitchFamily="34" charset="0"/>
                <a:ea typeface="Calibri" panose="020F0502020204030204" pitchFamily="34" charset="-122"/>
                <a:cs typeface="Calibri" panose="020F0502020204030204" pitchFamily="34" charset="-120"/>
              </a:rPr>
              <a:t>&lt; 40%   </a:t>
            </a:r>
            <a:r>
              <a:rPr lang="en-US" sz="1300" dirty="0">
                <a:solidFill>
                  <a:srgbClr val="CC1016"/>
                </a:solidFill>
                <a:latin typeface="Calibri" panose="020F0502020204030204" pitchFamily="34" charset="0"/>
                <a:ea typeface="Calibri" panose="020F0502020204030204" pitchFamily="34" charset="-122"/>
                <a:cs typeface="Calibri" panose="020F0502020204030204" pitchFamily="34" charset="-120"/>
              </a:rPr>
              <a:t>Likely Fake</a:t>
            </a:r>
            <a:endParaRPr lang="en-US" sz="1800" dirty="0"/>
          </a:p>
        </p:txBody>
      </p:sp>
      <p:sp>
        <p:nvSpPr>
          <p:cNvPr id="34" name="Text 32"/>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04 / 10</a:t>
            </a:r>
            <a:endParaRPr lang="en-US" sz="1000" dirty="0"/>
          </a:p>
        </p:txBody>
      </p:sp>
      <p:sp>
        <p:nvSpPr>
          <p:cNvPr id="35" name="Text 33"/>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A HARD CONSTRAINT</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The scraper works on structured job postings only</a:t>
            </a:r>
            <a:endParaRPr lang="en-US" sz="2800" dirty="0"/>
          </a:p>
        </p:txBody>
      </p:sp>
      <p:sp>
        <p:nvSpPr>
          <p:cNvPr id="6" name="Text 4"/>
          <p:cNvSpPr/>
          <p:nvPr/>
        </p:nvSpPr>
        <p:spPr>
          <a:xfrm>
            <a:off x="457200" y="1645920"/>
            <a:ext cx="11247120" cy="685800"/>
          </a:xfrm>
          <a:prstGeom prst="rect">
            <a:avLst/>
          </a:prstGeom>
          <a:noFill/>
        </p:spPr>
        <p:txBody>
          <a:bodyPr wrap="square" lIns="0" tIns="0" rIns="0" bIns="0" rtlCol="0" anchor="ctr"/>
          <a:lstStyle/>
          <a:p>
            <a:pPr marL="0" indent="0">
              <a:lnSpc>
                <a:spcPct val="120000"/>
              </a:lnSpc>
              <a:buNone/>
            </a:pPr>
            <a:r>
              <a:rPr lang="en-US" sz="1300" dirty="0">
                <a:solidFill>
                  <a:srgbClr val="191919"/>
                </a:solidFill>
                <a:latin typeface="Calibri" panose="020F0502020204030204" pitchFamily="34" charset="0"/>
                <a:ea typeface="Calibri" panose="020F0502020204030204" pitchFamily="34" charset="-122"/>
                <a:cs typeface="Calibri" panose="020F0502020204030204" pitchFamily="34" charset="-120"/>
              </a:rPr>
              <a:t>The extension reads named, structured DOM fields (title, company, description, location...) that only exist on LinkedIn's dedicated </a:t>
            </a:r>
            <a:r>
              <a:rPr lang="en-US" sz="1300" b="1" dirty="0">
                <a:solidFill>
                  <a:srgbClr val="0A66C2"/>
                </a:solidFill>
                <a:latin typeface="Calibri" panose="020F0502020204030204" pitchFamily="34" charset="0"/>
                <a:ea typeface="Calibri" panose="020F0502020204030204" pitchFamily="34" charset="-122"/>
                <a:cs typeface="Calibri" panose="020F0502020204030204" pitchFamily="34" charset="-120"/>
              </a:rPr>
              <a:t>job posting pages</a:t>
            </a:r>
            <a:r>
              <a:rPr lang="en-US" sz="1300" dirty="0">
                <a:solidFill>
                  <a:srgbClr val="191919"/>
                </a:solidFill>
                <a:latin typeface="Calibri" panose="020F0502020204030204" pitchFamily="34" charset="0"/>
                <a:ea typeface="Calibri" panose="020F0502020204030204" pitchFamily="34" charset="-122"/>
                <a:cs typeface="Calibri" panose="020F0502020204030204" pitchFamily="34" charset="-120"/>
              </a:rPr>
              <a:t>. It cannot currently screen free-text hiring posts shared in the main feed — those have no structured fields to extract, and would require a fundamentally different technique (natural-language extraction, not DOM scraping).</a:t>
            </a:r>
            <a:endParaRPr lang="en-US" sz="1300" dirty="0"/>
          </a:p>
        </p:txBody>
      </p:sp>
      <p:pic>
        <p:nvPicPr>
          <p:cNvPr id="7" name="Image 0" descr="assets/structured_post.png"/>
          <p:cNvPicPr>
            <a:picLocks noChangeAspect="1"/>
          </p:cNvPicPr>
          <p:nvPr/>
        </p:nvPicPr>
        <p:blipFill>
          <a:blip r:embed="rId3"/>
          <a:srcRect/>
          <a:stretch>
            <a:fillRect/>
          </a:stretch>
        </p:blipFill>
        <p:spPr>
          <a:xfrm>
            <a:off x="457200" y="2468880"/>
            <a:ext cx="5349240" cy="2898648"/>
          </a:xfrm>
          <a:prstGeom prst="rect">
            <a:avLst/>
          </a:prstGeom>
        </p:spPr>
      </p:pic>
      <p:sp>
        <p:nvSpPr>
          <p:cNvPr id="8" name="Shape 5"/>
          <p:cNvSpPr/>
          <p:nvPr/>
        </p:nvSpPr>
        <p:spPr>
          <a:xfrm>
            <a:off x="457200" y="2468880"/>
            <a:ext cx="5349240" cy="2898648"/>
          </a:xfrm>
          <a:prstGeom prst="roundRect">
            <a:avLst>
              <a:gd name="adj" fmla="val 1577"/>
            </a:avLst>
          </a:prstGeom>
          <a:ln w="28575">
            <a:solidFill>
              <a:srgbClr val="057642"/>
            </a:solidFill>
            <a:prstDash val="solid"/>
          </a:ln>
        </p:spPr>
        <p:txBody>
          <a:bodyPr/>
          <a:lstStyle/>
          <a:p>
            <a:endParaRPr lang="en-US"/>
          </a:p>
        </p:txBody>
      </p:sp>
      <p:sp>
        <p:nvSpPr>
          <p:cNvPr id="9" name="Shape 6"/>
          <p:cNvSpPr/>
          <p:nvPr/>
        </p:nvSpPr>
        <p:spPr>
          <a:xfrm>
            <a:off x="640080" y="2651760"/>
            <a:ext cx="1417320" cy="292608"/>
          </a:xfrm>
          <a:prstGeom prst="roundRect">
            <a:avLst>
              <a:gd name="adj" fmla="val 50000"/>
            </a:avLst>
          </a:prstGeom>
          <a:solidFill>
            <a:srgbClr val="057642"/>
          </a:solidFill>
        </p:spPr>
        <p:txBody>
          <a:bodyPr/>
          <a:lstStyle/>
          <a:p>
            <a:endParaRPr lang="en-US"/>
          </a:p>
        </p:txBody>
      </p:sp>
      <p:sp>
        <p:nvSpPr>
          <p:cNvPr id="10" name="Text 7"/>
          <p:cNvSpPr/>
          <p:nvPr/>
        </p:nvSpPr>
        <p:spPr>
          <a:xfrm>
            <a:off x="640080" y="2651760"/>
            <a:ext cx="1417320" cy="29260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SUPPORTED</a:t>
            </a:r>
            <a:endParaRPr lang="en-US" sz="1050" dirty="0"/>
          </a:p>
        </p:txBody>
      </p:sp>
      <p:sp>
        <p:nvSpPr>
          <p:cNvPr id="11" name="Text 8"/>
          <p:cNvSpPr/>
          <p:nvPr/>
        </p:nvSpPr>
        <p:spPr>
          <a:xfrm>
            <a:off x="457200" y="5440680"/>
            <a:ext cx="5349240" cy="320040"/>
          </a:xfrm>
          <a:prstGeom prst="rect">
            <a:avLst/>
          </a:prstGeom>
          <a:noFill/>
        </p:spPr>
        <p:txBody>
          <a:bodyPr wrap="square" lIns="0" tIns="0" rIns="0" bIns="0" rtlCol="0" anchor="ctr"/>
          <a:lstStyle/>
          <a:p>
            <a:pPr marL="0" indent="0">
              <a:buNone/>
            </a:pPr>
            <a:r>
              <a:rPr lang="en-US" sz="1200" b="1" dirty="0">
                <a:solidFill>
                  <a:srgbClr val="057642"/>
                </a:solidFill>
                <a:latin typeface="Calibri" panose="020F0502020204030204" pitchFamily="34" charset="0"/>
                <a:ea typeface="Calibri" panose="020F0502020204030204" pitchFamily="34" charset="-122"/>
                <a:cs typeface="Calibri" panose="020F0502020204030204" pitchFamily="34" charset="-120"/>
              </a:rPr>
              <a:t>Structured job posting (/jobs/view/)</a:t>
            </a:r>
            <a:endParaRPr lang="en-US" sz="1200" dirty="0"/>
          </a:p>
        </p:txBody>
      </p:sp>
      <p:pic>
        <p:nvPicPr>
          <p:cNvPr id="12" name="Image 1" descr="assets/freetext_post.png"/>
          <p:cNvPicPr>
            <a:picLocks noChangeAspect="1"/>
          </p:cNvPicPr>
          <p:nvPr/>
        </p:nvPicPr>
        <p:blipFill>
          <a:blip r:embed="rId4"/>
          <a:srcRect/>
          <a:stretch>
            <a:fillRect/>
          </a:stretch>
        </p:blipFill>
        <p:spPr>
          <a:xfrm>
            <a:off x="6309360" y="2468880"/>
            <a:ext cx="5349240" cy="2898648"/>
          </a:xfrm>
          <a:prstGeom prst="rect">
            <a:avLst/>
          </a:prstGeom>
        </p:spPr>
      </p:pic>
      <p:sp>
        <p:nvSpPr>
          <p:cNvPr id="13" name="Shape 9"/>
          <p:cNvSpPr/>
          <p:nvPr/>
        </p:nvSpPr>
        <p:spPr>
          <a:xfrm>
            <a:off x="6309360" y="2468880"/>
            <a:ext cx="5349240" cy="2898648"/>
          </a:xfrm>
          <a:prstGeom prst="roundRect">
            <a:avLst>
              <a:gd name="adj" fmla="val 1577"/>
            </a:avLst>
          </a:prstGeom>
          <a:ln w="28575">
            <a:solidFill>
              <a:srgbClr val="CC1016"/>
            </a:solidFill>
            <a:prstDash val="solid"/>
          </a:ln>
        </p:spPr>
        <p:txBody>
          <a:bodyPr/>
          <a:lstStyle/>
          <a:p>
            <a:endParaRPr lang="en-US"/>
          </a:p>
        </p:txBody>
      </p:sp>
      <p:sp>
        <p:nvSpPr>
          <p:cNvPr id="14" name="Shape 10"/>
          <p:cNvSpPr/>
          <p:nvPr/>
        </p:nvSpPr>
        <p:spPr>
          <a:xfrm>
            <a:off x="6492240" y="2651760"/>
            <a:ext cx="1691640" cy="292608"/>
          </a:xfrm>
          <a:prstGeom prst="roundRect">
            <a:avLst>
              <a:gd name="adj" fmla="val 50000"/>
            </a:avLst>
          </a:prstGeom>
          <a:solidFill>
            <a:srgbClr val="CC1016"/>
          </a:solidFill>
        </p:spPr>
        <p:txBody>
          <a:bodyPr/>
          <a:lstStyle/>
          <a:p>
            <a:endParaRPr lang="en-US"/>
          </a:p>
        </p:txBody>
      </p:sp>
      <p:sp>
        <p:nvSpPr>
          <p:cNvPr id="15" name="Text 11"/>
          <p:cNvSpPr/>
          <p:nvPr/>
        </p:nvSpPr>
        <p:spPr>
          <a:xfrm>
            <a:off x="6492240" y="2651760"/>
            <a:ext cx="1691640" cy="29260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 SUPPORTED</a:t>
            </a:r>
            <a:endParaRPr lang="en-US" sz="1050" dirty="0"/>
          </a:p>
        </p:txBody>
      </p:sp>
      <p:sp>
        <p:nvSpPr>
          <p:cNvPr id="16" name="Text 12"/>
          <p:cNvSpPr/>
          <p:nvPr/>
        </p:nvSpPr>
        <p:spPr>
          <a:xfrm>
            <a:off x="6309360" y="5440680"/>
            <a:ext cx="5349240" cy="320040"/>
          </a:xfrm>
          <a:prstGeom prst="rect">
            <a:avLst/>
          </a:prstGeom>
          <a:noFill/>
        </p:spPr>
        <p:txBody>
          <a:bodyPr wrap="square" lIns="0" tIns="0" rIns="0" bIns="0" rtlCol="0" anchor="ctr"/>
          <a:lstStyle/>
          <a:p>
            <a:pPr marL="0" indent="0">
              <a:buNone/>
            </a:pPr>
            <a:r>
              <a:rPr lang="en-US" sz="1200" b="1" dirty="0">
                <a:solidFill>
                  <a:srgbClr val="CC1016"/>
                </a:solidFill>
                <a:latin typeface="Calibri" panose="020F0502020204030204" pitchFamily="34" charset="0"/>
                <a:ea typeface="Calibri" panose="020F0502020204030204" pitchFamily="34" charset="-122"/>
                <a:cs typeface="Calibri" panose="020F0502020204030204" pitchFamily="34" charset="-120"/>
              </a:rPr>
              <a:t>Free-text hiring post in the main feed</a:t>
            </a:r>
            <a:endParaRPr lang="en-US" sz="1200" dirty="0"/>
          </a:p>
        </p:txBody>
      </p:sp>
      <p:sp>
        <p:nvSpPr>
          <p:cNvPr id="17" name="Text 13"/>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05 / 10</a:t>
            </a:r>
            <a:endParaRPr lang="en-US" sz="1000" dirty="0"/>
          </a:p>
        </p:txBody>
      </p:sp>
      <p:sp>
        <p:nvSpPr>
          <p:cNvPr id="18" name="Text 14"/>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THE FRAUD-DETECTION MODEL</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Trained in Google Colab, ahead of the backend build</a:t>
            </a:r>
            <a:endParaRPr lang="en-US" sz="2800" dirty="0"/>
          </a:p>
        </p:txBody>
      </p:sp>
      <p:sp>
        <p:nvSpPr>
          <p:cNvPr id="6" name="Text 4"/>
          <p:cNvSpPr/>
          <p:nvPr/>
        </p:nvSpPr>
        <p:spPr>
          <a:xfrm>
            <a:off x="457200" y="1691640"/>
            <a:ext cx="6263640" cy="658368"/>
          </a:xfrm>
          <a:prstGeom prst="rect">
            <a:avLst/>
          </a:prstGeom>
          <a:noFill/>
        </p:spPr>
        <p:txBody>
          <a:bodyPr wrap="square" lIns="0" tIns="0" rIns="0" bIns="0" rtlCol="0" anchor="ctr"/>
          <a:lstStyle/>
          <a:p>
            <a:pPr marL="0" indent="0">
              <a:lnSpc>
                <a:spcPct val="115000"/>
              </a:lnSpc>
              <a:buNone/>
            </a:pPr>
            <a:r>
              <a:rPr lang="en-US" sz="1250" b="1" dirty="0">
                <a:solidFill>
                  <a:srgbClr val="004182"/>
                </a:solidFill>
                <a:latin typeface="Calibri" panose="020F0502020204030204" pitchFamily="34" charset="0"/>
                <a:ea typeface="Calibri" panose="020F0502020204030204" pitchFamily="34" charset="-122"/>
                <a:cs typeface="Calibri" panose="020F0502020204030204" pitchFamily="34" charset="-120"/>
              </a:rPr>
              <a:t>Dataset:  </a:t>
            </a: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202 labeled postings · 10 columns · no missing values</a:t>
            </a:r>
            <a:endParaRPr lang="en-US" sz="1250" dirty="0"/>
          </a:p>
        </p:txBody>
      </p:sp>
      <p:sp>
        <p:nvSpPr>
          <p:cNvPr id="7" name="Text 5"/>
          <p:cNvSpPr/>
          <p:nvPr/>
        </p:nvSpPr>
        <p:spPr>
          <a:xfrm>
            <a:off x="457200" y="2386584"/>
            <a:ext cx="6263640" cy="658368"/>
          </a:xfrm>
          <a:prstGeom prst="rect">
            <a:avLst/>
          </a:prstGeom>
          <a:noFill/>
        </p:spPr>
        <p:txBody>
          <a:bodyPr wrap="square" lIns="0" tIns="0" rIns="0" bIns="0" rtlCol="0" anchor="ctr"/>
          <a:lstStyle/>
          <a:p>
            <a:pPr marL="0" indent="0">
              <a:lnSpc>
                <a:spcPct val="115000"/>
              </a:lnSpc>
              <a:buNone/>
            </a:pPr>
            <a:r>
              <a:rPr lang="en-US" sz="1250" b="1" dirty="0">
                <a:solidFill>
                  <a:srgbClr val="004182"/>
                </a:solidFill>
                <a:latin typeface="Calibri" panose="020F0502020204030204" pitchFamily="34" charset="0"/>
                <a:ea typeface="Calibri" panose="020F0502020204030204" pitchFamily="34" charset="-122"/>
                <a:cs typeface="Calibri" panose="020F0502020204030204" pitchFamily="34" charset="-120"/>
              </a:rPr>
              <a:t>Feature engineering:  </a:t>
            </a: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9 text fields joined → TF-IDF (max 500 features, English stop words removed)</a:t>
            </a:r>
            <a:endParaRPr lang="en-US" sz="1250" dirty="0"/>
          </a:p>
        </p:txBody>
      </p:sp>
      <p:sp>
        <p:nvSpPr>
          <p:cNvPr id="8" name="Text 6"/>
          <p:cNvSpPr/>
          <p:nvPr/>
        </p:nvSpPr>
        <p:spPr>
          <a:xfrm>
            <a:off x="457200" y="3081528"/>
            <a:ext cx="6263640" cy="658368"/>
          </a:xfrm>
          <a:prstGeom prst="rect">
            <a:avLst/>
          </a:prstGeom>
          <a:noFill/>
        </p:spPr>
        <p:txBody>
          <a:bodyPr wrap="square" lIns="0" tIns="0" rIns="0" bIns="0" rtlCol="0" anchor="ctr"/>
          <a:lstStyle/>
          <a:p>
            <a:pPr marL="0" indent="0">
              <a:lnSpc>
                <a:spcPct val="115000"/>
              </a:lnSpc>
              <a:buNone/>
            </a:pPr>
            <a:r>
              <a:rPr lang="en-US" sz="1250" b="1" dirty="0">
                <a:solidFill>
                  <a:srgbClr val="004182"/>
                </a:solidFill>
                <a:latin typeface="Calibri" panose="020F0502020204030204" pitchFamily="34" charset="0"/>
                <a:ea typeface="Calibri" panose="020F0502020204030204" pitchFamily="34" charset="-122"/>
                <a:cs typeface="Calibri" panose="020F0502020204030204" pitchFamily="34" charset="-120"/>
              </a:rPr>
              <a:t>Model:  </a:t>
            </a: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scikit-learn LogisticRegression (max_iter=1000), sklearn v1.6.1</a:t>
            </a:r>
            <a:endParaRPr lang="en-US" sz="1250" dirty="0"/>
          </a:p>
        </p:txBody>
      </p:sp>
      <p:sp>
        <p:nvSpPr>
          <p:cNvPr id="9" name="Text 7"/>
          <p:cNvSpPr/>
          <p:nvPr/>
        </p:nvSpPr>
        <p:spPr>
          <a:xfrm>
            <a:off x="457200" y="3776472"/>
            <a:ext cx="6263640" cy="658368"/>
          </a:xfrm>
          <a:prstGeom prst="rect">
            <a:avLst/>
          </a:prstGeom>
          <a:noFill/>
        </p:spPr>
        <p:txBody>
          <a:bodyPr wrap="square" lIns="0" tIns="0" rIns="0" bIns="0" rtlCol="0" anchor="ctr"/>
          <a:lstStyle/>
          <a:p>
            <a:pPr marL="0" indent="0">
              <a:lnSpc>
                <a:spcPct val="115000"/>
              </a:lnSpc>
              <a:buNone/>
            </a:pPr>
            <a:r>
              <a:rPr lang="en-US" sz="1250" b="1" dirty="0">
                <a:solidFill>
                  <a:srgbClr val="004182"/>
                </a:solidFill>
                <a:latin typeface="Calibri" panose="020F0502020204030204" pitchFamily="34" charset="0"/>
                <a:ea typeface="Calibri" panose="020F0502020204030204" pitchFamily="34" charset="-122"/>
                <a:cs typeface="Calibri" panose="020F0502020204030204" pitchFamily="34" charset="-120"/>
              </a:rPr>
              <a:t>Split:  </a:t>
            </a: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80% / 20%, stratified, random_state=42 — 41 rows held out for testing</a:t>
            </a:r>
            <a:endParaRPr lang="en-US" sz="1250" dirty="0"/>
          </a:p>
        </p:txBody>
      </p:sp>
      <p:sp>
        <p:nvSpPr>
          <p:cNvPr id="10" name="Text 8"/>
          <p:cNvSpPr/>
          <p:nvPr/>
        </p:nvSpPr>
        <p:spPr>
          <a:xfrm>
            <a:off x="457200" y="4471416"/>
            <a:ext cx="6263640" cy="658368"/>
          </a:xfrm>
          <a:prstGeom prst="rect">
            <a:avLst/>
          </a:prstGeom>
          <a:noFill/>
        </p:spPr>
        <p:txBody>
          <a:bodyPr wrap="square" lIns="0" tIns="0" rIns="0" bIns="0" rtlCol="0" anchor="ctr"/>
          <a:lstStyle/>
          <a:p>
            <a:pPr marL="0" indent="0">
              <a:lnSpc>
                <a:spcPct val="115000"/>
              </a:lnSpc>
              <a:buNone/>
            </a:pPr>
            <a:r>
              <a:rPr lang="en-US" sz="1250" b="1" dirty="0">
                <a:solidFill>
                  <a:srgbClr val="004182"/>
                </a:solidFill>
                <a:latin typeface="Calibri" panose="020F0502020204030204" pitchFamily="34" charset="0"/>
                <a:ea typeface="Calibri" panose="020F0502020204030204" pitchFamily="34" charset="-122"/>
                <a:cs typeface="Calibri" panose="020F0502020204030204" pitchFamily="34" charset="-120"/>
              </a:rPr>
              <a:t>Evaluation:  </a:t>
            </a: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Confusion matrix + F2 score — weights recall higher, since missing a fake listing is worse than over-flagging a real one</a:t>
            </a:r>
            <a:endParaRPr lang="en-US" sz="1250" dirty="0"/>
          </a:p>
        </p:txBody>
      </p:sp>
      <p:sp>
        <p:nvSpPr>
          <p:cNvPr id="11" name="Shape 9"/>
          <p:cNvSpPr/>
          <p:nvPr/>
        </p:nvSpPr>
        <p:spPr>
          <a:xfrm>
            <a:off x="6995160" y="1691640"/>
            <a:ext cx="4709160" cy="4343400"/>
          </a:xfrm>
          <a:prstGeom prst="roundRect">
            <a:avLst>
              <a:gd name="adj" fmla="val 1684"/>
            </a:avLst>
          </a:prstGeom>
          <a:solidFill>
            <a:srgbClr val="E9F7EF"/>
          </a:solidFill>
        </p:spPr>
        <p:txBody>
          <a:bodyPr/>
          <a:lstStyle/>
          <a:p>
            <a:endParaRPr lang="en-US"/>
          </a:p>
        </p:txBody>
      </p:sp>
      <p:sp>
        <p:nvSpPr>
          <p:cNvPr id="12" name="Text 10"/>
          <p:cNvSpPr/>
          <p:nvPr/>
        </p:nvSpPr>
        <p:spPr>
          <a:xfrm>
            <a:off x="7269480" y="1892808"/>
            <a:ext cx="4160520" cy="320040"/>
          </a:xfrm>
          <a:prstGeom prst="rect">
            <a:avLst/>
          </a:prstGeom>
          <a:noFill/>
        </p:spPr>
        <p:txBody>
          <a:bodyPr wrap="square" lIns="0" tIns="0" rIns="0" bIns="0" rtlCol="0" anchor="ctr"/>
          <a:lstStyle/>
          <a:p>
            <a:pPr marL="0" indent="0">
              <a:buNone/>
            </a:pPr>
            <a:r>
              <a:rPr lang="en-US" sz="1400" b="1" dirty="0">
                <a:solidFill>
                  <a:srgbClr val="057642"/>
                </a:solidFill>
                <a:latin typeface="Calibri" panose="020F0502020204030204" pitchFamily="34" charset="0"/>
                <a:ea typeface="Calibri" panose="020F0502020204030204" pitchFamily="34" charset="-122"/>
                <a:cs typeface="Calibri" panose="020F0502020204030204" pitchFamily="34" charset="-120"/>
              </a:rPr>
              <a:t>Results on the 41-row test set</a:t>
            </a:r>
            <a:endParaRPr lang="en-US" sz="1400" dirty="0"/>
          </a:p>
        </p:txBody>
      </p:sp>
      <p:sp>
        <p:nvSpPr>
          <p:cNvPr id="13" name="Text 11"/>
          <p:cNvSpPr/>
          <p:nvPr/>
        </p:nvSpPr>
        <p:spPr>
          <a:xfrm>
            <a:off x="7269480" y="2258568"/>
            <a:ext cx="2103120" cy="685800"/>
          </a:xfrm>
          <a:prstGeom prst="rect">
            <a:avLst/>
          </a:prstGeom>
          <a:noFill/>
        </p:spPr>
        <p:txBody>
          <a:bodyPr wrap="square" lIns="0" tIns="0" rIns="0" bIns="0" rtlCol="0" anchor="ctr"/>
          <a:lstStyle/>
          <a:p>
            <a:pPr marL="0" indent="0">
              <a:buNone/>
            </a:pPr>
            <a:r>
              <a:rPr lang="en-US" sz="4200" b="1" dirty="0">
                <a:solidFill>
                  <a:srgbClr val="057642"/>
                </a:solidFill>
                <a:latin typeface="Calibri" panose="020F0502020204030204" pitchFamily="34" charset="0"/>
                <a:ea typeface="Calibri" panose="020F0502020204030204" pitchFamily="34" charset="-122"/>
                <a:cs typeface="Calibri" panose="020F0502020204030204" pitchFamily="34" charset="-120"/>
              </a:rPr>
              <a:t>0.758</a:t>
            </a:r>
            <a:endParaRPr lang="en-US" sz="4200" dirty="0"/>
          </a:p>
        </p:txBody>
      </p:sp>
      <p:sp>
        <p:nvSpPr>
          <p:cNvPr id="14" name="Text 12"/>
          <p:cNvSpPr/>
          <p:nvPr/>
        </p:nvSpPr>
        <p:spPr>
          <a:xfrm>
            <a:off x="7269480" y="2926080"/>
            <a:ext cx="2103120" cy="274320"/>
          </a:xfrm>
          <a:prstGeom prst="rect">
            <a:avLst/>
          </a:prstGeom>
          <a:noFill/>
        </p:spPr>
        <p:txBody>
          <a:bodyPr wrap="square" lIns="0" tIns="0" rIns="0" bIns="0" rtlCol="0" anchor="ctr"/>
          <a:lstStyle/>
          <a:p>
            <a:pPr marL="0" indent="0">
              <a:buNone/>
            </a:pPr>
            <a:r>
              <a:rPr lang="en-US" sz="1050" b="1" kern="0" spc="100" dirty="0">
                <a:solidFill>
                  <a:srgbClr val="057642"/>
                </a:solidFill>
                <a:latin typeface="Calibri" panose="020F0502020204030204" pitchFamily="34" charset="0"/>
                <a:ea typeface="Calibri" panose="020F0502020204030204" pitchFamily="34" charset="-122"/>
                <a:cs typeface="Calibri" panose="020F0502020204030204" pitchFamily="34" charset="-120"/>
              </a:rPr>
              <a:t>F2 SCORE</a:t>
            </a:r>
            <a:endParaRPr lang="en-US" sz="1050" dirty="0"/>
          </a:p>
        </p:txBody>
      </p:sp>
      <p:sp>
        <p:nvSpPr>
          <p:cNvPr id="15" name="Text 13"/>
          <p:cNvSpPr/>
          <p:nvPr/>
        </p:nvSpPr>
        <p:spPr>
          <a:xfrm>
            <a:off x="7269480" y="3474720"/>
            <a:ext cx="4160520" cy="274320"/>
          </a:xfrm>
          <a:prstGeom prst="rect">
            <a:avLst/>
          </a:prstGeom>
          <a:noFill/>
        </p:spPr>
        <p:txBody>
          <a:bodyPr wrap="square" lIns="0" tIns="0" rIns="0" bIns="0" rtlCol="0" anchor="ctr"/>
          <a:lstStyle/>
          <a:p>
            <a:pPr marL="0" indent="0">
              <a:buNone/>
            </a:pPr>
            <a:r>
              <a:rPr lang="en-US" sz="1150" b="1" dirty="0">
                <a:solidFill>
                  <a:srgbClr val="191919"/>
                </a:solidFill>
                <a:latin typeface="Calibri" panose="020F0502020204030204" pitchFamily="34" charset="0"/>
                <a:ea typeface="Calibri" panose="020F0502020204030204" pitchFamily="34" charset="-122"/>
                <a:cs typeface="Calibri" panose="020F0502020204030204" pitchFamily="34" charset="-120"/>
              </a:rPr>
              <a:t>Real postings (27)</a:t>
            </a:r>
            <a:endParaRPr lang="en-US" sz="1150" dirty="0"/>
          </a:p>
        </p:txBody>
      </p:sp>
      <p:sp>
        <p:nvSpPr>
          <p:cNvPr id="16" name="Text 14"/>
          <p:cNvSpPr/>
          <p:nvPr/>
        </p:nvSpPr>
        <p:spPr>
          <a:xfrm>
            <a:off x="7269480" y="3730752"/>
            <a:ext cx="4160520" cy="274320"/>
          </a:xfrm>
          <a:prstGeom prst="rect">
            <a:avLst/>
          </a:prstGeom>
          <a:noFill/>
        </p:spPr>
        <p:txBody>
          <a:bodyPr wrap="square" lIns="0" tIns="0" rIns="0" bIns="0" rtlCol="0" anchor="ctr"/>
          <a:lstStyle/>
          <a:p>
            <a:pPr marL="0" indent="0">
              <a:buNone/>
            </a:pPr>
            <a:r>
              <a:rPr lang="en-US" sz="1100" dirty="0">
                <a:solidFill>
                  <a:srgbClr val="666666"/>
                </a:solidFill>
                <a:latin typeface="Calibri" panose="020F0502020204030204" pitchFamily="34" charset="0"/>
                <a:ea typeface="Calibri" panose="020F0502020204030204" pitchFamily="34" charset="-122"/>
                <a:cs typeface="Calibri" panose="020F0502020204030204" pitchFamily="34" charset="-120"/>
              </a:rPr>
              <a:t>100% recall · 87% precision</a:t>
            </a:r>
            <a:endParaRPr lang="en-US" sz="1100" dirty="0"/>
          </a:p>
        </p:txBody>
      </p:sp>
      <p:sp>
        <p:nvSpPr>
          <p:cNvPr id="17" name="Text 15"/>
          <p:cNvSpPr/>
          <p:nvPr/>
        </p:nvSpPr>
        <p:spPr>
          <a:xfrm>
            <a:off x="7269480" y="4096512"/>
            <a:ext cx="4160520" cy="274320"/>
          </a:xfrm>
          <a:prstGeom prst="rect">
            <a:avLst/>
          </a:prstGeom>
          <a:noFill/>
        </p:spPr>
        <p:txBody>
          <a:bodyPr wrap="square" lIns="0" tIns="0" rIns="0" bIns="0" rtlCol="0" anchor="ctr"/>
          <a:lstStyle/>
          <a:p>
            <a:pPr marL="0" indent="0">
              <a:buNone/>
            </a:pPr>
            <a:r>
              <a:rPr lang="en-US" sz="1150" b="1" dirty="0">
                <a:solidFill>
                  <a:srgbClr val="191919"/>
                </a:solidFill>
                <a:latin typeface="Calibri" panose="020F0502020204030204" pitchFamily="34" charset="0"/>
                <a:ea typeface="Calibri" panose="020F0502020204030204" pitchFamily="34" charset="-122"/>
                <a:cs typeface="Calibri" panose="020F0502020204030204" pitchFamily="34" charset="-120"/>
              </a:rPr>
              <a:t>Fake postings (14)</a:t>
            </a:r>
            <a:endParaRPr lang="en-US" sz="1150" dirty="0"/>
          </a:p>
        </p:txBody>
      </p:sp>
      <p:sp>
        <p:nvSpPr>
          <p:cNvPr id="18" name="Text 16"/>
          <p:cNvSpPr/>
          <p:nvPr/>
        </p:nvSpPr>
        <p:spPr>
          <a:xfrm>
            <a:off x="7269480" y="4352544"/>
            <a:ext cx="4160520" cy="274320"/>
          </a:xfrm>
          <a:prstGeom prst="rect">
            <a:avLst/>
          </a:prstGeom>
          <a:noFill/>
        </p:spPr>
        <p:txBody>
          <a:bodyPr wrap="square" lIns="0" tIns="0" rIns="0" bIns="0" rtlCol="0" anchor="ctr"/>
          <a:lstStyle/>
          <a:p>
            <a:pPr marL="0" indent="0">
              <a:buNone/>
            </a:pPr>
            <a:r>
              <a:rPr lang="en-US" sz="1100" dirty="0">
                <a:solidFill>
                  <a:srgbClr val="666666"/>
                </a:solidFill>
                <a:latin typeface="Calibri" panose="020F0502020204030204" pitchFamily="34" charset="0"/>
                <a:ea typeface="Calibri" panose="020F0502020204030204" pitchFamily="34" charset="-122"/>
                <a:cs typeface="Calibri" panose="020F0502020204030204" pitchFamily="34" charset="-120"/>
              </a:rPr>
              <a:t>71% recall (10/14 caught) · 100% precision</a:t>
            </a:r>
            <a:endParaRPr lang="en-US" sz="1100" dirty="0"/>
          </a:p>
        </p:txBody>
      </p:sp>
      <p:sp>
        <p:nvSpPr>
          <p:cNvPr id="19" name="Text 17"/>
          <p:cNvSpPr/>
          <p:nvPr/>
        </p:nvSpPr>
        <p:spPr>
          <a:xfrm>
            <a:off x="7269480" y="4718304"/>
            <a:ext cx="4160520" cy="274320"/>
          </a:xfrm>
          <a:prstGeom prst="rect">
            <a:avLst/>
          </a:prstGeom>
          <a:noFill/>
        </p:spPr>
        <p:txBody>
          <a:bodyPr wrap="square" lIns="0" tIns="0" rIns="0" bIns="0" rtlCol="0" anchor="ctr"/>
          <a:lstStyle/>
          <a:p>
            <a:pPr marL="0" indent="0">
              <a:buNone/>
            </a:pPr>
            <a:r>
              <a:rPr lang="en-US" sz="1150" b="1" dirty="0">
                <a:solidFill>
                  <a:srgbClr val="191919"/>
                </a:solidFill>
                <a:latin typeface="Calibri" panose="020F0502020204030204" pitchFamily="34" charset="0"/>
                <a:ea typeface="Calibri" panose="020F0502020204030204" pitchFamily="34" charset="-122"/>
                <a:cs typeface="Calibri" panose="020F0502020204030204" pitchFamily="34" charset="-120"/>
              </a:rPr>
              <a:t>Overall accuracy</a:t>
            </a:r>
            <a:endParaRPr lang="en-US" sz="1150" dirty="0"/>
          </a:p>
        </p:txBody>
      </p:sp>
      <p:sp>
        <p:nvSpPr>
          <p:cNvPr id="20" name="Text 18"/>
          <p:cNvSpPr/>
          <p:nvPr/>
        </p:nvSpPr>
        <p:spPr>
          <a:xfrm>
            <a:off x="7269480" y="4974336"/>
            <a:ext cx="4160520" cy="274320"/>
          </a:xfrm>
          <a:prstGeom prst="rect">
            <a:avLst/>
          </a:prstGeom>
          <a:noFill/>
        </p:spPr>
        <p:txBody>
          <a:bodyPr wrap="square" lIns="0" tIns="0" rIns="0" bIns="0" rtlCol="0" anchor="ctr"/>
          <a:lstStyle/>
          <a:p>
            <a:pPr marL="0" indent="0">
              <a:buNone/>
            </a:pPr>
            <a:r>
              <a:rPr lang="en-US" sz="1100" dirty="0">
                <a:solidFill>
                  <a:srgbClr val="666666"/>
                </a:solidFill>
                <a:latin typeface="Calibri" panose="020F0502020204030204" pitchFamily="34" charset="0"/>
                <a:ea typeface="Calibri" panose="020F0502020204030204" pitchFamily="34" charset="-122"/>
                <a:cs typeface="Calibri" panose="020F0502020204030204" pitchFamily="34" charset="-120"/>
              </a:rPr>
              <a:t>90%</a:t>
            </a:r>
            <a:endParaRPr lang="en-US" sz="1100" dirty="0"/>
          </a:p>
        </p:txBody>
      </p:sp>
      <p:sp>
        <p:nvSpPr>
          <p:cNvPr id="21" name="Text 19"/>
          <p:cNvSpPr/>
          <p:nvPr/>
        </p:nvSpPr>
        <p:spPr>
          <a:xfrm>
            <a:off x="7269480" y="5202936"/>
            <a:ext cx="4160520" cy="868680"/>
          </a:xfrm>
          <a:prstGeom prst="rect">
            <a:avLst/>
          </a:prstGeom>
          <a:noFill/>
        </p:spPr>
        <p:txBody>
          <a:bodyPr wrap="square" lIns="0" tIns="0" rIns="0" bIns="0" rtlCol="0" anchor="ctr"/>
          <a:lstStyle/>
          <a:p>
            <a:pPr marL="0" indent="0">
              <a:lnSpc>
                <a:spcPct val="115000"/>
              </a:lnSpc>
              <a:buNone/>
            </a:pPr>
            <a:r>
              <a:rPr lang="en-US" sz="1050" i="1" dirty="0">
                <a:solidFill>
                  <a:srgbClr val="057642"/>
                </a:solidFill>
                <a:latin typeface="Calibri" panose="020F0502020204030204" pitchFamily="34" charset="0"/>
                <a:ea typeface="Calibri" panose="020F0502020204030204" pitchFamily="34" charset="-122"/>
                <a:cs typeface="Calibri" panose="020F0502020204030204" pitchFamily="34" charset="-120"/>
              </a:rPr>
              <a:t>Caveat: only 202 total rows — these numbers carry real statistical noise, which is why the ML signal is blended with the blacklist and rule checks rather than trusted alone.</a:t>
            </a:r>
            <a:endParaRPr lang="en-US" sz="1050" dirty="0"/>
          </a:p>
        </p:txBody>
      </p:sp>
      <p:sp>
        <p:nvSpPr>
          <p:cNvPr id="22" name="Text 20"/>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06 / 10</a:t>
            </a:r>
            <a:endParaRPr lang="en-US" sz="1000" dirty="0"/>
          </a:p>
        </p:txBody>
      </p:sp>
      <p:sp>
        <p:nvSpPr>
          <p:cNvPr id="23" name="Text 21"/>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WHAT'S BUILT</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All 11 spec requirements, plus four add add-ons</a:t>
            </a:r>
            <a:endParaRPr lang="en-US" sz="2800" dirty="0"/>
          </a:p>
        </p:txBody>
      </p:sp>
      <p:sp>
        <p:nvSpPr>
          <p:cNvPr id="6" name="Shape 4"/>
          <p:cNvSpPr/>
          <p:nvPr/>
        </p:nvSpPr>
        <p:spPr>
          <a:xfrm>
            <a:off x="457200" y="1819656"/>
            <a:ext cx="109728" cy="109728"/>
          </a:xfrm>
          <a:prstGeom prst="ellipse">
            <a:avLst/>
          </a:prstGeom>
          <a:solidFill>
            <a:srgbClr val="057642"/>
          </a:solidFill>
        </p:spPr>
        <p:txBody>
          <a:bodyPr/>
          <a:lstStyle/>
          <a:p>
            <a:endParaRPr lang="en-US"/>
          </a:p>
        </p:txBody>
      </p:sp>
      <p:sp>
        <p:nvSpPr>
          <p:cNvPr id="7" name="Text 5"/>
          <p:cNvSpPr/>
          <p:nvPr/>
        </p:nvSpPr>
        <p:spPr>
          <a:xfrm>
            <a:off x="713232" y="1737360"/>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Scrape + score every posting (ML + blacklist + rules)</a:t>
            </a:r>
            <a:endParaRPr lang="en-US" sz="1250" dirty="0"/>
          </a:p>
        </p:txBody>
      </p:sp>
      <p:sp>
        <p:nvSpPr>
          <p:cNvPr id="8" name="Shape 6"/>
          <p:cNvSpPr/>
          <p:nvPr/>
        </p:nvSpPr>
        <p:spPr>
          <a:xfrm>
            <a:off x="457200" y="2386584"/>
            <a:ext cx="109728" cy="109728"/>
          </a:xfrm>
          <a:prstGeom prst="ellipse">
            <a:avLst/>
          </a:prstGeom>
          <a:solidFill>
            <a:srgbClr val="057642"/>
          </a:solidFill>
        </p:spPr>
        <p:txBody>
          <a:bodyPr/>
          <a:lstStyle/>
          <a:p>
            <a:endParaRPr lang="en-US"/>
          </a:p>
        </p:txBody>
      </p:sp>
      <p:sp>
        <p:nvSpPr>
          <p:cNvPr id="9" name="Text 7"/>
          <p:cNvSpPr/>
          <p:nvPr/>
        </p:nvSpPr>
        <p:spPr>
          <a:xfrm>
            <a:off x="713232" y="2304288"/>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Custom preference matching ( multiple saved profiles)</a:t>
            </a:r>
            <a:endParaRPr lang="en-US" sz="1250" dirty="0"/>
          </a:p>
        </p:txBody>
      </p:sp>
      <p:sp>
        <p:nvSpPr>
          <p:cNvPr id="10" name="Shape 8"/>
          <p:cNvSpPr/>
          <p:nvPr/>
        </p:nvSpPr>
        <p:spPr>
          <a:xfrm>
            <a:off x="457200" y="2953512"/>
            <a:ext cx="109728" cy="109728"/>
          </a:xfrm>
          <a:prstGeom prst="ellipse">
            <a:avLst/>
          </a:prstGeom>
          <a:solidFill>
            <a:srgbClr val="057642"/>
          </a:solidFill>
        </p:spPr>
        <p:txBody>
          <a:bodyPr/>
          <a:lstStyle/>
          <a:p>
            <a:endParaRPr lang="en-US"/>
          </a:p>
        </p:txBody>
      </p:sp>
      <p:sp>
        <p:nvSpPr>
          <p:cNvPr id="11" name="Text 9"/>
          <p:cNvSpPr/>
          <p:nvPr/>
        </p:nvSpPr>
        <p:spPr>
          <a:xfrm>
            <a:off x="713232" y="2871216"/>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200/month quota, enforced server-side</a:t>
            </a:r>
            <a:endParaRPr lang="en-US" sz="1250" dirty="0"/>
          </a:p>
        </p:txBody>
      </p:sp>
      <p:sp>
        <p:nvSpPr>
          <p:cNvPr id="12" name="Shape 10"/>
          <p:cNvSpPr/>
          <p:nvPr/>
        </p:nvSpPr>
        <p:spPr>
          <a:xfrm>
            <a:off x="457200" y="3520440"/>
            <a:ext cx="109728" cy="109728"/>
          </a:xfrm>
          <a:prstGeom prst="ellipse">
            <a:avLst/>
          </a:prstGeom>
          <a:solidFill>
            <a:srgbClr val="057642"/>
          </a:solidFill>
        </p:spPr>
        <p:txBody>
          <a:bodyPr/>
          <a:lstStyle/>
          <a:p>
            <a:endParaRPr lang="en-US"/>
          </a:p>
        </p:txBody>
      </p:sp>
      <p:sp>
        <p:nvSpPr>
          <p:cNvPr id="13" name="Text 11"/>
          <p:cNvSpPr/>
          <p:nvPr/>
        </p:nvSpPr>
        <p:spPr>
          <a:xfrm>
            <a:off x="713232" y="3438144"/>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On-page badge for every screened posting</a:t>
            </a:r>
            <a:endParaRPr lang="en-US" sz="1250" dirty="0"/>
          </a:p>
        </p:txBody>
      </p:sp>
      <p:sp>
        <p:nvSpPr>
          <p:cNvPr id="14" name="Shape 12"/>
          <p:cNvSpPr/>
          <p:nvPr/>
        </p:nvSpPr>
        <p:spPr>
          <a:xfrm>
            <a:off x="457200" y="4087368"/>
            <a:ext cx="109728" cy="109728"/>
          </a:xfrm>
          <a:prstGeom prst="ellipse">
            <a:avLst/>
          </a:prstGeom>
          <a:solidFill>
            <a:srgbClr val="057642"/>
          </a:solidFill>
        </p:spPr>
        <p:txBody>
          <a:bodyPr/>
          <a:lstStyle/>
          <a:p>
            <a:endParaRPr lang="en-US"/>
          </a:p>
        </p:txBody>
      </p:sp>
      <p:sp>
        <p:nvSpPr>
          <p:cNvPr id="15" name="Text 13"/>
          <p:cNvSpPr/>
          <p:nvPr/>
        </p:nvSpPr>
        <p:spPr>
          <a:xfrm>
            <a:off x="713232" y="4005072"/>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Real-time flags + Pro-only deadline reminders</a:t>
            </a:r>
            <a:endParaRPr lang="en-US" sz="1250" dirty="0"/>
          </a:p>
        </p:txBody>
      </p:sp>
      <p:sp>
        <p:nvSpPr>
          <p:cNvPr id="16" name="Shape 14"/>
          <p:cNvSpPr/>
          <p:nvPr/>
        </p:nvSpPr>
        <p:spPr>
          <a:xfrm>
            <a:off x="6263640" y="1819656"/>
            <a:ext cx="109728" cy="109728"/>
          </a:xfrm>
          <a:prstGeom prst="ellipse">
            <a:avLst/>
          </a:prstGeom>
          <a:solidFill>
            <a:srgbClr val="057642"/>
          </a:solidFill>
        </p:spPr>
        <p:txBody>
          <a:bodyPr/>
          <a:lstStyle/>
          <a:p>
            <a:endParaRPr lang="en-US"/>
          </a:p>
        </p:txBody>
      </p:sp>
      <p:sp>
        <p:nvSpPr>
          <p:cNvPr id="17" name="Text 15"/>
          <p:cNvSpPr/>
          <p:nvPr/>
        </p:nvSpPr>
        <p:spPr>
          <a:xfrm>
            <a:off x="6519672" y="1737360"/>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Centralized, human-reviewed company blacklist</a:t>
            </a:r>
            <a:endParaRPr lang="en-US" sz="1250" dirty="0"/>
          </a:p>
        </p:txBody>
      </p:sp>
      <p:sp>
        <p:nvSpPr>
          <p:cNvPr id="18" name="Shape 16"/>
          <p:cNvSpPr/>
          <p:nvPr/>
        </p:nvSpPr>
        <p:spPr>
          <a:xfrm>
            <a:off x="6263640" y="2386584"/>
            <a:ext cx="109728" cy="109728"/>
          </a:xfrm>
          <a:prstGeom prst="ellipse">
            <a:avLst/>
          </a:prstGeom>
          <a:solidFill>
            <a:srgbClr val="057642"/>
          </a:solidFill>
        </p:spPr>
        <p:txBody>
          <a:bodyPr/>
          <a:lstStyle/>
          <a:p>
            <a:endParaRPr lang="en-US"/>
          </a:p>
        </p:txBody>
      </p:sp>
      <p:sp>
        <p:nvSpPr>
          <p:cNvPr id="19" name="Text 17"/>
          <p:cNvSpPr/>
          <p:nvPr/>
        </p:nvSpPr>
        <p:spPr>
          <a:xfrm>
            <a:off x="6519672" y="2304288"/>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Tiered dashboard — aggregate stats vs. full history</a:t>
            </a:r>
            <a:endParaRPr lang="en-US" sz="1250" dirty="0"/>
          </a:p>
        </p:txBody>
      </p:sp>
      <p:sp>
        <p:nvSpPr>
          <p:cNvPr id="20" name="Shape 18"/>
          <p:cNvSpPr/>
          <p:nvPr/>
        </p:nvSpPr>
        <p:spPr>
          <a:xfrm>
            <a:off x="6263640" y="2953512"/>
            <a:ext cx="109728" cy="109728"/>
          </a:xfrm>
          <a:prstGeom prst="ellipse">
            <a:avLst/>
          </a:prstGeom>
          <a:solidFill>
            <a:srgbClr val="057642"/>
          </a:solidFill>
        </p:spPr>
        <p:txBody>
          <a:bodyPr/>
          <a:lstStyle/>
          <a:p>
            <a:endParaRPr lang="en-US"/>
          </a:p>
        </p:txBody>
      </p:sp>
      <p:sp>
        <p:nvSpPr>
          <p:cNvPr id="21" name="Text 19"/>
          <p:cNvSpPr/>
          <p:nvPr/>
        </p:nvSpPr>
        <p:spPr>
          <a:xfrm>
            <a:off x="6519672" y="2871216"/>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Behavior logging (apply / save)</a:t>
            </a:r>
            <a:endParaRPr lang="en-US" sz="1250" dirty="0"/>
          </a:p>
        </p:txBody>
      </p:sp>
      <p:sp>
        <p:nvSpPr>
          <p:cNvPr id="22" name="Shape 20"/>
          <p:cNvSpPr/>
          <p:nvPr/>
        </p:nvSpPr>
        <p:spPr>
          <a:xfrm>
            <a:off x="6263640" y="3520440"/>
            <a:ext cx="109728" cy="109728"/>
          </a:xfrm>
          <a:prstGeom prst="ellipse">
            <a:avLst/>
          </a:prstGeom>
          <a:solidFill>
            <a:srgbClr val="057642"/>
          </a:solidFill>
        </p:spPr>
        <p:txBody>
          <a:bodyPr/>
          <a:lstStyle/>
          <a:p>
            <a:endParaRPr lang="en-US"/>
          </a:p>
        </p:txBody>
      </p:sp>
      <p:sp>
        <p:nvSpPr>
          <p:cNvPr id="23" name="Text 21"/>
          <p:cNvSpPr/>
          <p:nvPr/>
        </p:nvSpPr>
        <p:spPr>
          <a:xfrm>
            <a:off x="6519672" y="3438144"/>
            <a:ext cx="5120640" cy="502920"/>
          </a:xfrm>
          <a:prstGeom prst="rect">
            <a:avLst/>
          </a:prstGeom>
          <a:noFill/>
        </p:spPr>
        <p:txBody>
          <a:bodyPr wrap="square" lIns="0" tIns="0" rIns="0" bIns="0" rtlCol="0" anchor="ctr"/>
          <a:lstStyle/>
          <a:p>
            <a:pPr marL="0" indent="0">
              <a:lnSpc>
                <a:spcPct val="110000"/>
              </a:lnSpc>
              <a:buNone/>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Public blacklist page (scoped to logged-in users)</a:t>
            </a:r>
            <a:endParaRPr lang="en-US" sz="1250" dirty="0"/>
          </a:p>
        </p:txBody>
      </p:sp>
      <p:sp>
        <p:nvSpPr>
          <p:cNvPr id="24" name="Shape 22"/>
          <p:cNvSpPr/>
          <p:nvPr/>
        </p:nvSpPr>
        <p:spPr>
          <a:xfrm>
            <a:off x="6263640" y="4087368"/>
            <a:ext cx="109728" cy="109728"/>
          </a:xfrm>
          <a:prstGeom prst="ellipse">
            <a:avLst/>
          </a:prstGeom>
          <a:solidFill>
            <a:srgbClr val="057642"/>
          </a:solidFill>
        </p:spPr>
        <p:txBody>
          <a:bodyPr/>
          <a:lstStyle/>
          <a:p>
            <a:endParaRPr lang="en-US"/>
          </a:p>
        </p:txBody>
      </p:sp>
      <p:sp>
        <p:nvSpPr>
          <p:cNvPr id="25" name="Text 23"/>
          <p:cNvSpPr/>
          <p:nvPr/>
        </p:nvSpPr>
        <p:spPr>
          <a:xfrm>
            <a:off x="6519672" y="4005072"/>
            <a:ext cx="5120640" cy="502920"/>
          </a:xfrm>
          <a:prstGeom prst="rect">
            <a:avLst/>
          </a:prstGeom>
          <a:noFill/>
        </p:spPr>
        <p:txBody>
          <a:bodyPr wrap="square" lIns="0" tIns="0" rIns="0" bIns="0" rtlCol="0" anchor="ctr"/>
          <a:lstStyle/>
          <a:p>
            <a:pPr>
              <a:lnSpc>
                <a:spcPct val="110000"/>
              </a:lnSpc>
            </a:pPr>
            <a:r>
              <a:rPr lang="en-US" sz="1250" dirty="0">
                <a:solidFill>
                  <a:srgbClr val="191919"/>
                </a:solidFill>
                <a:latin typeface="Calibri" panose="020F0502020204030204" pitchFamily="34" charset="0"/>
                <a:ea typeface="Calibri" panose="020F0502020204030204" pitchFamily="34" charset="-122"/>
                <a:cs typeface="Calibri" panose="020F0502020204030204" pitchFamily="34" charset="-120"/>
              </a:rPr>
              <a:t>Add-ons: Contact Us form · editable saved-job deadlines  · about us page  ·  basic tutorial on what the extension does  </a:t>
            </a:r>
            <a:endParaRPr lang="en-US" sz="1250" dirty="0"/>
          </a:p>
        </p:txBody>
      </p:sp>
      <p:sp>
        <p:nvSpPr>
          <p:cNvPr id="26" name="Shape 24"/>
          <p:cNvSpPr/>
          <p:nvPr/>
        </p:nvSpPr>
        <p:spPr>
          <a:xfrm>
            <a:off x="457200" y="4892040"/>
            <a:ext cx="11247120" cy="1417320"/>
          </a:xfrm>
          <a:prstGeom prst="roundRect">
            <a:avLst>
              <a:gd name="adj" fmla="val 5161"/>
            </a:avLst>
          </a:prstGeom>
          <a:solidFill>
            <a:srgbClr val="F3F2EF"/>
          </a:solidFill>
          <a:ln w="9525">
            <a:solidFill>
              <a:srgbClr val="E0E0E0"/>
            </a:solidFill>
            <a:prstDash val="solid"/>
          </a:ln>
        </p:spPr>
        <p:txBody>
          <a:bodyPr/>
          <a:lstStyle/>
          <a:p>
            <a:endParaRPr lang="en-US"/>
          </a:p>
        </p:txBody>
      </p:sp>
      <p:sp>
        <p:nvSpPr>
          <p:cNvPr id="27" name="Text 25"/>
          <p:cNvSpPr/>
          <p:nvPr/>
        </p:nvSpPr>
        <p:spPr>
          <a:xfrm>
            <a:off x="777240" y="5074920"/>
            <a:ext cx="2743200" cy="365760"/>
          </a:xfrm>
          <a:prstGeom prst="rect">
            <a:avLst/>
          </a:prstGeom>
          <a:noFill/>
        </p:spPr>
        <p:txBody>
          <a:bodyPr wrap="square" lIns="0" tIns="0" rIns="0" bIns="0" rtlCol="0" anchor="ctr"/>
          <a:lstStyle/>
          <a:p>
            <a:pPr marL="0" indent="0">
              <a:buNone/>
            </a:pPr>
            <a:r>
              <a:rPr lang="en-US" sz="1600" b="1" dirty="0">
                <a:solidFill>
                  <a:srgbClr val="666666"/>
                </a:solidFill>
                <a:latin typeface="Calibri" panose="020F0502020204030204" pitchFamily="34" charset="0"/>
                <a:ea typeface="Calibri" panose="020F0502020204030204" pitchFamily="34" charset="-122"/>
                <a:cs typeface="Calibri" panose="020F0502020204030204" pitchFamily="34" charset="-120"/>
              </a:rPr>
              <a:t>FREE</a:t>
            </a:r>
            <a:endParaRPr lang="en-US" sz="1600" dirty="0"/>
          </a:p>
        </p:txBody>
      </p:sp>
      <p:sp>
        <p:nvSpPr>
          <p:cNvPr id="28" name="Text 26"/>
          <p:cNvSpPr/>
          <p:nvPr/>
        </p:nvSpPr>
        <p:spPr>
          <a:xfrm>
            <a:off x="777240" y="5468112"/>
            <a:ext cx="4983480" cy="685800"/>
          </a:xfrm>
          <a:prstGeom prst="rect">
            <a:avLst/>
          </a:prstGeom>
          <a:noFill/>
        </p:spPr>
        <p:txBody>
          <a:bodyPr wrap="square" lIns="0" tIns="0" rIns="0" bIns="0" rtlCol="0" anchor="ctr"/>
          <a:lstStyle/>
          <a:p>
            <a:pPr marL="0" indent="0">
              <a:lnSpc>
                <a:spcPct val="115000"/>
              </a:lnSpc>
              <a:buNone/>
            </a:pPr>
            <a:r>
              <a:rPr lang="en-US" sz="1200" dirty="0">
                <a:solidFill>
                  <a:srgbClr val="191919"/>
                </a:solidFill>
                <a:latin typeface="Calibri" panose="020F0502020204030204" pitchFamily="34" charset="0"/>
                <a:ea typeface="Calibri" panose="020F0502020204030204" pitchFamily="34" charset="-122"/>
                <a:cs typeface="Calibri" panose="020F0502020204030204" pitchFamily="34" charset="-120"/>
              </a:rPr>
              <a:t>200 screenings/mo · 1 preference · aggregate dashboard</a:t>
            </a:r>
            <a:endParaRPr lang="en-US" sz="1200" dirty="0"/>
          </a:p>
        </p:txBody>
      </p:sp>
      <p:sp>
        <p:nvSpPr>
          <p:cNvPr id="29" name="Shape 27"/>
          <p:cNvSpPr/>
          <p:nvPr/>
        </p:nvSpPr>
        <p:spPr>
          <a:xfrm>
            <a:off x="6080760" y="5029200"/>
            <a:ext cx="0" cy="1143000"/>
          </a:xfrm>
          <a:prstGeom prst="line">
            <a:avLst/>
          </a:prstGeom>
          <a:noFill/>
          <a:ln w="12700">
            <a:solidFill>
              <a:srgbClr val="E0E0E0"/>
            </a:solidFill>
            <a:prstDash val="solid"/>
          </a:ln>
        </p:spPr>
        <p:txBody>
          <a:bodyPr/>
          <a:lstStyle/>
          <a:p>
            <a:endParaRPr lang="en-US"/>
          </a:p>
        </p:txBody>
      </p:sp>
      <p:sp>
        <p:nvSpPr>
          <p:cNvPr id="30" name="Text 28"/>
          <p:cNvSpPr/>
          <p:nvPr/>
        </p:nvSpPr>
        <p:spPr>
          <a:xfrm>
            <a:off x="6400800" y="5074920"/>
            <a:ext cx="2743200" cy="365760"/>
          </a:xfrm>
          <a:prstGeom prst="rect">
            <a:avLst/>
          </a:prstGeom>
          <a:noFill/>
        </p:spPr>
        <p:txBody>
          <a:bodyPr wrap="square" lIns="0" tIns="0" rIns="0" bIns="0" rtlCol="0" anchor="ctr"/>
          <a:lstStyle/>
          <a:p>
            <a:pPr marL="0" indent="0">
              <a:buNone/>
            </a:pPr>
            <a:r>
              <a:rPr lang="en-US" sz="1600" b="1" dirty="0">
                <a:solidFill>
                  <a:srgbClr val="0A66C2"/>
                </a:solidFill>
                <a:latin typeface="Calibri" panose="020F0502020204030204" pitchFamily="34" charset="0"/>
                <a:ea typeface="Calibri" panose="020F0502020204030204" pitchFamily="34" charset="-122"/>
                <a:cs typeface="Calibri" panose="020F0502020204030204" pitchFamily="34" charset="-120"/>
              </a:rPr>
              <a:t>PRO</a:t>
            </a:r>
            <a:endParaRPr lang="en-US" sz="1600" dirty="0"/>
          </a:p>
        </p:txBody>
      </p:sp>
      <p:sp>
        <p:nvSpPr>
          <p:cNvPr id="31" name="Text 29"/>
          <p:cNvSpPr/>
          <p:nvPr/>
        </p:nvSpPr>
        <p:spPr>
          <a:xfrm>
            <a:off x="6400800" y="5468112"/>
            <a:ext cx="4983480" cy="685800"/>
          </a:xfrm>
          <a:prstGeom prst="rect">
            <a:avLst/>
          </a:prstGeom>
          <a:noFill/>
        </p:spPr>
        <p:txBody>
          <a:bodyPr wrap="square" lIns="0" tIns="0" rIns="0" bIns="0" rtlCol="0" anchor="ctr"/>
          <a:lstStyle/>
          <a:p>
            <a:pPr marL="0" indent="0">
              <a:lnSpc>
                <a:spcPct val="115000"/>
              </a:lnSpc>
              <a:buNone/>
            </a:pPr>
            <a:r>
              <a:rPr lang="en-US" sz="1200" dirty="0">
                <a:solidFill>
                  <a:srgbClr val="191919"/>
                </a:solidFill>
                <a:latin typeface="Calibri" panose="020F0502020204030204" pitchFamily="34" charset="0"/>
                <a:ea typeface="Calibri" panose="020F0502020204030204" pitchFamily="34" charset="-122"/>
                <a:cs typeface="Calibri" panose="020F0502020204030204" pitchFamily="34" charset="-120"/>
              </a:rPr>
              <a:t>Unlimited screenings · 10 preferences · full history · deadline reminders</a:t>
            </a:r>
            <a:endParaRPr lang="en-US" sz="1200" dirty="0"/>
          </a:p>
        </p:txBody>
      </p:sp>
      <p:sp>
        <p:nvSpPr>
          <p:cNvPr id="32" name="Text 30"/>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07 / 10</a:t>
            </a:r>
            <a:endParaRPr lang="en-US" sz="1000" dirty="0"/>
          </a:p>
        </p:txBody>
      </p:sp>
      <p:sp>
        <p:nvSpPr>
          <p:cNvPr id="33" name="Text 31"/>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DESIGN EVOLUTION</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From a retro pixel-art badge to a LinkedIn-native look</a:t>
            </a:r>
            <a:endParaRPr lang="en-US" sz="2800" dirty="0"/>
          </a:p>
        </p:txBody>
      </p:sp>
      <p:sp>
        <p:nvSpPr>
          <p:cNvPr id="6" name="Shape 4"/>
          <p:cNvSpPr/>
          <p:nvPr/>
        </p:nvSpPr>
        <p:spPr>
          <a:xfrm>
            <a:off x="457200" y="1783080"/>
            <a:ext cx="5394960" cy="3977640"/>
          </a:xfrm>
          <a:prstGeom prst="roundRect">
            <a:avLst>
              <a:gd name="adj" fmla="val 1379"/>
            </a:avLst>
          </a:prstGeom>
          <a:solidFill>
            <a:srgbClr val="0F0F1E"/>
          </a:solidFill>
        </p:spPr>
        <p:txBody>
          <a:bodyPr/>
          <a:lstStyle/>
          <a:p>
            <a:endParaRPr lang="en-US"/>
          </a:p>
        </p:txBody>
      </p:sp>
      <p:sp>
        <p:nvSpPr>
          <p:cNvPr id="7" name="Shape 5"/>
          <p:cNvSpPr/>
          <p:nvPr/>
        </p:nvSpPr>
        <p:spPr>
          <a:xfrm>
            <a:off x="731520" y="2057400"/>
            <a:ext cx="1188720" cy="292608"/>
          </a:xfrm>
          <a:prstGeom prst="roundRect">
            <a:avLst>
              <a:gd name="adj" fmla="val 50000"/>
            </a:avLst>
          </a:prstGeom>
          <a:solidFill>
            <a:srgbClr val="F87171"/>
          </a:solidFill>
        </p:spPr>
        <p:txBody>
          <a:bodyPr/>
          <a:lstStyle/>
          <a:p>
            <a:endParaRPr lang="en-US"/>
          </a:p>
        </p:txBody>
      </p:sp>
      <p:sp>
        <p:nvSpPr>
          <p:cNvPr id="8" name="Text 6"/>
          <p:cNvSpPr/>
          <p:nvPr/>
        </p:nvSpPr>
        <p:spPr>
          <a:xfrm>
            <a:off x="731520" y="2057400"/>
            <a:ext cx="1188720" cy="292608"/>
          </a:xfrm>
          <a:prstGeom prst="rect">
            <a:avLst/>
          </a:prstGeom>
          <a:noFill/>
        </p:spPr>
        <p:txBody>
          <a:bodyPr wrap="square" lIns="0" tIns="0" rIns="0" bIns="0" rtlCol="0" anchor="ctr"/>
          <a:lstStyle/>
          <a:p>
            <a:pPr marL="0" indent="0" algn="ctr">
              <a:buNone/>
            </a:pPr>
            <a:r>
              <a:rPr lang="en-US" sz="1050" b="1" dirty="0">
                <a:solidFill>
                  <a:srgbClr val="0F0F1E"/>
                </a:solidFill>
                <a:latin typeface="Calibri" panose="020F0502020204030204" pitchFamily="34" charset="0"/>
                <a:ea typeface="Calibri" panose="020F0502020204030204" pitchFamily="34" charset="-122"/>
                <a:cs typeface="Calibri" panose="020F0502020204030204" pitchFamily="34" charset="-120"/>
              </a:rPr>
              <a:t>BEFORE</a:t>
            </a:r>
            <a:endParaRPr lang="en-US" sz="1050" dirty="0"/>
          </a:p>
        </p:txBody>
      </p:sp>
      <p:sp>
        <p:nvSpPr>
          <p:cNvPr id="9" name="Shape 7"/>
          <p:cNvSpPr/>
          <p:nvPr/>
        </p:nvSpPr>
        <p:spPr>
          <a:xfrm>
            <a:off x="749808" y="2560320"/>
            <a:ext cx="80467" cy="80467"/>
          </a:xfrm>
          <a:prstGeom prst="rect">
            <a:avLst/>
          </a:prstGeom>
          <a:solidFill>
            <a:srgbClr val="4ADE80"/>
          </a:solidFill>
        </p:spPr>
        <p:txBody>
          <a:bodyPr/>
          <a:lstStyle/>
          <a:p>
            <a:endParaRPr lang="en-US"/>
          </a:p>
        </p:txBody>
      </p:sp>
      <p:sp>
        <p:nvSpPr>
          <p:cNvPr id="10" name="Shape 8"/>
          <p:cNvSpPr/>
          <p:nvPr/>
        </p:nvSpPr>
        <p:spPr>
          <a:xfrm>
            <a:off x="1353312" y="2560320"/>
            <a:ext cx="80467" cy="80467"/>
          </a:xfrm>
          <a:prstGeom prst="rect">
            <a:avLst/>
          </a:prstGeom>
          <a:solidFill>
            <a:srgbClr val="4ADE80"/>
          </a:solidFill>
        </p:spPr>
        <p:txBody>
          <a:bodyPr/>
          <a:lstStyle/>
          <a:p>
            <a:endParaRPr lang="en-US"/>
          </a:p>
        </p:txBody>
      </p:sp>
      <p:sp>
        <p:nvSpPr>
          <p:cNvPr id="11" name="Shape 9"/>
          <p:cNvSpPr/>
          <p:nvPr/>
        </p:nvSpPr>
        <p:spPr>
          <a:xfrm>
            <a:off x="850392" y="2660904"/>
            <a:ext cx="80467" cy="80467"/>
          </a:xfrm>
          <a:prstGeom prst="rect">
            <a:avLst/>
          </a:prstGeom>
          <a:solidFill>
            <a:srgbClr val="4ADE80"/>
          </a:solidFill>
        </p:spPr>
        <p:txBody>
          <a:bodyPr/>
          <a:lstStyle/>
          <a:p>
            <a:endParaRPr lang="en-US"/>
          </a:p>
        </p:txBody>
      </p:sp>
      <p:sp>
        <p:nvSpPr>
          <p:cNvPr id="12" name="Shape 10"/>
          <p:cNvSpPr/>
          <p:nvPr/>
        </p:nvSpPr>
        <p:spPr>
          <a:xfrm>
            <a:off x="1252728" y="2660904"/>
            <a:ext cx="80467" cy="80467"/>
          </a:xfrm>
          <a:prstGeom prst="rect">
            <a:avLst/>
          </a:prstGeom>
          <a:solidFill>
            <a:srgbClr val="4ADE80"/>
          </a:solidFill>
        </p:spPr>
        <p:txBody>
          <a:bodyPr/>
          <a:lstStyle/>
          <a:p>
            <a:endParaRPr lang="en-US"/>
          </a:p>
        </p:txBody>
      </p:sp>
      <p:sp>
        <p:nvSpPr>
          <p:cNvPr id="13" name="Shape 11"/>
          <p:cNvSpPr/>
          <p:nvPr/>
        </p:nvSpPr>
        <p:spPr>
          <a:xfrm>
            <a:off x="950976" y="2761488"/>
            <a:ext cx="80467" cy="80467"/>
          </a:xfrm>
          <a:prstGeom prst="rect">
            <a:avLst/>
          </a:prstGeom>
          <a:solidFill>
            <a:srgbClr val="4ADE80"/>
          </a:solidFill>
        </p:spPr>
        <p:txBody>
          <a:bodyPr/>
          <a:lstStyle/>
          <a:p>
            <a:endParaRPr lang="en-US"/>
          </a:p>
        </p:txBody>
      </p:sp>
      <p:sp>
        <p:nvSpPr>
          <p:cNvPr id="14" name="Shape 12"/>
          <p:cNvSpPr/>
          <p:nvPr/>
        </p:nvSpPr>
        <p:spPr>
          <a:xfrm>
            <a:off x="1152144" y="2761488"/>
            <a:ext cx="80467" cy="80467"/>
          </a:xfrm>
          <a:prstGeom prst="rect">
            <a:avLst/>
          </a:prstGeom>
          <a:solidFill>
            <a:srgbClr val="4ADE80"/>
          </a:solidFill>
        </p:spPr>
        <p:txBody>
          <a:bodyPr/>
          <a:lstStyle/>
          <a:p>
            <a:endParaRPr lang="en-US"/>
          </a:p>
        </p:txBody>
      </p:sp>
      <p:sp>
        <p:nvSpPr>
          <p:cNvPr id="15" name="Shape 13"/>
          <p:cNvSpPr/>
          <p:nvPr/>
        </p:nvSpPr>
        <p:spPr>
          <a:xfrm>
            <a:off x="1051560" y="2862072"/>
            <a:ext cx="80467" cy="80467"/>
          </a:xfrm>
          <a:prstGeom prst="rect">
            <a:avLst/>
          </a:prstGeom>
          <a:solidFill>
            <a:srgbClr val="4ADE80"/>
          </a:solidFill>
        </p:spPr>
        <p:txBody>
          <a:bodyPr/>
          <a:lstStyle/>
          <a:p>
            <a:endParaRPr lang="en-US"/>
          </a:p>
        </p:txBody>
      </p:sp>
      <p:sp>
        <p:nvSpPr>
          <p:cNvPr id="16" name="Shape 14"/>
          <p:cNvSpPr/>
          <p:nvPr/>
        </p:nvSpPr>
        <p:spPr>
          <a:xfrm>
            <a:off x="950976" y="2962656"/>
            <a:ext cx="80467" cy="80467"/>
          </a:xfrm>
          <a:prstGeom prst="rect">
            <a:avLst/>
          </a:prstGeom>
          <a:solidFill>
            <a:srgbClr val="4ADE80"/>
          </a:solidFill>
        </p:spPr>
        <p:txBody>
          <a:bodyPr/>
          <a:lstStyle/>
          <a:p>
            <a:endParaRPr lang="en-US"/>
          </a:p>
        </p:txBody>
      </p:sp>
      <p:sp>
        <p:nvSpPr>
          <p:cNvPr id="17" name="Shape 15"/>
          <p:cNvSpPr/>
          <p:nvPr/>
        </p:nvSpPr>
        <p:spPr>
          <a:xfrm>
            <a:off x="1152144" y="2962656"/>
            <a:ext cx="80467" cy="80467"/>
          </a:xfrm>
          <a:prstGeom prst="rect">
            <a:avLst/>
          </a:prstGeom>
          <a:solidFill>
            <a:srgbClr val="4ADE80"/>
          </a:solidFill>
        </p:spPr>
        <p:txBody>
          <a:bodyPr/>
          <a:lstStyle/>
          <a:p>
            <a:endParaRPr lang="en-US"/>
          </a:p>
        </p:txBody>
      </p:sp>
      <p:sp>
        <p:nvSpPr>
          <p:cNvPr id="18" name="Shape 16"/>
          <p:cNvSpPr/>
          <p:nvPr/>
        </p:nvSpPr>
        <p:spPr>
          <a:xfrm>
            <a:off x="850392" y="3063240"/>
            <a:ext cx="80467" cy="80467"/>
          </a:xfrm>
          <a:prstGeom prst="rect">
            <a:avLst/>
          </a:prstGeom>
          <a:solidFill>
            <a:srgbClr val="4ADE80"/>
          </a:solidFill>
        </p:spPr>
        <p:txBody>
          <a:bodyPr/>
          <a:lstStyle/>
          <a:p>
            <a:endParaRPr lang="en-US"/>
          </a:p>
        </p:txBody>
      </p:sp>
      <p:sp>
        <p:nvSpPr>
          <p:cNvPr id="19" name="Shape 17"/>
          <p:cNvSpPr/>
          <p:nvPr/>
        </p:nvSpPr>
        <p:spPr>
          <a:xfrm>
            <a:off x="1252728" y="3063240"/>
            <a:ext cx="80467" cy="80467"/>
          </a:xfrm>
          <a:prstGeom prst="rect">
            <a:avLst/>
          </a:prstGeom>
          <a:solidFill>
            <a:srgbClr val="4ADE80"/>
          </a:solidFill>
        </p:spPr>
        <p:txBody>
          <a:bodyPr/>
          <a:lstStyle/>
          <a:p>
            <a:endParaRPr lang="en-US"/>
          </a:p>
        </p:txBody>
      </p:sp>
      <p:sp>
        <p:nvSpPr>
          <p:cNvPr id="20" name="Shape 18"/>
          <p:cNvSpPr/>
          <p:nvPr/>
        </p:nvSpPr>
        <p:spPr>
          <a:xfrm>
            <a:off x="749808" y="3163824"/>
            <a:ext cx="80467" cy="80467"/>
          </a:xfrm>
          <a:prstGeom prst="rect">
            <a:avLst/>
          </a:prstGeom>
          <a:solidFill>
            <a:srgbClr val="4ADE80"/>
          </a:solidFill>
        </p:spPr>
        <p:txBody>
          <a:bodyPr/>
          <a:lstStyle/>
          <a:p>
            <a:endParaRPr lang="en-US"/>
          </a:p>
        </p:txBody>
      </p:sp>
      <p:sp>
        <p:nvSpPr>
          <p:cNvPr id="21" name="Shape 19"/>
          <p:cNvSpPr/>
          <p:nvPr/>
        </p:nvSpPr>
        <p:spPr>
          <a:xfrm>
            <a:off x="1353312" y="3163824"/>
            <a:ext cx="80467" cy="80467"/>
          </a:xfrm>
          <a:prstGeom prst="rect">
            <a:avLst/>
          </a:prstGeom>
          <a:solidFill>
            <a:srgbClr val="4ADE80"/>
          </a:solidFill>
        </p:spPr>
        <p:txBody>
          <a:bodyPr/>
          <a:lstStyle/>
          <a:p>
            <a:endParaRPr lang="en-US"/>
          </a:p>
        </p:txBody>
      </p:sp>
      <p:sp>
        <p:nvSpPr>
          <p:cNvPr id="22" name="Text 20"/>
          <p:cNvSpPr/>
          <p:nvPr/>
        </p:nvSpPr>
        <p:spPr>
          <a:xfrm>
            <a:off x="1691640" y="2697480"/>
            <a:ext cx="3200400" cy="320040"/>
          </a:xfrm>
          <a:prstGeom prst="rect">
            <a:avLst/>
          </a:prstGeom>
          <a:noFill/>
        </p:spPr>
        <p:txBody>
          <a:bodyPr wrap="square" lIns="0" tIns="0" rIns="0" bIns="0" rtlCol="0" anchor="ctr"/>
          <a:lstStyle/>
          <a:p>
            <a:pPr marL="0" indent="0">
              <a:buNone/>
            </a:pPr>
            <a:r>
              <a:rPr lang="en-US" sz="1200" b="1" kern="0" spc="1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NOKRIEXTENDDD</a:t>
            </a:r>
            <a:endParaRPr lang="en-US" sz="1200" dirty="0"/>
          </a:p>
        </p:txBody>
      </p:sp>
      <p:sp>
        <p:nvSpPr>
          <p:cNvPr id="23" name="Text 21"/>
          <p:cNvSpPr/>
          <p:nvPr/>
        </p:nvSpPr>
        <p:spPr>
          <a:xfrm>
            <a:off x="749808" y="3337560"/>
            <a:ext cx="1828800" cy="548640"/>
          </a:xfrm>
          <a:prstGeom prst="rect">
            <a:avLst/>
          </a:prstGeom>
          <a:noFill/>
        </p:spPr>
        <p:txBody>
          <a:bodyPr wrap="square" lIns="0" tIns="0" rIns="0" bIns="0" rtlCol="0" anchor="ctr"/>
          <a:lstStyle/>
          <a:p>
            <a:pPr marL="0" indent="0">
              <a:buNone/>
            </a:pPr>
            <a:r>
              <a:rPr lang="en-US" sz="3000" b="1" dirty="0">
                <a:solidFill>
                  <a:srgbClr val="4ADE80"/>
                </a:solidFill>
                <a:latin typeface="Courier New" panose="02070309020205020404" pitchFamily="34" charset="0"/>
                <a:ea typeface="Courier New" panose="02070309020205020404" pitchFamily="34" charset="-122"/>
                <a:cs typeface="Courier New" panose="02070309020205020404" pitchFamily="34" charset="-120"/>
              </a:rPr>
              <a:t>87%</a:t>
            </a:r>
            <a:endParaRPr lang="en-US" sz="3000" dirty="0"/>
          </a:p>
        </p:txBody>
      </p:sp>
      <p:sp>
        <p:nvSpPr>
          <p:cNvPr id="24" name="Shape 22"/>
          <p:cNvSpPr/>
          <p:nvPr/>
        </p:nvSpPr>
        <p:spPr>
          <a:xfrm>
            <a:off x="749808" y="3931920"/>
            <a:ext cx="1417320" cy="320040"/>
          </a:xfrm>
          <a:prstGeom prst="roundRect">
            <a:avLst/>
          </a:prstGeom>
          <a:solidFill>
            <a:srgbClr val="4ADE80"/>
          </a:solidFill>
        </p:spPr>
        <p:txBody>
          <a:bodyPr/>
          <a:lstStyle/>
          <a:p>
            <a:endParaRPr lang="en-US"/>
          </a:p>
        </p:txBody>
      </p:sp>
      <p:sp>
        <p:nvSpPr>
          <p:cNvPr id="25" name="Text 23"/>
          <p:cNvSpPr/>
          <p:nvPr/>
        </p:nvSpPr>
        <p:spPr>
          <a:xfrm>
            <a:off x="749808" y="3931920"/>
            <a:ext cx="1417320" cy="320040"/>
          </a:xfrm>
          <a:prstGeom prst="rect">
            <a:avLst/>
          </a:prstGeom>
          <a:noFill/>
        </p:spPr>
        <p:txBody>
          <a:bodyPr wrap="square" lIns="0" tIns="0" rIns="0" bIns="0" rtlCol="0" anchor="ctr"/>
          <a:lstStyle/>
          <a:p>
            <a:pPr marL="0" indent="0" algn="ctr">
              <a:buNone/>
            </a:pPr>
            <a:r>
              <a:rPr lang="en-US" sz="900" b="1" dirty="0">
                <a:solidFill>
                  <a:srgbClr val="0F0F1E"/>
                </a:solidFill>
                <a:latin typeface="Courier New" panose="02070309020205020404" pitchFamily="34" charset="0"/>
                <a:ea typeface="Courier New" panose="02070309020205020404" pitchFamily="34" charset="-122"/>
                <a:cs typeface="Courier New" panose="02070309020205020404" pitchFamily="34" charset="-120"/>
              </a:rPr>
              <a:t>LIKELY REAL</a:t>
            </a:r>
            <a:endParaRPr lang="en-US" sz="900" dirty="0"/>
          </a:p>
        </p:txBody>
      </p:sp>
      <p:sp>
        <p:nvSpPr>
          <p:cNvPr id="26" name="Text 24"/>
          <p:cNvSpPr/>
          <p:nvPr/>
        </p:nvSpPr>
        <p:spPr>
          <a:xfrm>
            <a:off x="749808" y="4617720"/>
            <a:ext cx="4572000" cy="914400"/>
          </a:xfrm>
          <a:prstGeom prst="rect">
            <a:avLst/>
          </a:prstGeom>
          <a:noFill/>
        </p:spPr>
        <p:txBody>
          <a:bodyPr wrap="square" lIns="0" tIns="0" rIns="0" bIns="0" rtlCol="0" anchor="ctr"/>
          <a:lstStyle/>
          <a:p>
            <a:pPr marL="0" indent="0">
              <a:lnSpc>
                <a:spcPct val="120000"/>
              </a:lnSpc>
              <a:buNone/>
            </a:pPr>
            <a:r>
              <a:rPr lang="en-US" sz="1150" dirty="0">
                <a:solidFill>
                  <a:srgbClr val="C9D6E8"/>
                </a:solidFill>
                <a:latin typeface="Calibri" panose="020F0502020204030204" pitchFamily="34" charset="0"/>
                <a:ea typeface="Calibri" panose="020F0502020204030204" pitchFamily="34" charset="-122"/>
                <a:cs typeface="Calibri" panose="020F0502020204030204" pitchFamily="34" charset="-120"/>
              </a:rPr>
              <a:t>Hard pixel borders · monospace type · stair-step shadows · dark navy “game UI” frame</a:t>
            </a:r>
            <a:endParaRPr lang="en-US" sz="1150" dirty="0"/>
          </a:p>
        </p:txBody>
      </p:sp>
      <p:sp>
        <p:nvSpPr>
          <p:cNvPr id="27" name="Shape 25"/>
          <p:cNvSpPr/>
          <p:nvPr/>
        </p:nvSpPr>
        <p:spPr>
          <a:xfrm>
            <a:off x="6309360" y="1783080"/>
            <a:ext cx="5394960" cy="3977640"/>
          </a:xfrm>
          <a:prstGeom prst="roundRect">
            <a:avLst>
              <a:gd name="adj" fmla="val 1379"/>
            </a:avLst>
          </a:prstGeom>
          <a:solidFill>
            <a:srgbClr val="FFFFFF"/>
          </a:solidFill>
          <a:ln w="12700">
            <a:solidFill>
              <a:srgbClr val="E0E0E0"/>
            </a:solidFill>
            <a:prstDash val="solid"/>
          </a:ln>
        </p:spPr>
        <p:txBody>
          <a:bodyPr/>
          <a:lstStyle/>
          <a:p>
            <a:endParaRPr lang="en-US"/>
          </a:p>
        </p:txBody>
      </p:sp>
      <p:sp>
        <p:nvSpPr>
          <p:cNvPr id="28" name="Shape 26"/>
          <p:cNvSpPr/>
          <p:nvPr/>
        </p:nvSpPr>
        <p:spPr>
          <a:xfrm>
            <a:off x="6583680" y="2057400"/>
            <a:ext cx="1051560" cy="292608"/>
          </a:xfrm>
          <a:prstGeom prst="roundRect">
            <a:avLst>
              <a:gd name="adj" fmla="val 50000"/>
            </a:avLst>
          </a:prstGeom>
          <a:solidFill>
            <a:srgbClr val="057642"/>
          </a:solidFill>
        </p:spPr>
        <p:txBody>
          <a:bodyPr/>
          <a:lstStyle/>
          <a:p>
            <a:endParaRPr lang="en-US"/>
          </a:p>
        </p:txBody>
      </p:sp>
      <p:sp>
        <p:nvSpPr>
          <p:cNvPr id="29" name="Text 27"/>
          <p:cNvSpPr/>
          <p:nvPr/>
        </p:nvSpPr>
        <p:spPr>
          <a:xfrm>
            <a:off x="6583680" y="2057400"/>
            <a:ext cx="1051560" cy="29260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AFTER</a:t>
            </a:r>
            <a:endParaRPr lang="en-US" sz="1050" dirty="0"/>
          </a:p>
        </p:txBody>
      </p:sp>
      <p:sp>
        <p:nvSpPr>
          <p:cNvPr id="30" name="Shape 28"/>
          <p:cNvSpPr/>
          <p:nvPr/>
        </p:nvSpPr>
        <p:spPr>
          <a:xfrm>
            <a:off x="6583680" y="2560320"/>
            <a:ext cx="384048" cy="384048"/>
          </a:xfrm>
          <a:prstGeom prst="roundRect">
            <a:avLst>
              <a:gd name="adj" fmla="val 19048"/>
            </a:avLst>
          </a:prstGeom>
          <a:solidFill>
            <a:srgbClr val="0A66C2"/>
          </a:solidFill>
        </p:spPr>
        <p:txBody>
          <a:bodyPr/>
          <a:lstStyle/>
          <a:p>
            <a:endParaRPr lang="en-US"/>
          </a:p>
        </p:txBody>
      </p:sp>
      <p:sp>
        <p:nvSpPr>
          <p:cNvPr id="31" name="Text 29"/>
          <p:cNvSpPr/>
          <p:nvPr/>
        </p:nvSpPr>
        <p:spPr>
          <a:xfrm>
            <a:off x="6583680" y="2560320"/>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32" name="Text 30"/>
          <p:cNvSpPr/>
          <p:nvPr/>
        </p:nvSpPr>
        <p:spPr>
          <a:xfrm>
            <a:off x="7086600" y="2606040"/>
            <a:ext cx="3200400" cy="320040"/>
          </a:xfrm>
          <a:prstGeom prst="rect">
            <a:avLst/>
          </a:prstGeom>
          <a:noFill/>
        </p:spPr>
        <p:txBody>
          <a:bodyPr wrap="square" lIns="0" tIns="0" rIns="0" bIns="0" rtlCol="0" anchor="ctr"/>
          <a:lstStyle/>
          <a:p>
            <a:pPr marL="0" indent="0">
              <a:buNone/>
            </a:pPr>
            <a:r>
              <a:rPr lang="en-US" sz="1300" b="1" dirty="0">
                <a:solidFill>
                  <a:srgbClr val="191919"/>
                </a:solidFill>
                <a:latin typeface="Calibri" panose="020F0502020204030204" pitchFamily="34" charset="0"/>
                <a:ea typeface="Calibri" panose="020F0502020204030204" pitchFamily="34" charset="-122"/>
                <a:cs typeface="Calibri" panose="020F0502020204030204" pitchFamily="34" charset="-120"/>
              </a:rPr>
              <a:t>NokriExtenddd</a:t>
            </a:r>
            <a:endParaRPr lang="en-US" sz="1300" dirty="0"/>
          </a:p>
        </p:txBody>
      </p:sp>
      <p:sp>
        <p:nvSpPr>
          <p:cNvPr id="33" name="Text 31"/>
          <p:cNvSpPr/>
          <p:nvPr/>
        </p:nvSpPr>
        <p:spPr>
          <a:xfrm>
            <a:off x="6583680" y="3200400"/>
            <a:ext cx="1828800" cy="594360"/>
          </a:xfrm>
          <a:prstGeom prst="rect">
            <a:avLst/>
          </a:prstGeom>
          <a:noFill/>
        </p:spPr>
        <p:txBody>
          <a:bodyPr wrap="square" lIns="0" tIns="0" rIns="0" bIns="0" rtlCol="0" anchor="ctr"/>
          <a:lstStyle/>
          <a:p>
            <a:pPr marL="0" indent="0">
              <a:buNone/>
            </a:pPr>
            <a:r>
              <a:rPr lang="en-US" sz="3400" b="1" dirty="0">
                <a:solidFill>
                  <a:srgbClr val="057642"/>
                </a:solidFill>
                <a:latin typeface="Calibri" panose="020F0502020204030204" pitchFamily="34" charset="0"/>
                <a:ea typeface="Calibri" panose="020F0502020204030204" pitchFamily="34" charset="-122"/>
                <a:cs typeface="Calibri" panose="020F0502020204030204" pitchFamily="34" charset="-120"/>
              </a:rPr>
              <a:t>87%</a:t>
            </a:r>
            <a:endParaRPr lang="en-US" sz="3400" dirty="0"/>
          </a:p>
        </p:txBody>
      </p:sp>
      <p:sp>
        <p:nvSpPr>
          <p:cNvPr id="34" name="Shape 32"/>
          <p:cNvSpPr/>
          <p:nvPr/>
        </p:nvSpPr>
        <p:spPr>
          <a:xfrm>
            <a:off x="6583680" y="3867912"/>
            <a:ext cx="1417320" cy="310896"/>
          </a:xfrm>
          <a:prstGeom prst="roundRect">
            <a:avLst>
              <a:gd name="adj" fmla="val 50000"/>
            </a:avLst>
          </a:prstGeom>
          <a:solidFill>
            <a:srgbClr val="E9F7EF"/>
          </a:solidFill>
        </p:spPr>
        <p:txBody>
          <a:bodyPr/>
          <a:lstStyle/>
          <a:p>
            <a:endParaRPr lang="en-US"/>
          </a:p>
        </p:txBody>
      </p:sp>
      <p:sp>
        <p:nvSpPr>
          <p:cNvPr id="35" name="Text 33"/>
          <p:cNvSpPr/>
          <p:nvPr/>
        </p:nvSpPr>
        <p:spPr>
          <a:xfrm>
            <a:off x="6583680" y="3867912"/>
            <a:ext cx="1417320" cy="310896"/>
          </a:xfrm>
          <a:prstGeom prst="rect">
            <a:avLst/>
          </a:prstGeom>
          <a:noFill/>
        </p:spPr>
        <p:txBody>
          <a:bodyPr wrap="square" lIns="0" tIns="0" rIns="0" bIns="0" rtlCol="0" anchor="ctr"/>
          <a:lstStyle/>
          <a:p>
            <a:pPr marL="0" indent="0" algn="ctr">
              <a:buNone/>
            </a:pPr>
            <a:r>
              <a:rPr lang="en-US" sz="1100" b="1" dirty="0">
                <a:solidFill>
                  <a:srgbClr val="057642"/>
                </a:solidFill>
                <a:latin typeface="Calibri" panose="020F0502020204030204" pitchFamily="34" charset="0"/>
                <a:ea typeface="Calibri" panose="020F0502020204030204" pitchFamily="34" charset="-122"/>
                <a:cs typeface="Calibri" panose="020F0502020204030204" pitchFamily="34" charset="-120"/>
              </a:rPr>
              <a:t>Likely Real</a:t>
            </a:r>
            <a:endParaRPr lang="en-US" sz="1100" dirty="0"/>
          </a:p>
        </p:txBody>
      </p:sp>
      <p:sp>
        <p:nvSpPr>
          <p:cNvPr id="36" name="Text 34"/>
          <p:cNvSpPr/>
          <p:nvPr/>
        </p:nvSpPr>
        <p:spPr>
          <a:xfrm>
            <a:off x="6583680" y="4617720"/>
            <a:ext cx="4846320" cy="914400"/>
          </a:xfrm>
          <a:prstGeom prst="rect">
            <a:avLst/>
          </a:prstGeom>
          <a:noFill/>
        </p:spPr>
        <p:txBody>
          <a:bodyPr wrap="square" lIns="0" tIns="0" rIns="0" bIns="0" rtlCol="0" anchor="ctr"/>
          <a:lstStyle/>
          <a:p>
            <a:pPr marL="0" indent="0">
              <a:lnSpc>
                <a:spcPct val="120000"/>
              </a:lnSpc>
              <a:buNone/>
            </a:pPr>
            <a:r>
              <a:rPr lang="en-US" sz="1150" dirty="0">
                <a:solidFill>
                  <a:srgbClr val="666666"/>
                </a:solidFill>
                <a:latin typeface="Calibri" panose="020F0502020204030204" pitchFamily="34" charset="0"/>
                <a:ea typeface="Calibri" panose="020F0502020204030204" pitchFamily="34" charset="-122"/>
                <a:cs typeface="Calibri" panose="020F0502020204030204" pitchFamily="34" charset="-120"/>
              </a:rPr>
              <a:t>Soft rounded cards · LinkedIn blue · percentage-based Trust Score · subtle shadows, no harsh borders</a:t>
            </a:r>
            <a:endParaRPr lang="en-US" sz="1150" dirty="0"/>
          </a:p>
        </p:txBody>
      </p:sp>
      <p:sp>
        <p:nvSpPr>
          <p:cNvPr id="37" name="Text 35"/>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08 / 10</a:t>
            </a:r>
            <a:endParaRPr lang="en-US" sz="1000" dirty="0"/>
          </a:p>
        </p:txBody>
      </p:sp>
      <p:sp>
        <p:nvSpPr>
          <p:cNvPr id="38" name="Text 36"/>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347472" cy="347472"/>
          </a:xfrm>
          <a:prstGeom prst="roundRect">
            <a:avLst>
              <a:gd name="adj" fmla="val 21053"/>
            </a:avLst>
          </a:prstGeom>
          <a:solidFill>
            <a:srgbClr val="0A66C2"/>
          </a:solidFill>
        </p:spPr>
        <p:txBody>
          <a:bodyPr/>
          <a:lstStyle/>
          <a:p>
            <a:endParaRPr lang="en-US"/>
          </a:p>
        </p:txBody>
      </p:sp>
      <p:sp>
        <p:nvSpPr>
          <p:cNvPr id="3" name="Text 1"/>
          <p:cNvSpPr/>
          <p:nvPr/>
        </p:nvSpPr>
        <p:spPr>
          <a:xfrm>
            <a:off x="457200" y="38404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eXD</a:t>
            </a:r>
            <a:endParaRPr lang="en-US" sz="1300" dirty="0"/>
          </a:p>
        </p:txBody>
      </p:sp>
      <p:sp>
        <p:nvSpPr>
          <p:cNvPr id="4" name="Text 2"/>
          <p:cNvSpPr/>
          <p:nvPr/>
        </p:nvSpPr>
        <p:spPr>
          <a:xfrm>
            <a:off x="914400" y="347472"/>
            <a:ext cx="7315200" cy="274320"/>
          </a:xfrm>
          <a:prstGeom prst="rect">
            <a:avLst/>
          </a:prstGeom>
          <a:noFill/>
        </p:spPr>
        <p:txBody>
          <a:bodyPr wrap="square" lIns="0" tIns="0" rIns="0" bIns="0" rtlCol="0" anchor="ctr"/>
          <a:lstStyle/>
          <a:p>
            <a:pPr marL="0" indent="0">
              <a:buNone/>
            </a:pPr>
            <a:r>
              <a:rPr lang="en-US" sz="1100" b="1" kern="0" spc="100" dirty="0">
                <a:solidFill>
                  <a:srgbClr val="0A66C2"/>
                </a:solidFill>
                <a:latin typeface="Calibri" panose="020F0502020204030204" pitchFamily="34" charset="0"/>
                <a:ea typeface="Calibri" panose="020F0502020204030204" pitchFamily="34" charset="-122"/>
                <a:cs typeface="Calibri" panose="020F0502020204030204" pitchFamily="34" charset="-120"/>
              </a:rPr>
              <a:t>WHAT WENT WRONG — AND WHY IT MATTERS</a:t>
            </a:r>
            <a:endParaRPr lang="en-US" sz="1100" dirty="0"/>
          </a:p>
        </p:txBody>
      </p:sp>
      <p:sp>
        <p:nvSpPr>
          <p:cNvPr id="5" name="Text 3"/>
          <p:cNvSpPr/>
          <p:nvPr/>
        </p:nvSpPr>
        <p:spPr>
          <a:xfrm>
            <a:off x="457200" y="658368"/>
            <a:ext cx="11247120" cy="594360"/>
          </a:xfrm>
          <a:prstGeom prst="rect">
            <a:avLst/>
          </a:prstGeom>
          <a:noFill/>
        </p:spPr>
        <p:txBody>
          <a:bodyPr wrap="square" lIns="0" tIns="0" rIns="0" bIns="0" rtlCol="0" anchor="ctr"/>
          <a:lstStyle/>
          <a:p>
            <a:pPr marL="0" indent="0">
              <a:buNone/>
            </a:pPr>
            <a:r>
              <a:rPr lang="en-US" sz="2800" b="1" dirty="0">
                <a:solidFill>
                  <a:srgbClr val="191919"/>
                </a:solidFill>
                <a:latin typeface="Calibri" panose="020F0502020204030204" pitchFamily="34" charset="0"/>
                <a:ea typeface="Calibri" panose="020F0502020204030204" pitchFamily="34" charset="-122"/>
                <a:cs typeface="Calibri" panose="020F0502020204030204" pitchFamily="34" charset="-120"/>
              </a:rPr>
              <a:t>Three real bugs worth understanding</a:t>
            </a:r>
            <a:endParaRPr lang="en-US" sz="2800" dirty="0"/>
          </a:p>
        </p:txBody>
      </p:sp>
      <p:sp>
        <p:nvSpPr>
          <p:cNvPr id="6" name="Shape 4"/>
          <p:cNvSpPr/>
          <p:nvPr/>
        </p:nvSpPr>
        <p:spPr>
          <a:xfrm>
            <a:off x="457200" y="1737360"/>
            <a:ext cx="3611880" cy="4160520"/>
          </a:xfrm>
          <a:prstGeom prst="roundRect">
            <a:avLst>
              <a:gd name="adj" fmla="val 2025"/>
            </a:avLst>
          </a:prstGeom>
          <a:solidFill>
            <a:srgbClr val="FFF8E6"/>
          </a:solidFill>
        </p:spPr>
        <p:txBody>
          <a:bodyPr/>
          <a:lstStyle/>
          <a:p>
            <a:endParaRPr lang="en-US"/>
          </a:p>
        </p:txBody>
      </p:sp>
      <p:sp>
        <p:nvSpPr>
          <p:cNvPr id="7" name="Shape 5"/>
          <p:cNvSpPr/>
          <p:nvPr/>
        </p:nvSpPr>
        <p:spPr>
          <a:xfrm>
            <a:off x="713232" y="1993392"/>
            <a:ext cx="457200" cy="457200"/>
          </a:xfrm>
          <a:prstGeom prst="roundRect">
            <a:avLst>
              <a:gd name="adj" fmla="val 50000"/>
            </a:avLst>
          </a:prstGeom>
          <a:solidFill>
            <a:srgbClr val="B8860B"/>
          </a:solidFill>
        </p:spPr>
        <p:txBody>
          <a:bodyPr/>
          <a:lstStyle/>
          <a:p>
            <a:endParaRPr lang="en-US"/>
          </a:p>
        </p:txBody>
      </p:sp>
      <p:sp>
        <p:nvSpPr>
          <p:cNvPr id="8" name="Text 6"/>
          <p:cNvSpPr/>
          <p:nvPr/>
        </p:nvSpPr>
        <p:spPr>
          <a:xfrm>
            <a:off x="713232" y="1993392"/>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9" name="Text 7"/>
          <p:cNvSpPr/>
          <p:nvPr/>
        </p:nvSpPr>
        <p:spPr>
          <a:xfrm>
            <a:off x="713232" y="2606040"/>
            <a:ext cx="3099816" cy="731520"/>
          </a:xfrm>
          <a:prstGeom prst="rect">
            <a:avLst/>
          </a:prstGeom>
          <a:noFill/>
        </p:spPr>
        <p:txBody>
          <a:bodyPr wrap="square" lIns="0" tIns="0" rIns="0" bIns="0" rtlCol="0" anchor="ctr"/>
          <a:lstStyle/>
          <a:p>
            <a:pPr marL="0" indent="0">
              <a:lnSpc>
                <a:spcPct val="105000"/>
              </a:lnSpc>
              <a:buNone/>
            </a:pPr>
            <a:r>
              <a:rPr lang="en-US" sz="1600" b="1" dirty="0">
                <a:solidFill>
                  <a:srgbClr val="B8860B"/>
                </a:solidFill>
                <a:latin typeface="Calibri" panose="020F0502020204030204" pitchFamily="34" charset="0"/>
                <a:ea typeface="Calibri" panose="020F0502020204030204" pitchFamily="34" charset="-122"/>
                <a:cs typeface="Calibri" panose="020F0502020204030204" pitchFamily="34" charset="-120"/>
              </a:rPr>
              <a:t>Brittle web scraping</a:t>
            </a:r>
            <a:endParaRPr lang="en-US" sz="1600" dirty="0"/>
          </a:p>
        </p:txBody>
      </p:sp>
      <p:sp>
        <p:nvSpPr>
          <p:cNvPr id="10" name="Text 8"/>
          <p:cNvSpPr/>
          <p:nvPr/>
        </p:nvSpPr>
        <p:spPr>
          <a:xfrm>
            <a:off x="713232" y="3337560"/>
            <a:ext cx="3099816" cy="2423160"/>
          </a:xfrm>
          <a:prstGeom prst="rect">
            <a:avLst/>
          </a:prstGeom>
          <a:noFill/>
        </p:spPr>
        <p:txBody>
          <a:bodyPr wrap="square" lIns="0" tIns="0" rIns="0" bIns="0" rtlCol="0" anchor="ctr"/>
          <a:lstStyle/>
          <a:p>
            <a:pPr marL="0" indent="0">
              <a:lnSpc>
                <a:spcPct val="12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LinkedIn's auto-generated CSS class names (e.g. “f18eb30d”) change on every deploy — sometimes between page loads of the same listing. The first scraper broke almost immediately. Fixed by matching on page structure and stable attributes instead of exact class names.</a:t>
            </a:r>
            <a:endParaRPr lang="en-US" sz="1150" dirty="0"/>
          </a:p>
        </p:txBody>
      </p:sp>
      <p:sp>
        <p:nvSpPr>
          <p:cNvPr id="11" name="Shape 9"/>
          <p:cNvSpPr/>
          <p:nvPr/>
        </p:nvSpPr>
        <p:spPr>
          <a:xfrm>
            <a:off x="4274820" y="1737360"/>
            <a:ext cx="3611880" cy="4160520"/>
          </a:xfrm>
          <a:prstGeom prst="roundRect">
            <a:avLst>
              <a:gd name="adj" fmla="val 2025"/>
            </a:avLst>
          </a:prstGeom>
          <a:solidFill>
            <a:srgbClr val="FDECEC"/>
          </a:solidFill>
        </p:spPr>
        <p:txBody>
          <a:bodyPr/>
          <a:lstStyle/>
          <a:p>
            <a:endParaRPr lang="en-US"/>
          </a:p>
        </p:txBody>
      </p:sp>
      <p:sp>
        <p:nvSpPr>
          <p:cNvPr id="12" name="Shape 10"/>
          <p:cNvSpPr/>
          <p:nvPr/>
        </p:nvSpPr>
        <p:spPr>
          <a:xfrm>
            <a:off x="4530852" y="1993392"/>
            <a:ext cx="457200" cy="457200"/>
          </a:xfrm>
          <a:prstGeom prst="roundRect">
            <a:avLst>
              <a:gd name="adj" fmla="val 50000"/>
            </a:avLst>
          </a:prstGeom>
          <a:solidFill>
            <a:srgbClr val="CC1016"/>
          </a:solidFill>
        </p:spPr>
        <p:txBody>
          <a:bodyPr/>
          <a:lstStyle/>
          <a:p>
            <a:endParaRPr lang="en-US"/>
          </a:p>
        </p:txBody>
      </p:sp>
      <p:sp>
        <p:nvSpPr>
          <p:cNvPr id="13" name="Text 11"/>
          <p:cNvSpPr/>
          <p:nvPr/>
        </p:nvSpPr>
        <p:spPr>
          <a:xfrm>
            <a:off x="4530852" y="1993392"/>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4" name="Text 12"/>
          <p:cNvSpPr/>
          <p:nvPr/>
        </p:nvSpPr>
        <p:spPr>
          <a:xfrm>
            <a:off x="4530852" y="2606040"/>
            <a:ext cx="3099816" cy="731520"/>
          </a:xfrm>
          <a:prstGeom prst="rect">
            <a:avLst/>
          </a:prstGeom>
          <a:noFill/>
        </p:spPr>
        <p:txBody>
          <a:bodyPr wrap="square" lIns="0" tIns="0" rIns="0" bIns="0" rtlCol="0" anchor="ctr"/>
          <a:lstStyle/>
          <a:p>
            <a:pPr marL="0" indent="0">
              <a:lnSpc>
                <a:spcPct val="105000"/>
              </a:lnSpc>
              <a:buNone/>
            </a:pPr>
            <a:r>
              <a:rPr lang="en-US" sz="1600" b="1" dirty="0">
                <a:solidFill>
                  <a:srgbClr val="CC1016"/>
                </a:solidFill>
                <a:latin typeface="Calibri" panose="020F0502020204030204" pitchFamily="34" charset="0"/>
                <a:ea typeface="Calibri" panose="020F0502020204030204" pitchFamily="34" charset="-122"/>
                <a:cs typeface="Calibri" panose="020F0502020204030204" pitchFamily="34" charset="-120"/>
              </a:rPr>
              <a:t>Incomplete salary scraping</a:t>
            </a:r>
            <a:endParaRPr lang="en-US" sz="1600" dirty="0"/>
          </a:p>
        </p:txBody>
      </p:sp>
      <p:sp>
        <p:nvSpPr>
          <p:cNvPr id="15" name="Text 13"/>
          <p:cNvSpPr/>
          <p:nvPr/>
        </p:nvSpPr>
        <p:spPr>
          <a:xfrm>
            <a:off x="4530852" y="3337560"/>
            <a:ext cx="3099816" cy="2423160"/>
          </a:xfrm>
          <a:prstGeom prst="rect">
            <a:avLst/>
          </a:prstGeom>
          <a:noFill/>
        </p:spPr>
        <p:txBody>
          <a:bodyPr wrap="square" lIns="0" tIns="0" rIns="0" bIns="0" rtlCol="0" anchor="ctr"/>
          <a:lstStyle/>
          <a:p>
            <a:pPr marL="0" indent="0">
              <a:lnSpc>
                <a:spcPct val="12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The salary field is pulled with a regex over free-text description content, so it only succeeds when a posting states pay in an anticipated format. Unusual phrasing or omitted salary correctly returns null — but this means salary is genuinely under-reported. Still unresolved.</a:t>
            </a:r>
            <a:endParaRPr lang="en-US" sz="1150" dirty="0"/>
          </a:p>
        </p:txBody>
      </p:sp>
      <p:sp>
        <p:nvSpPr>
          <p:cNvPr id="16" name="Shape 14"/>
          <p:cNvSpPr/>
          <p:nvPr/>
        </p:nvSpPr>
        <p:spPr>
          <a:xfrm>
            <a:off x="8092440" y="1737360"/>
            <a:ext cx="3611880" cy="4160520"/>
          </a:xfrm>
          <a:prstGeom prst="roundRect">
            <a:avLst>
              <a:gd name="adj" fmla="val 2025"/>
            </a:avLst>
          </a:prstGeom>
          <a:solidFill>
            <a:srgbClr val="E9F7EF"/>
          </a:solidFill>
        </p:spPr>
        <p:txBody>
          <a:bodyPr/>
          <a:lstStyle/>
          <a:p>
            <a:endParaRPr lang="en-US"/>
          </a:p>
        </p:txBody>
      </p:sp>
      <p:sp>
        <p:nvSpPr>
          <p:cNvPr id="17" name="Shape 15"/>
          <p:cNvSpPr/>
          <p:nvPr/>
        </p:nvSpPr>
        <p:spPr>
          <a:xfrm>
            <a:off x="8348472" y="1993392"/>
            <a:ext cx="457200" cy="457200"/>
          </a:xfrm>
          <a:prstGeom prst="roundRect">
            <a:avLst>
              <a:gd name="adj" fmla="val 50000"/>
            </a:avLst>
          </a:prstGeom>
          <a:solidFill>
            <a:srgbClr val="057642"/>
          </a:solidFill>
        </p:spPr>
        <p:txBody>
          <a:bodyPr/>
          <a:lstStyle/>
          <a:p>
            <a:endParaRPr lang="en-US"/>
          </a:p>
        </p:txBody>
      </p:sp>
      <p:sp>
        <p:nvSpPr>
          <p:cNvPr id="18" name="Text 16"/>
          <p:cNvSpPr/>
          <p:nvPr/>
        </p:nvSpPr>
        <p:spPr>
          <a:xfrm>
            <a:off x="8348472" y="1993392"/>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9" name="Text 17"/>
          <p:cNvSpPr/>
          <p:nvPr/>
        </p:nvSpPr>
        <p:spPr>
          <a:xfrm>
            <a:off x="8348472" y="2606040"/>
            <a:ext cx="3099816" cy="731520"/>
          </a:xfrm>
          <a:prstGeom prst="rect">
            <a:avLst/>
          </a:prstGeom>
          <a:noFill/>
        </p:spPr>
        <p:txBody>
          <a:bodyPr wrap="square" lIns="0" tIns="0" rIns="0" bIns="0" rtlCol="0" anchor="ctr"/>
          <a:lstStyle/>
          <a:p>
            <a:pPr marL="0" indent="0">
              <a:lnSpc>
                <a:spcPct val="105000"/>
              </a:lnSpc>
              <a:buNone/>
            </a:pPr>
            <a:r>
              <a:rPr lang="en-US" sz="1600" b="1" dirty="0">
                <a:solidFill>
                  <a:srgbClr val="057642"/>
                </a:solidFill>
                <a:latin typeface="Calibri" panose="020F0502020204030204" pitchFamily="34" charset="0"/>
                <a:ea typeface="Calibri" panose="020F0502020204030204" pitchFamily="34" charset="-122"/>
                <a:cs typeface="Calibri" panose="020F0502020204030204" pitchFamily="34" charset="-120"/>
              </a:rPr>
              <a:t>Silent timezone bug</a:t>
            </a:r>
            <a:endParaRPr lang="en-US" sz="1600" dirty="0"/>
          </a:p>
        </p:txBody>
      </p:sp>
      <p:sp>
        <p:nvSpPr>
          <p:cNvPr id="20" name="Text 18"/>
          <p:cNvSpPr/>
          <p:nvPr/>
        </p:nvSpPr>
        <p:spPr>
          <a:xfrm>
            <a:off x="8348472" y="3337560"/>
            <a:ext cx="3099816" cy="2423160"/>
          </a:xfrm>
          <a:prstGeom prst="rect">
            <a:avLst/>
          </a:prstGeom>
          <a:noFill/>
        </p:spPr>
        <p:txBody>
          <a:bodyPr wrap="square" lIns="0" tIns="0" rIns="0" bIns="0" rtlCol="0" anchor="ctr"/>
          <a:lstStyle/>
          <a:p>
            <a:pPr marL="0" indent="0">
              <a:lnSpc>
                <a:spcPct val="125000"/>
              </a:lnSpc>
              <a:buNone/>
            </a:pPr>
            <a:r>
              <a:rPr lang="en-US" sz="1150" dirty="0">
                <a:solidFill>
                  <a:srgbClr val="191919"/>
                </a:solidFill>
                <a:latin typeface="Calibri" panose="020F0502020204030204" pitchFamily="34" charset="0"/>
                <a:ea typeface="Calibri" panose="020F0502020204030204" pitchFamily="34" charset="-122"/>
                <a:cs typeface="Calibri" panose="020F0502020204030204" pitchFamily="34" charset="-120"/>
              </a:rPr>
              <a:t>PostgreSQL stored deadline dates correctly, but the Node driver's timezone conversion — and the return trip back to text — silently shifted saved deadlines back by a day. Invisible until specifically tested, and would have made reminders quietly never fire.</a:t>
            </a:r>
            <a:endParaRPr lang="en-US" sz="1150" dirty="0"/>
          </a:p>
        </p:txBody>
      </p:sp>
      <p:sp>
        <p:nvSpPr>
          <p:cNvPr id="21" name="Text 19"/>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09 / 10</a:t>
            </a:r>
            <a:endParaRPr lang="en-US" sz="1000" dirty="0"/>
          </a:p>
        </p:txBody>
      </p:sp>
      <p:sp>
        <p:nvSpPr>
          <p:cNvPr id="22" name="Text 20"/>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Next Steps</a:t>
            </a:r>
            <a:endParaRPr lang="en-US" sz="3200" dirty="0"/>
          </a:p>
        </p:txBody>
      </p:sp>
      <p:sp>
        <p:nvSpPr>
          <p:cNvPr id="3" name="Text 1"/>
          <p:cNvSpPr/>
          <p:nvPr/>
        </p:nvSpPr>
        <p:spPr>
          <a:xfrm>
            <a:off x="566928" y="1097280"/>
            <a:ext cx="8229600" cy="365760"/>
          </a:xfrm>
          <a:prstGeom prst="rect">
            <a:avLst/>
          </a:prstGeom>
          <a:noFill/>
        </p:spPr>
        <p:txBody>
          <a:bodyPr wrap="square" lIns="0" tIns="0" rIns="0" bIns="0" rtlCol="0" anchor="ctr"/>
          <a:lstStyle/>
          <a:p>
            <a:pPr marL="0" indent="0">
              <a:buNone/>
            </a:pPr>
            <a:r>
              <a:rPr lang="en-US" sz="1400" dirty="0">
                <a:solidFill>
                  <a:srgbClr val="8FA3BF"/>
                </a:solidFill>
                <a:latin typeface="Calibri" panose="020F0502020204030204" pitchFamily="34" charset="0"/>
                <a:ea typeface="Calibri" panose="020F0502020204030204" pitchFamily="34" charset="-122"/>
                <a:cs typeface="Calibri" panose="020F0502020204030204" pitchFamily="34" charset="-120"/>
              </a:rPr>
              <a:t>What moves this from prototype to product</a:t>
            </a:r>
            <a:endParaRPr lang="en-US" sz="1400" dirty="0"/>
          </a:p>
        </p:txBody>
      </p:sp>
      <p:sp>
        <p:nvSpPr>
          <p:cNvPr id="4" name="Shape 2"/>
          <p:cNvSpPr/>
          <p:nvPr/>
        </p:nvSpPr>
        <p:spPr>
          <a:xfrm>
            <a:off x="548640" y="1737360"/>
            <a:ext cx="5440680" cy="1417320"/>
          </a:xfrm>
          <a:prstGeom prst="roundRect">
            <a:avLst>
              <a:gd name="adj" fmla="val 4516"/>
            </a:avLst>
          </a:prstGeom>
          <a:solidFill>
            <a:srgbClr val="1B2333"/>
          </a:solidFill>
        </p:spPr>
        <p:txBody>
          <a:bodyPr/>
          <a:lstStyle/>
          <a:p>
            <a:endParaRPr lang="en-US"/>
          </a:p>
        </p:txBody>
      </p:sp>
      <p:sp>
        <p:nvSpPr>
          <p:cNvPr id="5" name="Shape 3"/>
          <p:cNvSpPr/>
          <p:nvPr/>
        </p:nvSpPr>
        <p:spPr>
          <a:xfrm>
            <a:off x="749808" y="1938528"/>
            <a:ext cx="73152" cy="1014984"/>
          </a:xfrm>
          <a:prstGeom prst="roundRect">
            <a:avLst/>
          </a:prstGeom>
          <a:solidFill>
            <a:srgbClr val="0A66C2"/>
          </a:solidFill>
        </p:spPr>
        <p:txBody>
          <a:bodyPr/>
          <a:lstStyle/>
          <a:p>
            <a:endParaRPr lang="en-US"/>
          </a:p>
        </p:txBody>
      </p:sp>
      <p:sp>
        <p:nvSpPr>
          <p:cNvPr id="6" name="Text 4"/>
          <p:cNvSpPr/>
          <p:nvPr/>
        </p:nvSpPr>
        <p:spPr>
          <a:xfrm>
            <a:off x="932688" y="1883664"/>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Build a 1M+ row labeled dataset</a:t>
            </a:r>
            <a:endParaRPr lang="en-US" sz="1350" dirty="0"/>
          </a:p>
        </p:txBody>
      </p:sp>
      <p:sp>
        <p:nvSpPr>
          <p:cNvPr id="7" name="Text 5"/>
          <p:cNvSpPr/>
          <p:nvPr/>
        </p:nvSpPr>
        <p:spPr>
          <a:xfrm>
            <a:off x="932688" y="2267712"/>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Manually label a far larger set of real and fake postings to retrain the model well past today's 202-row prototype scale.</a:t>
            </a:r>
            <a:endParaRPr lang="en-US" sz="1080" dirty="0"/>
          </a:p>
        </p:txBody>
      </p:sp>
      <p:sp>
        <p:nvSpPr>
          <p:cNvPr id="8" name="Shape 6"/>
          <p:cNvSpPr/>
          <p:nvPr/>
        </p:nvSpPr>
        <p:spPr>
          <a:xfrm>
            <a:off x="6309360" y="1737360"/>
            <a:ext cx="5440680" cy="1417320"/>
          </a:xfrm>
          <a:prstGeom prst="roundRect">
            <a:avLst>
              <a:gd name="adj" fmla="val 4516"/>
            </a:avLst>
          </a:prstGeom>
          <a:solidFill>
            <a:srgbClr val="1B2333"/>
          </a:solidFill>
        </p:spPr>
        <p:txBody>
          <a:bodyPr/>
          <a:lstStyle/>
          <a:p>
            <a:endParaRPr lang="en-US"/>
          </a:p>
        </p:txBody>
      </p:sp>
      <p:sp>
        <p:nvSpPr>
          <p:cNvPr id="9" name="Shape 7"/>
          <p:cNvSpPr/>
          <p:nvPr/>
        </p:nvSpPr>
        <p:spPr>
          <a:xfrm>
            <a:off x="6510528" y="1938528"/>
            <a:ext cx="73152" cy="1014984"/>
          </a:xfrm>
          <a:prstGeom prst="roundRect">
            <a:avLst/>
          </a:prstGeom>
          <a:solidFill>
            <a:srgbClr val="0A66C2"/>
          </a:solidFill>
        </p:spPr>
        <p:txBody>
          <a:bodyPr/>
          <a:lstStyle/>
          <a:p>
            <a:endParaRPr lang="en-US"/>
          </a:p>
        </p:txBody>
      </p:sp>
      <p:sp>
        <p:nvSpPr>
          <p:cNvPr id="10" name="Text 8"/>
          <p:cNvSpPr/>
          <p:nvPr/>
        </p:nvSpPr>
        <p:spPr>
          <a:xfrm>
            <a:off x="6693408" y="1883664"/>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Detect “is this a job post at all” first</a:t>
            </a:r>
            <a:endParaRPr lang="en-US" sz="1350" dirty="0"/>
          </a:p>
        </p:txBody>
      </p:sp>
      <p:sp>
        <p:nvSpPr>
          <p:cNvPr id="11" name="Text 9"/>
          <p:cNvSpPr/>
          <p:nvPr/>
        </p:nvSpPr>
        <p:spPr>
          <a:xfrm>
            <a:off x="6693408" y="2267712"/>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Add a classification step ahead of fraud scoring so the system can eventually screen general feed content, not just structured job pages.</a:t>
            </a:r>
            <a:endParaRPr lang="en-US" sz="1080" dirty="0"/>
          </a:p>
        </p:txBody>
      </p:sp>
      <p:sp>
        <p:nvSpPr>
          <p:cNvPr id="12" name="Shape 10"/>
          <p:cNvSpPr/>
          <p:nvPr/>
        </p:nvSpPr>
        <p:spPr>
          <a:xfrm>
            <a:off x="548640" y="3355848"/>
            <a:ext cx="5440680" cy="1417320"/>
          </a:xfrm>
          <a:prstGeom prst="roundRect">
            <a:avLst>
              <a:gd name="adj" fmla="val 4516"/>
            </a:avLst>
          </a:prstGeom>
          <a:solidFill>
            <a:srgbClr val="1B2333"/>
          </a:solidFill>
        </p:spPr>
        <p:txBody>
          <a:bodyPr/>
          <a:lstStyle/>
          <a:p>
            <a:endParaRPr lang="en-US"/>
          </a:p>
        </p:txBody>
      </p:sp>
      <p:sp>
        <p:nvSpPr>
          <p:cNvPr id="13" name="Shape 11"/>
          <p:cNvSpPr/>
          <p:nvPr/>
        </p:nvSpPr>
        <p:spPr>
          <a:xfrm>
            <a:off x="749808" y="3557016"/>
            <a:ext cx="73152" cy="1014984"/>
          </a:xfrm>
          <a:prstGeom prst="roundRect">
            <a:avLst/>
          </a:prstGeom>
          <a:solidFill>
            <a:srgbClr val="0A66C2"/>
          </a:solidFill>
        </p:spPr>
        <p:txBody>
          <a:bodyPr/>
          <a:lstStyle/>
          <a:p>
            <a:endParaRPr lang="en-US"/>
          </a:p>
        </p:txBody>
      </p:sp>
      <p:sp>
        <p:nvSpPr>
          <p:cNvPr id="14" name="Text 12"/>
          <p:cNvSpPr/>
          <p:nvPr/>
        </p:nvSpPr>
        <p:spPr>
          <a:xfrm>
            <a:off x="932688" y="3502152"/>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Refine the formula against research literature</a:t>
            </a:r>
            <a:endParaRPr lang="en-US" sz="1350" dirty="0"/>
          </a:p>
        </p:txBody>
      </p:sp>
      <p:sp>
        <p:nvSpPr>
          <p:cNvPr id="15" name="Text 13"/>
          <p:cNvSpPr/>
          <p:nvPr/>
        </p:nvSpPr>
        <p:spPr>
          <a:xfrm>
            <a:off x="932688" y="3886200"/>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Review published job-fraud-detection research to validate or adjust the current 0.6 / 0.3 / 0.1 weighting, rather than relying on an educated guess.</a:t>
            </a:r>
            <a:endParaRPr lang="en-US" sz="1080" dirty="0"/>
          </a:p>
        </p:txBody>
      </p:sp>
      <p:sp>
        <p:nvSpPr>
          <p:cNvPr id="16" name="Shape 14"/>
          <p:cNvSpPr/>
          <p:nvPr/>
        </p:nvSpPr>
        <p:spPr>
          <a:xfrm>
            <a:off x="6309360" y="3355848"/>
            <a:ext cx="5440680" cy="1417320"/>
          </a:xfrm>
          <a:prstGeom prst="roundRect">
            <a:avLst>
              <a:gd name="adj" fmla="val 4516"/>
            </a:avLst>
          </a:prstGeom>
          <a:solidFill>
            <a:srgbClr val="1B2333"/>
          </a:solidFill>
        </p:spPr>
        <p:txBody>
          <a:bodyPr/>
          <a:lstStyle/>
          <a:p>
            <a:endParaRPr lang="en-US"/>
          </a:p>
        </p:txBody>
      </p:sp>
      <p:sp>
        <p:nvSpPr>
          <p:cNvPr id="17" name="Shape 15"/>
          <p:cNvSpPr/>
          <p:nvPr/>
        </p:nvSpPr>
        <p:spPr>
          <a:xfrm>
            <a:off x="6510528" y="3557016"/>
            <a:ext cx="73152" cy="1014984"/>
          </a:xfrm>
          <a:prstGeom prst="roundRect">
            <a:avLst/>
          </a:prstGeom>
          <a:solidFill>
            <a:srgbClr val="057642"/>
          </a:solidFill>
        </p:spPr>
        <p:txBody>
          <a:bodyPr/>
          <a:lstStyle/>
          <a:p>
            <a:endParaRPr lang="en-US"/>
          </a:p>
        </p:txBody>
      </p:sp>
      <p:sp>
        <p:nvSpPr>
          <p:cNvPr id="18" name="Text 16"/>
          <p:cNvSpPr/>
          <p:nvPr/>
        </p:nvSpPr>
        <p:spPr>
          <a:xfrm>
            <a:off x="6693408" y="3502152"/>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Fix the known scraping gaps</a:t>
            </a:r>
            <a:endParaRPr lang="en-US" sz="1350" dirty="0"/>
          </a:p>
        </p:txBody>
      </p:sp>
      <p:sp>
        <p:nvSpPr>
          <p:cNvPr id="19" name="Text 17"/>
          <p:cNvSpPr/>
          <p:nvPr/>
        </p:nvSpPr>
        <p:spPr>
          <a:xfrm>
            <a:off x="6693408" y="3886200"/>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Resolve salary under-reporting and continue hardening the scraper against LinkedIn layout changes.</a:t>
            </a:r>
            <a:endParaRPr lang="en-US" sz="1080" dirty="0"/>
          </a:p>
        </p:txBody>
      </p:sp>
      <p:sp>
        <p:nvSpPr>
          <p:cNvPr id="20" name="Shape 18"/>
          <p:cNvSpPr/>
          <p:nvPr/>
        </p:nvSpPr>
        <p:spPr>
          <a:xfrm>
            <a:off x="548640" y="4974336"/>
            <a:ext cx="5440680" cy="1417320"/>
          </a:xfrm>
          <a:prstGeom prst="roundRect">
            <a:avLst>
              <a:gd name="adj" fmla="val 4516"/>
            </a:avLst>
          </a:prstGeom>
          <a:solidFill>
            <a:srgbClr val="1B2333"/>
          </a:solidFill>
        </p:spPr>
        <p:txBody>
          <a:bodyPr/>
          <a:lstStyle/>
          <a:p>
            <a:endParaRPr lang="en-US"/>
          </a:p>
        </p:txBody>
      </p:sp>
      <p:sp>
        <p:nvSpPr>
          <p:cNvPr id="21" name="Shape 19"/>
          <p:cNvSpPr/>
          <p:nvPr/>
        </p:nvSpPr>
        <p:spPr>
          <a:xfrm>
            <a:off x="749808" y="5175504"/>
            <a:ext cx="73152" cy="1014984"/>
          </a:xfrm>
          <a:prstGeom prst="roundRect">
            <a:avLst/>
          </a:prstGeom>
          <a:solidFill>
            <a:srgbClr val="057642"/>
          </a:solidFill>
        </p:spPr>
        <p:txBody>
          <a:bodyPr/>
          <a:lstStyle/>
          <a:p>
            <a:endParaRPr lang="en-US"/>
          </a:p>
        </p:txBody>
      </p:sp>
      <p:sp>
        <p:nvSpPr>
          <p:cNvPr id="22" name="Text 20"/>
          <p:cNvSpPr/>
          <p:nvPr/>
        </p:nvSpPr>
        <p:spPr>
          <a:xfrm>
            <a:off x="932688" y="5120640"/>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Move off localhost</a:t>
            </a:r>
            <a:endParaRPr lang="en-US" sz="1350" dirty="0"/>
          </a:p>
        </p:txBody>
      </p:sp>
      <p:sp>
        <p:nvSpPr>
          <p:cNvPr id="23" name="Text 21"/>
          <p:cNvSpPr/>
          <p:nvPr/>
        </p:nvSpPr>
        <p:spPr>
          <a:xfrm>
            <a:off x="932688" y="5504688"/>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Choose a hosting provider, enable HTTPS, and prepare the Chrome Web Store submission + privacy policy.</a:t>
            </a:r>
            <a:endParaRPr lang="en-US" sz="1080" dirty="0"/>
          </a:p>
        </p:txBody>
      </p:sp>
      <p:sp>
        <p:nvSpPr>
          <p:cNvPr id="24" name="Shape 22"/>
          <p:cNvSpPr/>
          <p:nvPr/>
        </p:nvSpPr>
        <p:spPr>
          <a:xfrm>
            <a:off x="6309360" y="4974336"/>
            <a:ext cx="5440680" cy="1417320"/>
          </a:xfrm>
          <a:prstGeom prst="roundRect">
            <a:avLst>
              <a:gd name="adj" fmla="val 4516"/>
            </a:avLst>
          </a:prstGeom>
          <a:solidFill>
            <a:srgbClr val="1B2333"/>
          </a:solidFill>
        </p:spPr>
        <p:txBody>
          <a:bodyPr/>
          <a:lstStyle/>
          <a:p>
            <a:endParaRPr lang="en-US"/>
          </a:p>
        </p:txBody>
      </p:sp>
      <p:sp>
        <p:nvSpPr>
          <p:cNvPr id="25" name="Shape 23"/>
          <p:cNvSpPr/>
          <p:nvPr/>
        </p:nvSpPr>
        <p:spPr>
          <a:xfrm>
            <a:off x="6510528" y="5175504"/>
            <a:ext cx="73152" cy="1014984"/>
          </a:xfrm>
          <a:prstGeom prst="roundRect">
            <a:avLst/>
          </a:prstGeom>
          <a:solidFill>
            <a:srgbClr val="057642"/>
          </a:solidFill>
        </p:spPr>
        <p:txBody>
          <a:bodyPr/>
          <a:lstStyle/>
          <a:p>
            <a:endParaRPr lang="en-US"/>
          </a:p>
        </p:txBody>
      </p:sp>
      <p:sp>
        <p:nvSpPr>
          <p:cNvPr id="26" name="Text 24"/>
          <p:cNvSpPr/>
          <p:nvPr/>
        </p:nvSpPr>
        <p:spPr>
          <a:xfrm>
            <a:off x="6693408" y="5120640"/>
            <a:ext cx="4846320" cy="384048"/>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Wire up real email delivery</a:t>
            </a:r>
            <a:endParaRPr lang="en-US" sz="1350" dirty="0"/>
          </a:p>
        </p:txBody>
      </p:sp>
      <p:sp>
        <p:nvSpPr>
          <p:cNvPr id="27" name="Text 25"/>
          <p:cNvSpPr/>
          <p:nvPr/>
        </p:nvSpPr>
        <p:spPr>
          <a:xfrm>
            <a:off x="6693408" y="5504688"/>
            <a:ext cx="4846320" cy="822960"/>
          </a:xfrm>
          <a:prstGeom prst="rect">
            <a:avLst/>
          </a:prstGeom>
          <a:noFill/>
        </p:spPr>
        <p:txBody>
          <a:bodyPr wrap="square" lIns="0" tIns="0" rIns="0" bIns="0" rtlCol="0" anchor="ctr"/>
          <a:lstStyle/>
          <a:p>
            <a:pPr marL="0" indent="0">
              <a:lnSpc>
                <a:spcPct val="115000"/>
              </a:lnSpc>
              <a:buNone/>
            </a:pPr>
            <a:r>
              <a:rPr lang="en-US" sz="1080" dirty="0">
                <a:solidFill>
                  <a:srgbClr val="AAB8CC"/>
                </a:solidFill>
                <a:latin typeface="Calibri" panose="020F0502020204030204" pitchFamily="34" charset="0"/>
                <a:ea typeface="Calibri" panose="020F0502020204030204" pitchFamily="34" charset="-122"/>
                <a:cs typeface="Calibri" panose="020F0502020204030204" pitchFamily="34" charset="-120"/>
              </a:rPr>
              <a:t>Integrate Nodemailer or SendGrid so deadline reminders and Contact Us messages actually reach people.</a:t>
            </a:r>
            <a:endParaRPr lang="en-US" sz="1080" dirty="0"/>
          </a:p>
        </p:txBody>
      </p:sp>
      <p:sp>
        <p:nvSpPr>
          <p:cNvPr id="29" name="Text 27"/>
          <p:cNvSpPr/>
          <p:nvPr/>
        </p:nvSpPr>
        <p:spPr>
          <a:xfrm>
            <a:off x="713232" y="6355080"/>
            <a:ext cx="10735056" cy="566928"/>
          </a:xfrm>
          <a:prstGeom prst="rect">
            <a:avLst/>
          </a:prstGeom>
          <a:noFill/>
        </p:spPr>
        <p:txBody>
          <a:bodyPr wrap="square" lIns="0" tIns="0" rIns="0" bIns="0" rtlCol="0" anchor="ctr"/>
          <a:lstStyle/>
          <a:p>
            <a:pPr marL="0" indent="0">
              <a:buNone/>
            </a:pPr>
            <a:endParaRPr lang="en-US" sz="1100" dirty="0"/>
          </a:p>
        </p:txBody>
      </p:sp>
      <p:sp>
        <p:nvSpPr>
          <p:cNvPr id="30" name="Text 28"/>
          <p:cNvSpPr/>
          <p:nvPr/>
        </p:nvSpPr>
        <p:spPr>
          <a:xfrm>
            <a:off x="11338560" y="6537960"/>
            <a:ext cx="640080" cy="274320"/>
          </a:xfrm>
          <a:prstGeom prst="rect">
            <a:avLst/>
          </a:prstGeom>
          <a:noFill/>
        </p:spPr>
        <p:txBody>
          <a:bodyPr wrap="square" lIns="0" tIns="0" rIns="0" bIns="0" rtlCol="0" anchor="ctr"/>
          <a:lstStyle/>
          <a:p>
            <a:pPr marL="0" indent="0" algn="r">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10 / 10</a:t>
            </a:r>
            <a:endParaRPr lang="en-US" sz="1000" dirty="0"/>
          </a:p>
        </p:txBody>
      </p:sp>
      <p:sp>
        <p:nvSpPr>
          <p:cNvPr id="31" name="Text 29"/>
          <p:cNvSpPr/>
          <p:nvPr/>
        </p:nvSpPr>
        <p:spPr>
          <a:xfrm>
            <a:off x="457200" y="6537960"/>
            <a:ext cx="2743200" cy="274320"/>
          </a:xfrm>
          <a:prstGeom prst="rect">
            <a:avLst/>
          </a:prstGeom>
          <a:noFill/>
        </p:spPr>
        <p:txBody>
          <a:bodyPr wrap="square" lIns="0" tIns="0" rIns="0" bIns="0" rtlCol="0" anchor="ctr"/>
          <a:lstStyle/>
          <a:p>
            <a:pPr marL="0" indent="0">
              <a:buNone/>
            </a:pPr>
            <a:r>
              <a:rPr lang="en-US" sz="1000" dirty="0">
                <a:solidFill>
                  <a:srgbClr val="666666"/>
                </a:solidFill>
                <a:latin typeface="Calibri" panose="020F0502020204030204" pitchFamily="34" charset="0"/>
                <a:ea typeface="Calibri" panose="020F0502020204030204" pitchFamily="34" charset="-122"/>
                <a:cs typeface="Calibri" panose="020F0502020204030204" pitchFamily="34" charset="-120"/>
              </a:rPr>
              <a:t>NokriExtenddd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3321</Words>
  <Application>Microsoft Office PowerPoint</Application>
  <PresentationFormat>Custom</PresentationFormat>
  <Paragraphs>210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Amna Mahboob</cp:lastModifiedBy>
  <cp:revision>10</cp:revision>
  <dcterms:created xsi:type="dcterms:W3CDTF">2026-07-26T06:59:00Z</dcterms:created>
  <dcterms:modified xsi:type="dcterms:W3CDTF">2026-07-30T06:56:33Z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78CAF33CBCF946619FBC914B1E8E39CF_12</vt:lpwstr>
  </property>
</Properties>
</file>