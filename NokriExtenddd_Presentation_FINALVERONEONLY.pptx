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1" r:id="rId8"/>
    <p:sldId id="264" r:id="rId9"/>
    <p:sldId id="265" r:id="rId10"/>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56" y="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Good morning, everyone. My name is Amna Mahboob, and today I'll be presenting my project, NokriExtenddd, a fake job detector for LinkedIn.</a:t>
            </a:r>
            <a:endParaRPr lang="en-US" altLang="en-US" dirty="0"/>
          </a:p>
          <a:p>
            <a:r>
              <a:rPr lang="en-US" altLang="en-US" dirty="0"/>
              <a:t>It's a Chrome extension that automatically checks LinkedIn job postings for signs of fraud, right where you're already browsing.</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Let me start with why this project matters and honestly, it started from something personal. When I was applying for jobs and internships myself, I had to do a lot of my own manual research just to check whether a posting was legitimate — and at one point, I very nearly applied to one that turned out to be a scam. That experience is really what pushed me to build this.</a:t>
            </a:r>
            <a:endParaRPr lang="en-US" altLang="en-US" dirty="0"/>
          </a:p>
          <a:p>
            <a:r>
              <a:rPr lang="en-US" altLang="en-US" dirty="0"/>
              <a:t>More broadly, fake job postings and internship scams are a real, growing problem — and the people most likely to fall for them are students and early-career job seekers, because they have the least experience spotting red flags.</a:t>
            </a:r>
            <a:endParaRPr lang="en-US" altLang="en-US" dirty="0"/>
          </a:p>
          <a:p>
            <a:r>
              <a:rPr lang="en-US" altLang="en-US" dirty="0"/>
              <a:t>Right now, if you want to check whether a company is legitimate, you have to leave LinkedIn, search separately, and cross-reference information yourself. Most people don't bother — they just apply, or worse, they get scammed, the same way I almost did.</a:t>
            </a:r>
            <a:endParaRPr lang="en-US" altLang="en-US" dirty="0"/>
          </a:p>
          <a:p>
            <a:r>
              <a:rPr lang="en-US" altLang="en-US" dirty="0"/>
              <a:t>And LinkedIn itself doesn't give you any kind of fraud score. There's no trust signal at all. So the objective of this project was simple: give every job seeker an automatic, real-time trust signal on the exact posting they're viewing — no extra research required.</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Before I get into how it works, let me quickly explain what the system is actually built from because it's not one program, it's seven small pieces working together, like a small team.</a:t>
            </a:r>
            <a:endParaRPr lang="en-US" altLang="en-US" dirty="0"/>
          </a:p>
          <a:p>
            <a:r>
              <a:rPr lang="en-US" altLang="en-US" dirty="0"/>
              <a:t>"There's the Chrome Extension — that's the part the user actually sees and interacts with in their browser. It reads the job posting and shows the result."</a:t>
            </a:r>
            <a:endParaRPr lang="en-US" altLang="en-US" dirty="0"/>
          </a:p>
          <a:p>
            <a:r>
              <a:rPr lang="en-US" altLang="en-US" dirty="0"/>
              <a:t>"Behind that is a backend server, built with Node.js — think of this as the 'brain' that receives information, makes decisions, and stores it. It talks to a database, PostgreSQL, which is just where all the information is permanently saved — user accounts, scores, saved jobs, and so on."</a:t>
            </a:r>
            <a:endParaRPr lang="en-US" altLang="en-US" dirty="0"/>
          </a:p>
          <a:p>
            <a:r>
              <a:rPr lang="en-US" altLang="en-US" dirty="0"/>
              <a:t>"For the actual fraud-detection intelligence, I trained a machine learning model in Python, and that model runs inside a small separate service called Flask, which the main backend talks to whenever it needs a prediction."</a:t>
            </a:r>
            <a:endParaRPr lang="en-US" altLang="en-US" dirty="0"/>
          </a:p>
          <a:p>
            <a:r>
              <a:rPr lang="en-US" altLang="en-US" dirty="0"/>
              <a:t>"One more thing worth saying directly: you won't see any hardware or hosting specifications on this slide, and that's on purpose, not something I forgot. This is a working prototype that runs entirely on my own laptop right now — none of it is deployed to a live server. Before something like this could go up on the Chrome Web Store, it still needs further refinement and a proper hosting setup, which is actually one of the next steps I'll come back to later."</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"So how does this actually work end-to-end? When you open a job posting on LinkedIn, five things happen in under two seconds."</a:t>
            </a:r>
            <a:endParaRPr lang="en-US" altLang="en-US" dirty="0"/>
          </a:p>
          <a:p>
            <a:r>
              <a:rPr lang="en-US" altLang="en-US" dirty="0"/>
              <a:t>"First, the extension scrapes — meaning it reads — nine pieces of information off the page: job title, company, description, and so on."</a:t>
            </a:r>
            <a:endParaRPr lang="en-US" altLang="en-US" dirty="0"/>
          </a:p>
          <a:p>
            <a:r>
              <a:rPr lang="en-US" altLang="en-US" dirty="0"/>
              <a:t>"That information is sent to the backend, which first checks whether you've used up your monthly quota. If you're within your limit, it runs three checks at the same time: the machine learning model gives a fraud probability, a blacklist check sees if the company has already been flagged by other users, and a set of simple rule checks look for obvious red flags — like a missing job description."</a:t>
            </a:r>
            <a:endParaRPr lang="en-US" altLang="en-US" dirty="0"/>
          </a:p>
          <a:p>
            <a:r>
              <a:rPr lang="en-US" altLang="en-US" dirty="0"/>
              <a:t>"These three signals are combined using a weighted formula — you can see it here: sixty percent machine learning, thirty percent blacklist, ten percent rule checks."</a:t>
            </a:r>
            <a:endParaRPr lang="en-US" altLang="en-US" dirty="0"/>
          </a:p>
          <a:p>
            <a:r>
              <a:rPr lang="en-US" altLang="en-US" dirty="0"/>
              <a:t>[Point to the formula on screen]</a:t>
            </a:r>
            <a:endParaRPr lang="en-US" altLang="en-US" dirty="0"/>
          </a:p>
          <a:p>
            <a:r>
              <a:rPr lang="en-US" altLang="en-US" dirty="0"/>
              <a:t>"I weighted the machine learning model highest because it's the most sophisticated signal, but I didn't want to rely on it completely, since it was trained on a relatively small dataset — so the blacklist and rule checks act as a safety net."</a:t>
            </a:r>
            <a:endParaRPr lang="en-US" altLang="en-US" dirty="0"/>
          </a:p>
          <a:p>
            <a:r>
              <a:rPr lang="en-US" altLang="en-US" dirty="0"/>
              <a:t>"I also deliberately chose a traffic-light color scheme for the result — green, amber, red — because it's something everyone already reads instinctively. The amber 'use caution' band isn't just a middle option for looks — I put it there on purpose, to represent genuine uncertainty, so a borderline posting doesn't get forced into a falsely confident 'safe' or 'unsafe' label."</a:t>
            </a:r>
            <a:endParaRPr lang="en-US" altLang="en-US" dirty="0"/>
          </a:p>
          <a:p>
            <a:r>
              <a:rPr lang="en-US" altLang="en-US" dirty="0"/>
              <a:t>"That combined score becomes what the user sees as a Trust Score — a percentage from zero to a hundred, color-coded green, amber, or red, so it reads intuitively, like a battery indicator. I chose to show a Trust Score rather than the internal Fraud Score specifically because a higher number meaning better reads far more naturally to users than a higher number meaning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"I trained it on 202 labeled job postings — meaning 202 real examples where I already knew which were real and which were fake. I combined the text fields from each posting and converted them into numbers the model could actually process, using a technique called TF-IDF."</a:t>
            </a:r>
            <a:endParaRPr lang="en-US" altLang="en-US" dirty="0"/>
          </a:p>
          <a:p>
            <a:r>
              <a:rPr lang="en-US" altLang="en-US" dirty="0"/>
              <a:t>"It's a way of turning words into numbers based on how important and how unusual they are in a piece of text — so words that show up in almost every posting, like 'the' or 'and,' get ignored, while distinctive words that might signal a scam get more weight."</a:t>
            </a:r>
            <a:endParaRPr lang="en-US" altLang="en-US" dirty="0"/>
          </a:p>
          <a:p>
            <a:r>
              <a:rPr lang="en-US" altLang="en-US" dirty="0"/>
              <a:t>"The model itself is a Logistic Regression — a well-established, simple algorithm that's good at yes/no style predictions, in this case, 'is this fake or not.' I didn't use deep learning because with only 202 examples, a more complex model would have just memorized the data rather than learned general patterns — that's called overfitting."</a:t>
            </a:r>
            <a:endParaRPr lang="en-US" altLang="en-US" dirty="0"/>
          </a:p>
          <a:p>
            <a:r>
              <a:rPr lang="en-US" altLang="en-US" dirty="0"/>
              <a:t>"I split the data eighty-twenty — eighty percent to train the model, twenty percent, or 41 postings, held back to test it fairly, on data it had never seen."</a:t>
            </a:r>
            <a:endParaRPr lang="en-US" altLang="en-US" dirty="0"/>
          </a:p>
          <a:p>
            <a:r>
              <a:rPr lang="en-US" altLang="en-US" dirty="0"/>
              <a:t>"To evaluate it fairly, I used something called a confusion matrix — basically a table comparing what the model predicted against what actually was true, so I could see exactly where it got things right or wrong, not just one overall percentage."</a:t>
            </a:r>
            <a:endParaRPr lang="en-US" altLang="en-US" dirty="0"/>
          </a:p>
          <a:p>
            <a:r>
              <a:rPr lang="en-US" altLang="en-US" dirty="0"/>
              <a:t>[Point to the results panel]</a:t>
            </a:r>
            <a:endParaRPr lang="en-US" altLang="en-US" dirty="0"/>
          </a:p>
          <a:p>
            <a:r>
              <a:rPr lang="en-US" altLang="en-US" dirty="0"/>
              <a:t>"On that held-out test set, it scored 0.758 on something called the F2 score. I specifically chose F2 instead of the more common F1 score, because in fraud detection, missing an actual fake posting is worse than occasionally over-flagging a real one — F2 puts more weight on catching fakes, even at the cost of some false alarms."</a:t>
            </a:r>
            <a:endParaRPr lang="en-US" altLang="en-US" dirty="0"/>
          </a:p>
          <a:p>
            <a:r>
              <a:rPr lang="en-US" altLang="en-US" dirty="0"/>
              <a:t>"It correctly caught 10 out of 14 fake postings, and correctly identified all 27 real postings, for 90% overall accuracy. But I want to be upfront: 202 rows is a small dataset, so these numbers carry real statistical noise — which is exactly why I didn't let the model act alone in the final scoring formula."</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"First, brittle web scraping. LinkedIn auto-generates its CSS styling class names, and they change constantly — sometimes even between two loads of the exact same page in the exact same session, because they're generated fresh at build time rather than deliberately named. My first scraper broke almost immediately because it depended on one of those exact names, and hard-coding any specific class name was doomed to break sooner or later. I fixed it by matching on the structure of the page instead — for example, 'find the link that points to a job view URL' rather than 'find the element with this specific class name.' That's far more stable, because that structural pattern stays the same across LinkedIn's redesigns even when the styling underneath keeps changing."</a:t>
            </a:r>
            <a:endParaRPr lang="en-US" altLang="en-US" dirty="0"/>
          </a:p>
          <a:p>
            <a:r>
              <a:rPr lang="en-US" altLang="en-US" dirty="0"/>
              <a:t>"Second, salary scraping is still incomplete. I use a pattern-matching technique to pull salary numbers out of free text, and it only works when the posting states salary in a format I anticipated. This is a genuine, unresolved limitation I'm carrying forward as a next step, not something I'm hiding."</a:t>
            </a:r>
            <a:endParaRPr lang="en-US" altLang="en-US" dirty="0"/>
          </a:p>
          <a:p>
            <a:r>
              <a:rPr lang="en-US" altLang="en-US" dirty="0"/>
              <a:t>"Third — and this one taught me the most — a silent timezone bug. Saved deadlines were quietly shifting back by one day. To explain a bit more: PostgreSQL was storing the date correctly, but the problem was in the middle layer — the Node.js database driver automatically converts date values based on a timezone when it reads them out of the database, and again when it sends them back out as text, and those two conversions together quietly pushed the date back by a full day. There was no crash and no error message anywhere — the data always looked technically valid on the surface — so this could easily have shipped exactly like that, and I'd have had no idea until a reminder simply failed to fire on the wrong day."</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"Looking ahead, the clearest next steps are: building a much larger labeled dataset — well beyond 202 rows — retraining the model on it, extending the system to eventually handle free-text feed posts, fixing the salary-scraping gap, and — as I mentioned earlier — finally moving this off my laptop onto real hosting with HTTPS and a proper email service, so reminders and contact messages actually reach people and it's ready for something like the Chrome Web Store."</a:t>
            </a:r>
            <a:endParaRPr lang="en-US" altLang="en-US" dirty="0"/>
          </a:p>
          <a:p>
            <a:r>
              <a:rPr lang="en-US" altLang="en-US" dirty="0"/>
              <a:t>"That's NokriExtenddd — thank you. I'm happy to answer any questions."</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 name="Shape 0"/>
          <p:cNvSpPr/>
          <p:nvPr/>
        </p:nvSpPr>
        <p:spPr>
          <a:xfrm>
            <a:off x="10378440" y="502920"/>
            <a:ext cx="63734" cy="63734"/>
          </a:xfrm>
          <a:prstGeom prst="rect">
            <a:avLst/>
          </a:prstGeom>
          <a:solidFill>
            <a:srgbClr val="0A66C2"/>
          </a:solidFill>
        </p:spPr>
        <p:txBody>
          <a:bodyPr/>
          <a:lstStyle/>
          <a:p>
            <a:endParaRPr lang="en-US"/>
          </a:p>
        </p:txBody>
      </p:sp>
      <p:sp>
        <p:nvSpPr>
          <p:cNvPr id="3" name="Shape 1"/>
          <p:cNvSpPr/>
          <p:nvPr/>
        </p:nvSpPr>
        <p:spPr>
          <a:xfrm>
            <a:off x="10844784" y="502920"/>
            <a:ext cx="63734" cy="63734"/>
          </a:xfrm>
          <a:prstGeom prst="rect">
            <a:avLst/>
          </a:prstGeom>
          <a:solidFill>
            <a:srgbClr val="0A66C2"/>
          </a:solidFill>
        </p:spPr>
        <p:txBody>
          <a:bodyPr/>
          <a:lstStyle/>
          <a:p>
            <a:endParaRPr lang="en-US"/>
          </a:p>
        </p:txBody>
      </p:sp>
      <p:sp>
        <p:nvSpPr>
          <p:cNvPr id="4" name="Shape 2"/>
          <p:cNvSpPr/>
          <p:nvPr/>
        </p:nvSpPr>
        <p:spPr>
          <a:xfrm>
            <a:off x="10456164" y="580644"/>
            <a:ext cx="63734" cy="63734"/>
          </a:xfrm>
          <a:prstGeom prst="rect">
            <a:avLst/>
          </a:prstGeom>
          <a:solidFill>
            <a:srgbClr val="0A66C2"/>
          </a:solidFill>
        </p:spPr>
        <p:txBody>
          <a:bodyPr/>
          <a:lstStyle/>
          <a:p>
            <a:endParaRPr lang="en-US"/>
          </a:p>
        </p:txBody>
      </p:sp>
      <p:sp>
        <p:nvSpPr>
          <p:cNvPr id="5" name="Shape 3"/>
          <p:cNvSpPr/>
          <p:nvPr/>
        </p:nvSpPr>
        <p:spPr>
          <a:xfrm>
            <a:off x="10767060" y="580644"/>
            <a:ext cx="63734" cy="63734"/>
          </a:xfrm>
          <a:prstGeom prst="rect">
            <a:avLst/>
          </a:prstGeom>
          <a:solidFill>
            <a:srgbClr val="0A66C2"/>
          </a:solidFill>
        </p:spPr>
        <p:txBody>
          <a:bodyPr/>
          <a:lstStyle/>
          <a:p>
            <a:endParaRPr lang="en-US"/>
          </a:p>
        </p:txBody>
      </p:sp>
      <p:sp>
        <p:nvSpPr>
          <p:cNvPr id="6" name="Shape 4"/>
          <p:cNvSpPr/>
          <p:nvPr/>
        </p:nvSpPr>
        <p:spPr>
          <a:xfrm>
            <a:off x="10533888" y="658368"/>
            <a:ext cx="63734" cy="63734"/>
          </a:xfrm>
          <a:prstGeom prst="rect">
            <a:avLst/>
          </a:prstGeom>
          <a:solidFill>
            <a:srgbClr val="0A66C2"/>
          </a:solidFill>
        </p:spPr>
        <p:txBody>
          <a:bodyPr/>
          <a:lstStyle/>
          <a:p>
            <a:endParaRPr lang="en-US"/>
          </a:p>
        </p:txBody>
      </p:sp>
      <p:sp>
        <p:nvSpPr>
          <p:cNvPr id="7" name="Shape 5"/>
          <p:cNvSpPr/>
          <p:nvPr/>
        </p:nvSpPr>
        <p:spPr>
          <a:xfrm>
            <a:off x="10689336" y="658368"/>
            <a:ext cx="63734" cy="63734"/>
          </a:xfrm>
          <a:prstGeom prst="rect">
            <a:avLst/>
          </a:prstGeom>
          <a:solidFill>
            <a:srgbClr val="0A66C2"/>
          </a:solidFill>
        </p:spPr>
        <p:txBody>
          <a:bodyPr/>
          <a:lstStyle/>
          <a:p>
            <a:endParaRPr lang="en-US"/>
          </a:p>
        </p:txBody>
      </p:sp>
      <p:sp>
        <p:nvSpPr>
          <p:cNvPr id="8" name="Shape 6"/>
          <p:cNvSpPr/>
          <p:nvPr/>
        </p:nvSpPr>
        <p:spPr>
          <a:xfrm>
            <a:off x="10611612" y="736092"/>
            <a:ext cx="63734" cy="63734"/>
          </a:xfrm>
          <a:prstGeom prst="rect">
            <a:avLst/>
          </a:prstGeom>
          <a:solidFill>
            <a:srgbClr val="0A66C2"/>
          </a:solidFill>
        </p:spPr>
        <p:txBody>
          <a:bodyPr/>
          <a:lstStyle/>
          <a:p>
            <a:endParaRPr lang="en-US"/>
          </a:p>
        </p:txBody>
      </p:sp>
      <p:sp>
        <p:nvSpPr>
          <p:cNvPr id="9" name="Shape 7"/>
          <p:cNvSpPr/>
          <p:nvPr/>
        </p:nvSpPr>
        <p:spPr>
          <a:xfrm>
            <a:off x="10533888" y="813816"/>
            <a:ext cx="63734" cy="63734"/>
          </a:xfrm>
          <a:prstGeom prst="rect">
            <a:avLst/>
          </a:prstGeom>
          <a:solidFill>
            <a:srgbClr val="0A66C2"/>
          </a:solidFill>
        </p:spPr>
        <p:txBody>
          <a:bodyPr/>
          <a:lstStyle/>
          <a:p>
            <a:endParaRPr lang="en-US"/>
          </a:p>
        </p:txBody>
      </p:sp>
      <p:sp>
        <p:nvSpPr>
          <p:cNvPr id="10" name="Shape 8"/>
          <p:cNvSpPr/>
          <p:nvPr/>
        </p:nvSpPr>
        <p:spPr>
          <a:xfrm>
            <a:off x="10689336" y="813816"/>
            <a:ext cx="63734" cy="63734"/>
          </a:xfrm>
          <a:prstGeom prst="rect">
            <a:avLst/>
          </a:prstGeom>
          <a:solidFill>
            <a:srgbClr val="0A66C2"/>
          </a:solidFill>
        </p:spPr>
        <p:txBody>
          <a:bodyPr/>
          <a:lstStyle/>
          <a:p>
            <a:endParaRPr lang="en-US"/>
          </a:p>
        </p:txBody>
      </p:sp>
      <p:sp>
        <p:nvSpPr>
          <p:cNvPr id="11" name="Shape 9"/>
          <p:cNvSpPr/>
          <p:nvPr/>
        </p:nvSpPr>
        <p:spPr>
          <a:xfrm>
            <a:off x="10456164" y="891540"/>
            <a:ext cx="63734" cy="63734"/>
          </a:xfrm>
          <a:prstGeom prst="rect">
            <a:avLst/>
          </a:prstGeom>
          <a:solidFill>
            <a:srgbClr val="0A66C2"/>
          </a:solidFill>
        </p:spPr>
        <p:txBody>
          <a:bodyPr/>
          <a:lstStyle/>
          <a:p>
            <a:endParaRPr lang="en-US"/>
          </a:p>
        </p:txBody>
      </p:sp>
      <p:sp>
        <p:nvSpPr>
          <p:cNvPr id="12" name="Shape 10"/>
          <p:cNvSpPr/>
          <p:nvPr/>
        </p:nvSpPr>
        <p:spPr>
          <a:xfrm>
            <a:off x="10767060" y="891540"/>
            <a:ext cx="63734" cy="63734"/>
          </a:xfrm>
          <a:prstGeom prst="rect">
            <a:avLst/>
          </a:prstGeom>
          <a:solidFill>
            <a:srgbClr val="0A66C2"/>
          </a:solidFill>
        </p:spPr>
        <p:txBody>
          <a:bodyPr/>
          <a:lstStyle/>
          <a:p>
            <a:endParaRPr lang="en-US"/>
          </a:p>
        </p:txBody>
      </p:sp>
      <p:sp>
        <p:nvSpPr>
          <p:cNvPr id="13" name="Shape 11"/>
          <p:cNvSpPr/>
          <p:nvPr/>
        </p:nvSpPr>
        <p:spPr>
          <a:xfrm>
            <a:off x="10378440" y="969264"/>
            <a:ext cx="63734" cy="63734"/>
          </a:xfrm>
          <a:prstGeom prst="rect">
            <a:avLst/>
          </a:prstGeom>
          <a:solidFill>
            <a:srgbClr val="0A66C2"/>
          </a:solidFill>
        </p:spPr>
        <p:txBody>
          <a:bodyPr/>
          <a:lstStyle/>
          <a:p>
            <a:endParaRPr lang="en-US"/>
          </a:p>
        </p:txBody>
      </p:sp>
      <p:sp>
        <p:nvSpPr>
          <p:cNvPr id="14" name="Shape 12"/>
          <p:cNvSpPr/>
          <p:nvPr/>
        </p:nvSpPr>
        <p:spPr>
          <a:xfrm>
            <a:off x="10844784" y="969264"/>
            <a:ext cx="63734" cy="63734"/>
          </a:xfrm>
          <a:prstGeom prst="rect">
            <a:avLst/>
          </a:prstGeom>
          <a:solidFill>
            <a:srgbClr val="0A66C2"/>
          </a:solidFill>
        </p:spPr>
        <p:txBody>
          <a:bodyPr/>
          <a:lstStyle/>
          <a:p>
            <a:endParaRPr lang="en-US"/>
          </a:p>
        </p:txBody>
      </p:sp>
      <p:sp>
        <p:nvSpPr>
          <p:cNvPr id="15" name="Shape 13"/>
          <p:cNvSpPr/>
          <p:nvPr/>
        </p:nvSpPr>
        <p:spPr>
          <a:xfrm>
            <a:off x="640080" y="2148840"/>
            <a:ext cx="777240" cy="777240"/>
          </a:xfrm>
          <a:prstGeom prst="roundRect">
            <a:avLst>
              <a:gd name="adj" fmla="val 18824"/>
            </a:avLst>
          </a:prstGeom>
          <a:solidFill>
            <a:srgbClr val="0A66C2"/>
          </a:solidFill>
        </p:spPr>
        <p:txBody>
          <a:bodyPr/>
          <a:lstStyle/>
          <a:p>
            <a:endParaRPr lang="en-US"/>
          </a:p>
        </p:txBody>
      </p:sp>
      <p:sp>
        <p:nvSpPr>
          <p:cNvPr id="16" name="Text 14"/>
          <p:cNvSpPr/>
          <p:nvPr/>
        </p:nvSpPr>
        <p:spPr>
          <a:xfrm>
            <a:off x="640080" y="2148840"/>
            <a:ext cx="777240" cy="777240"/>
          </a:xfrm>
          <a:prstGeom prst="rect">
            <a:avLst/>
          </a:prstGeom>
          <a:noFill/>
        </p:spPr>
        <p:txBody>
          <a:bodyPr wrap="square" lIns="0" tIns="0" rIns="0" bIns="0" rtlCol="0" anchor="ctr"/>
          <a:lstStyle/>
          <a:p>
            <a:pPr marL="0" indent="0" algn="ctr">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2400" dirty="0"/>
          </a:p>
        </p:txBody>
      </p:sp>
      <p:sp>
        <p:nvSpPr>
          <p:cNvPr id="17" name="Text 15"/>
          <p:cNvSpPr/>
          <p:nvPr/>
        </p:nvSpPr>
        <p:spPr>
          <a:xfrm>
            <a:off x="594360" y="3063240"/>
            <a:ext cx="10058400" cy="914400"/>
          </a:xfrm>
          <a:prstGeom prst="rect">
            <a:avLst/>
          </a:prstGeom>
          <a:noFill/>
        </p:spPr>
        <p:txBody>
          <a:bodyPr wrap="square" lIns="0" tIns="0" rIns="0" bIns="0" rtlCol="0" anchor="ctr"/>
          <a:lstStyle/>
          <a:p>
            <a:pPr marL="0" indent="0">
              <a:buNone/>
            </a:pPr>
            <a:r>
              <a:rPr lang="en-US" sz="46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NokriExtenddd</a:t>
            </a:r>
            <a:endParaRPr lang="en-US" sz="4600" dirty="0"/>
          </a:p>
        </p:txBody>
      </p:sp>
      <p:sp>
        <p:nvSpPr>
          <p:cNvPr id="18" name="Text 16"/>
          <p:cNvSpPr/>
          <p:nvPr/>
        </p:nvSpPr>
        <p:spPr>
          <a:xfrm>
            <a:off x="621792" y="3886200"/>
            <a:ext cx="10058400" cy="502920"/>
          </a:xfrm>
          <a:prstGeom prst="rect">
            <a:avLst/>
          </a:prstGeom>
          <a:noFill/>
        </p:spPr>
        <p:txBody>
          <a:bodyPr wrap="square" lIns="0" tIns="0" rIns="0" bIns="0" rtlCol="0" anchor="ctr"/>
          <a:lstStyle/>
          <a:p>
            <a:pPr marL="0" indent="0">
              <a:buNone/>
            </a:pPr>
            <a:r>
              <a:rPr lang="en-US" sz="2000" dirty="0">
                <a:solidFill>
                  <a:srgbClr val="C9D6E8"/>
                </a:solidFill>
                <a:latin typeface="Calibri" panose="020F0502020204030204" pitchFamily="34" charset="0"/>
                <a:ea typeface="Calibri" panose="020F0502020204030204" pitchFamily="34" charset="-122"/>
                <a:cs typeface="Calibri" panose="020F0502020204030204" pitchFamily="34" charset="-120"/>
              </a:rPr>
              <a:t>A Fake Job Detector for LinkedIn</a:t>
            </a:r>
            <a:endParaRPr lang="en-US" sz="2000" dirty="0"/>
          </a:p>
        </p:txBody>
      </p:sp>
      <p:sp>
        <p:nvSpPr>
          <p:cNvPr id="19" name="Text 17"/>
          <p:cNvSpPr/>
          <p:nvPr/>
        </p:nvSpPr>
        <p:spPr>
          <a:xfrm>
            <a:off x="621792" y="4434840"/>
            <a:ext cx="10058400" cy="365760"/>
          </a:xfrm>
          <a:prstGeom prst="rect">
            <a:avLst/>
          </a:prstGeom>
          <a:noFill/>
        </p:spPr>
        <p:txBody>
          <a:bodyPr wrap="square" lIns="0" tIns="0" rIns="0" bIns="0" rtlCol="0" anchor="ctr"/>
          <a:lstStyle/>
          <a:p>
            <a:pPr marL="0" indent="0">
              <a:buNone/>
            </a:pPr>
            <a:r>
              <a:rPr lang="en-US" sz="1250" dirty="0">
                <a:solidFill>
                  <a:srgbClr val="8FA3BF"/>
                </a:solidFill>
                <a:latin typeface="Calibri" panose="020F0502020204030204" pitchFamily="34" charset="0"/>
                <a:ea typeface="Calibri" panose="020F0502020204030204" pitchFamily="34" charset="-122"/>
                <a:cs typeface="Calibri" panose="020F0502020204030204" pitchFamily="34" charset="-120"/>
              </a:rPr>
              <a:t>Chrome Extension  ·  Node.js / Express  ·  PostgreSQL  ·  Python / scikit-learn  ·  Flask</a:t>
            </a:r>
            <a:endParaRPr lang="en-US" sz="1250" dirty="0"/>
          </a:p>
        </p:txBody>
      </p:sp>
      <p:sp>
        <p:nvSpPr>
          <p:cNvPr id="21" name="Text 19"/>
          <p:cNvSpPr/>
          <p:nvPr/>
        </p:nvSpPr>
        <p:spPr>
          <a:xfrm>
            <a:off x="786384" y="5623560"/>
            <a:ext cx="6986016" cy="566928"/>
          </a:xfrm>
          <a:prstGeom prst="rect">
            <a:avLst/>
          </a:prstGeom>
          <a:noFill/>
        </p:spPr>
        <p:txBody>
          <a:bodyPr wrap="square" lIns="0" tIns="0" rIns="0" bIns="0" rtlCol="0" anchor="ctr"/>
          <a:lstStyle/>
          <a:p>
            <a:r>
              <a:rPr lang="en-US" sz="1600" b="1" dirty="0">
                <a:solidFill>
                  <a:schemeClr val="bg1"/>
                </a:solidFill>
                <a:latin typeface="Calibri" panose="020F0502020204030204" pitchFamily="34" charset="0"/>
                <a:ea typeface="Calibri" panose="020F0502020204030204" pitchFamily="34" charset="-122"/>
                <a:cs typeface="Calibri" panose="020F0502020204030204" pitchFamily="34" charset="-120"/>
              </a:rPr>
              <a:t>Amna Mahboob (SP25-BED-015) </a:t>
            </a:r>
            <a:r>
              <a:rPr lang="en-US" sz="1600" dirty="0">
                <a:solidFill>
                  <a:schemeClr val="bg1"/>
                </a:solidFill>
                <a:latin typeface="Calibri" panose="020F0502020204030204" pitchFamily="34" charset="0"/>
                <a:ea typeface="Calibri" panose="020F0502020204030204" pitchFamily="34" charset="-122"/>
                <a:cs typeface="Calibri" panose="020F0502020204030204" pitchFamily="34" charset="-120"/>
              </a:rPr>
              <a:t>·  </a:t>
            </a:r>
            <a:r>
              <a:rPr lang="en-US" sz="1600" b="1" dirty="0">
                <a:solidFill>
                  <a:schemeClr val="bg1"/>
                </a:solidFill>
                <a:latin typeface="Calibri" panose="020F0502020204030204" pitchFamily="34" charset="0"/>
                <a:ea typeface="Calibri" panose="020F0502020204030204" pitchFamily="34" charset="-122"/>
                <a:cs typeface="Calibri" panose="020F0502020204030204" pitchFamily="34" charset="-120"/>
              </a:rPr>
              <a:t>SEAL Lab Project Under Mister Bilal Khalid Dar</a:t>
            </a:r>
            <a:endParaRPr lang="en-US" sz="1600" dirty="0">
              <a:solidFill>
                <a:schemeClr val="bg1"/>
              </a:solidFill>
            </a:endParaRPr>
          </a:p>
        </p:txBody>
      </p:sp>
      <p:sp>
        <p:nvSpPr>
          <p:cNvPr id="22" name="Text 20"/>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01 / 07</a:t>
            </a:r>
            <a:endParaRPr lang="en-US" sz="1000" dirty="0"/>
          </a:p>
        </p:txBody>
      </p:sp>
      <p:sp>
        <p:nvSpPr>
          <p:cNvPr id="23" name="Text 21"/>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347472" cy="347472"/>
          </a:xfrm>
          <a:prstGeom prst="roundRect">
            <a:avLst>
              <a:gd name="adj" fmla="val 21053"/>
            </a:avLst>
          </a:prstGeom>
          <a:solidFill>
            <a:srgbClr val="0A66C2"/>
          </a:solidFill>
        </p:spPr>
        <p:txBody>
          <a:bodyPr/>
          <a:lstStyle/>
          <a:p>
            <a:endParaRPr lang="en-US"/>
          </a:p>
        </p:txBody>
      </p:sp>
      <p:sp>
        <p:nvSpPr>
          <p:cNvPr id="3" name="Text 1"/>
          <p:cNvSpPr/>
          <p:nvPr/>
        </p:nvSpPr>
        <p:spPr>
          <a:xfrm>
            <a:off x="457200" y="38404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1300" dirty="0"/>
          </a:p>
        </p:txBody>
      </p:sp>
      <p:sp>
        <p:nvSpPr>
          <p:cNvPr id="4" name="Text 2"/>
          <p:cNvSpPr/>
          <p:nvPr/>
        </p:nvSpPr>
        <p:spPr>
          <a:xfrm>
            <a:off x="914400" y="347472"/>
            <a:ext cx="7315200" cy="274320"/>
          </a:xfrm>
          <a:prstGeom prst="rect">
            <a:avLst/>
          </a:prstGeom>
          <a:noFill/>
        </p:spPr>
        <p:txBody>
          <a:bodyPr wrap="square" lIns="0" tIns="0" rIns="0" bIns="0" rtlCol="0" anchor="ctr"/>
          <a:lstStyle/>
          <a:p>
            <a:pPr marL="0" indent="0">
              <a:buNone/>
            </a:pPr>
            <a:r>
              <a:rPr lang="en-US" sz="1100" b="1" kern="0" spc="100" dirty="0">
                <a:solidFill>
                  <a:srgbClr val="0A66C2"/>
                </a:solidFill>
                <a:latin typeface="Calibri" panose="020F0502020204030204" pitchFamily="34" charset="0"/>
                <a:ea typeface="Calibri" panose="020F0502020204030204" pitchFamily="34" charset="-122"/>
                <a:cs typeface="Calibri" panose="020F0502020204030204" pitchFamily="34" charset="-120"/>
              </a:rPr>
              <a:t>WHY THIS EXISTS</a:t>
            </a:r>
            <a:endParaRPr lang="en-US" sz="1100" dirty="0"/>
          </a:p>
        </p:txBody>
      </p:sp>
      <p:sp>
        <p:nvSpPr>
          <p:cNvPr id="5" name="Text 3"/>
          <p:cNvSpPr/>
          <p:nvPr/>
        </p:nvSpPr>
        <p:spPr>
          <a:xfrm>
            <a:off x="457200" y="658368"/>
            <a:ext cx="11247120" cy="594360"/>
          </a:xfrm>
          <a:prstGeom prst="rect">
            <a:avLst/>
          </a:prstGeom>
          <a:noFill/>
        </p:spPr>
        <p:txBody>
          <a:bodyPr wrap="square" lIns="0" tIns="0" rIns="0" bIns="0" rtlCol="0" anchor="ctr"/>
          <a:lstStyle/>
          <a:p>
            <a:pPr marL="0" indent="0">
              <a:buNone/>
            </a:pPr>
            <a:r>
              <a:rPr lang="en-US" sz="2800" b="1" dirty="0">
                <a:solidFill>
                  <a:srgbClr val="191919"/>
                </a:solidFill>
                <a:latin typeface="Calibri" panose="020F0502020204030204" pitchFamily="34" charset="0"/>
                <a:ea typeface="Calibri" panose="020F0502020204030204" pitchFamily="34" charset="-122"/>
                <a:cs typeface="Calibri" panose="020F0502020204030204" pitchFamily="34" charset="-120"/>
              </a:rPr>
              <a:t>Job seekers are the target of a growing scam economy</a:t>
            </a:r>
            <a:endParaRPr lang="en-US" sz="2800" dirty="0"/>
          </a:p>
        </p:txBody>
      </p:sp>
      <p:sp>
        <p:nvSpPr>
          <p:cNvPr id="6" name="Shape 4"/>
          <p:cNvSpPr/>
          <p:nvPr/>
        </p:nvSpPr>
        <p:spPr>
          <a:xfrm>
            <a:off x="457200" y="1691640"/>
            <a:ext cx="3611880" cy="2651760"/>
          </a:xfrm>
          <a:prstGeom prst="roundRect">
            <a:avLst>
              <a:gd name="adj" fmla="val 2759"/>
            </a:avLst>
          </a:prstGeom>
          <a:solidFill>
            <a:srgbClr val="F3F2EF"/>
          </a:solidFill>
          <a:ln w="9525">
            <a:solidFill>
              <a:srgbClr val="E0E0E0"/>
            </a:solidFill>
            <a:prstDash val="solid"/>
          </a:ln>
        </p:spPr>
        <p:txBody>
          <a:bodyPr/>
          <a:lstStyle/>
          <a:p>
            <a:endParaRPr lang="en-US"/>
          </a:p>
        </p:txBody>
      </p:sp>
      <p:sp>
        <p:nvSpPr>
          <p:cNvPr id="7" name="Shape 5"/>
          <p:cNvSpPr/>
          <p:nvPr/>
        </p:nvSpPr>
        <p:spPr>
          <a:xfrm>
            <a:off x="731520" y="1965960"/>
            <a:ext cx="502920" cy="502920"/>
          </a:xfrm>
          <a:prstGeom prst="ellipse">
            <a:avLst/>
          </a:prstGeom>
          <a:solidFill>
            <a:srgbClr val="0A66C2"/>
          </a:solidFill>
        </p:spPr>
        <p:txBody>
          <a:bodyPr/>
          <a:lstStyle/>
          <a:p>
            <a:endParaRPr lang="en-US"/>
          </a:p>
        </p:txBody>
      </p:sp>
      <p:sp>
        <p:nvSpPr>
          <p:cNvPr id="8" name="Text 6"/>
          <p:cNvSpPr/>
          <p:nvPr/>
        </p:nvSpPr>
        <p:spPr>
          <a:xfrm>
            <a:off x="731520" y="196596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2000" dirty="0"/>
          </a:p>
        </p:txBody>
      </p:sp>
      <p:sp>
        <p:nvSpPr>
          <p:cNvPr id="9" name="Text 7"/>
          <p:cNvSpPr/>
          <p:nvPr/>
        </p:nvSpPr>
        <p:spPr>
          <a:xfrm>
            <a:off x="731520" y="2651760"/>
            <a:ext cx="3063240" cy="822960"/>
          </a:xfrm>
          <a:prstGeom prst="rect">
            <a:avLst/>
          </a:prstGeom>
          <a:noFill/>
        </p:spPr>
        <p:txBody>
          <a:bodyPr wrap="square" lIns="0" tIns="0" rIns="0" bIns="0" rtlCol="0" anchor="ctr"/>
          <a:lstStyle/>
          <a:p>
            <a:pPr marL="0" indent="0">
              <a:lnSpc>
                <a:spcPct val="105000"/>
              </a:lnSpc>
              <a:buNone/>
            </a:pPr>
            <a:r>
              <a:rPr lang="en-US" sz="1450" b="1" dirty="0">
                <a:solidFill>
                  <a:srgbClr val="191919"/>
                </a:solidFill>
                <a:latin typeface="Calibri" panose="020F0502020204030204" pitchFamily="34" charset="0"/>
                <a:ea typeface="Calibri" panose="020F0502020204030204" pitchFamily="34" charset="-122"/>
                <a:cs typeface="Calibri" panose="020F0502020204030204" pitchFamily="34" charset="-120"/>
              </a:rPr>
              <a:t>Students &amp; early-career applicants are disproportionately targeted</a:t>
            </a:r>
            <a:endParaRPr lang="en-US" sz="1450" dirty="0"/>
          </a:p>
        </p:txBody>
      </p:sp>
      <p:sp>
        <p:nvSpPr>
          <p:cNvPr id="10" name="Text 8"/>
          <p:cNvSpPr/>
          <p:nvPr/>
        </p:nvSpPr>
        <p:spPr>
          <a:xfrm>
            <a:off x="731520" y="3474720"/>
            <a:ext cx="3063240" cy="777240"/>
          </a:xfrm>
          <a:prstGeom prst="rect">
            <a:avLst/>
          </a:prstGeom>
          <a:noFill/>
        </p:spPr>
        <p:txBody>
          <a:bodyPr wrap="square" lIns="0" tIns="0" rIns="0" bIns="0" rtlCol="0" anchor="ctr"/>
          <a:lstStyle/>
          <a:p>
            <a:pPr marL="0" indent="0">
              <a:lnSpc>
                <a:spcPct val="115000"/>
              </a:lnSpc>
              <a:buNone/>
            </a:pPr>
            <a:r>
              <a:rPr lang="en-US" sz="1150" dirty="0">
                <a:solidFill>
                  <a:srgbClr val="666666"/>
                </a:solidFill>
                <a:latin typeface="Calibri" panose="020F0502020204030204" pitchFamily="34" charset="0"/>
                <a:ea typeface="Calibri" panose="020F0502020204030204" pitchFamily="34" charset="-122"/>
                <a:cs typeface="Calibri" panose="020F0502020204030204" pitchFamily="34" charset="-120"/>
              </a:rPr>
              <a:t>Fake internship and entry-level job postings prey on people with the least experience spotting red flags.</a:t>
            </a:r>
            <a:endParaRPr lang="en-US" sz="1150" dirty="0"/>
          </a:p>
        </p:txBody>
      </p:sp>
      <p:sp>
        <p:nvSpPr>
          <p:cNvPr id="11" name="Shape 9"/>
          <p:cNvSpPr/>
          <p:nvPr/>
        </p:nvSpPr>
        <p:spPr>
          <a:xfrm>
            <a:off x="4297680" y="1691640"/>
            <a:ext cx="3611880" cy="2651760"/>
          </a:xfrm>
          <a:prstGeom prst="roundRect">
            <a:avLst>
              <a:gd name="adj" fmla="val 2759"/>
            </a:avLst>
          </a:prstGeom>
          <a:solidFill>
            <a:srgbClr val="F3F2EF"/>
          </a:solidFill>
          <a:ln w="9525">
            <a:solidFill>
              <a:srgbClr val="E0E0E0"/>
            </a:solidFill>
            <a:prstDash val="solid"/>
          </a:ln>
        </p:spPr>
        <p:txBody>
          <a:bodyPr/>
          <a:lstStyle/>
          <a:p>
            <a:endParaRPr lang="en-US"/>
          </a:p>
        </p:txBody>
      </p:sp>
      <p:sp>
        <p:nvSpPr>
          <p:cNvPr id="12" name="Shape 10"/>
          <p:cNvSpPr/>
          <p:nvPr/>
        </p:nvSpPr>
        <p:spPr>
          <a:xfrm>
            <a:off x="4572000" y="1965960"/>
            <a:ext cx="502920" cy="502920"/>
          </a:xfrm>
          <a:prstGeom prst="ellipse">
            <a:avLst/>
          </a:prstGeom>
          <a:solidFill>
            <a:srgbClr val="0A66C2"/>
          </a:solidFill>
        </p:spPr>
        <p:txBody>
          <a:bodyPr/>
          <a:lstStyle/>
          <a:p>
            <a:endParaRPr lang="en-US"/>
          </a:p>
        </p:txBody>
      </p:sp>
      <p:sp>
        <p:nvSpPr>
          <p:cNvPr id="13" name="Text 11"/>
          <p:cNvSpPr/>
          <p:nvPr/>
        </p:nvSpPr>
        <p:spPr>
          <a:xfrm>
            <a:off x="4572000" y="196596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2000" dirty="0"/>
          </a:p>
        </p:txBody>
      </p:sp>
      <p:sp>
        <p:nvSpPr>
          <p:cNvPr id="14" name="Text 12"/>
          <p:cNvSpPr/>
          <p:nvPr/>
        </p:nvSpPr>
        <p:spPr>
          <a:xfrm>
            <a:off x="4572000" y="2651760"/>
            <a:ext cx="3063240" cy="822960"/>
          </a:xfrm>
          <a:prstGeom prst="rect">
            <a:avLst/>
          </a:prstGeom>
          <a:noFill/>
        </p:spPr>
        <p:txBody>
          <a:bodyPr wrap="square" lIns="0" tIns="0" rIns="0" bIns="0" rtlCol="0" anchor="ctr"/>
          <a:lstStyle/>
          <a:p>
            <a:pPr marL="0" indent="0">
              <a:lnSpc>
                <a:spcPct val="105000"/>
              </a:lnSpc>
              <a:buNone/>
            </a:pPr>
            <a:r>
              <a:rPr lang="en-US" sz="1450" b="1" dirty="0">
                <a:solidFill>
                  <a:srgbClr val="191919"/>
                </a:solidFill>
                <a:latin typeface="Calibri" panose="020F0502020204030204" pitchFamily="34" charset="0"/>
                <a:ea typeface="Calibri" panose="020F0502020204030204" pitchFamily="34" charset="-122"/>
                <a:cs typeface="Calibri" panose="020F0502020204030204" pitchFamily="34" charset="-120"/>
              </a:rPr>
              <a:t>Verifying a posting takes real effort</a:t>
            </a:r>
            <a:endParaRPr lang="en-US" sz="1450" dirty="0"/>
          </a:p>
        </p:txBody>
      </p:sp>
      <p:sp>
        <p:nvSpPr>
          <p:cNvPr id="15" name="Text 13"/>
          <p:cNvSpPr/>
          <p:nvPr/>
        </p:nvSpPr>
        <p:spPr>
          <a:xfrm>
            <a:off x="4572000" y="3474720"/>
            <a:ext cx="3063240" cy="777240"/>
          </a:xfrm>
          <a:prstGeom prst="rect">
            <a:avLst/>
          </a:prstGeom>
          <a:noFill/>
        </p:spPr>
        <p:txBody>
          <a:bodyPr wrap="square" lIns="0" tIns="0" rIns="0" bIns="0" rtlCol="0" anchor="ctr"/>
          <a:lstStyle/>
          <a:p>
            <a:pPr marL="0" indent="0">
              <a:lnSpc>
                <a:spcPct val="115000"/>
              </a:lnSpc>
              <a:buNone/>
            </a:pPr>
            <a:r>
              <a:rPr lang="en-US" sz="1150" dirty="0">
                <a:solidFill>
                  <a:srgbClr val="666666"/>
                </a:solidFill>
                <a:latin typeface="Calibri" panose="020F0502020204030204" pitchFamily="34" charset="0"/>
                <a:ea typeface="Calibri" panose="020F0502020204030204" pitchFamily="34" charset="-122"/>
                <a:cs typeface="Calibri" panose="020F0502020204030204" pitchFamily="34" charset="-120"/>
              </a:rPr>
              <a:t>Checking a company's legitimacy means leaving LinkedIn, searching separately, and cross-referencing — most people simply don't.</a:t>
            </a:r>
            <a:endParaRPr lang="en-US" sz="1150" dirty="0"/>
          </a:p>
        </p:txBody>
      </p:sp>
      <p:sp>
        <p:nvSpPr>
          <p:cNvPr id="16" name="Shape 14"/>
          <p:cNvSpPr/>
          <p:nvPr/>
        </p:nvSpPr>
        <p:spPr>
          <a:xfrm>
            <a:off x="8138160" y="1691640"/>
            <a:ext cx="3611880" cy="2651760"/>
          </a:xfrm>
          <a:prstGeom prst="roundRect">
            <a:avLst>
              <a:gd name="adj" fmla="val 2759"/>
            </a:avLst>
          </a:prstGeom>
          <a:solidFill>
            <a:srgbClr val="F3F2EF"/>
          </a:solidFill>
          <a:ln w="9525">
            <a:solidFill>
              <a:srgbClr val="E0E0E0"/>
            </a:solidFill>
            <a:prstDash val="solid"/>
          </a:ln>
        </p:spPr>
        <p:txBody>
          <a:bodyPr/>
          <a:lstStyle/>
          <a:p>
            <a:endParaRPr lang="en-US"/>
          </a:p>
        </p:txBody>
      </p:sp>
      <p:sp>
        <p:nvSpPr>
          <p:cNvPr id="17" name="Shape 15"/>
          <p:cNvSpPr/>
          <p:nvPr/>
        </p:nvSpPr>
        <p:spPr>
          <a:xfrm>
            <a:off x="8412480" y="1965960"/>
            <a:ext cx="502920" cy="502920"/>
          </a:xfrm>
          <a:prstGeom prst="ellipse">
            <a:avLst/>
          </a:prstGeom>
          <a:solidFill>
            <a:srgbClr val="0A66C2"/>
          </a:solidFill>
        </p:spPr>
        <p:txBody>
          <a:bodyPr/>
          <a:lstStyle/>
          <a:p>
            <a:endParaRPr lang="en-US"/>
          </a:p>
        </p:txBody>
      </p:sp>
      <p:sp>
        <p:nvSpPr>
          <p:cNvPr id="18" name="Text 16"/>
          <p:cNvSpPr/>
          <p:nvPr/>
        </p:nvSpPr>
        <p:spPr>
          <a:xfrm>
            <a:off x="8412480" y="196596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2000" dirty="0"/>
          </a:p>
        </p:txBody>
      </p:sp>
      <p:sp>
        <p:nvSpPr>
          <p:cNvPr id="19" name="Text 17"/>
          <p:cNvSpPr/>
          <p:nvPr/>
        </p:nvSpPr>
        <p:spPr>
          <a:xfrm>
            <a:off x="8412480" y="2651760"/>
            <a:ext cx="3063240" cy="822960"/>
          </a:xfrm>
          <a:prstGeom prst="rect">
            <a:avLst/>
          </a:prstGeom>
          <a:noFill/>
        </p:spPr>
        <p:txBody>
          <a:bodyPr wrap="square" lIns="0" tIns="0" rIns="0" bIns="0" rtlCol="0" anchor="ctr"/>
          <a:lstStyle/>
          <a:p>
            <a:pPr marL="0" indent="0">
              <a:lnSpc>
                <a:spcPct val="105000"/>
              </a:lnSpc>
              <a:buNone/>
            </a:pPr>
            <a:r>
              <a:rPr lang="en-US" sz="1450" b="1" dirty="0">
                <a:solidFill>
                  <a:srgbClr val="191919"/>
                </a:solidFill>
                <a:latin typeface="Calibri" panose="020F0502020204030204" pitchFamily="34" charset="0"/>
                <a:ea typeface="Calibri" panose="020F0502020204030204" pitchFamily="34" charset="-122"/>
                <a:cs typeface="Calibri" panose="020F0502020204030204" pitchFamily="34" charset="-120"/>
              </a:rPr>
              <a:t>No at-a-glance trust signal exists today</a:t>
            </a:r>
            <a:endParaRPr lang="en-US" sz="1450" dirty="0"/>
          </a:p>
        </p:txBody>
      </p:sp>
      <p:sp>
        <p:nvSpPr>
          <p:cNvPr id="20" name="Text 18"/>
          <p:cNvSpPr/>
          <p:nvPr/>
        </p:nvSpPr>
        <p:spPr>
          <a:xfrm>
            <a:off x="8412480" y="3474720"/>
            <a:ext cx="3063240" cy="777240"/>
          </a:xfrm>
          <a:prstGeom prst="rect">
            <a:avLst/>
          </a:prstGeom>
          <a:noFill/>
        </p:spPr>
        <p:txBody>
          <a:bodyPr wrap="square" lIns="0" tIns="0" rIns="0" bIns="0" rtlCol="0" anchor="ctr"/>
          <a:lstStyle/>
          <a:p>
            <a:pPr marL="0" indent="0">
              <a:lnSpc>
                <a:spcPct val="115000"/>
              </a:lnSpc>
              <a:buNone/>
            </a:pPr>
            <a:r>
              <a:rPr lang="en-US" sz="1150" dirty="0">
                <a:solidFill>
                  <a:srgbClr val="666666"/>
                </a:solidFill>
                <a:latin typeface="Calibri" panose="020F0502020204030204" pitchFamily="34" charset="0"/>
                <a:ea typeface="Calibri" panose="020F0502020204030204" pitchFamily="34" charset="-122"/>
                <a:cs typeface="Calibri" panose="020F0502020204030204" pitchFamily="34" charset="-120"/>
              </a:rPr>
              <a:t>LinkedIn itself doesn't score postings for fraud risk — users are on their own.</a:t>
            </a:r>
            <a:endParaRPr lang="en-US" sz="1150" dirty="0"/>
          </a:p>
        </p:txBody>
      </p:sp>
      <p:sp>
        <p:nvSpPr>
          <p:cNvPr id="21" name="Shape 19"/>
          <p:cNvSpPr/>
          <p:nvPr/>
        </p:nvSpPr>
        <p:spPr>
          <a:xfrm>
            <a:off x="457200" y="4617720"/>
            <a:ext cx="11247120" cy="1417320"/>
          </a:xfrm>
          <a:prstGeom prst="roundRect">
            <a:avLst>
              <a:gd name="adj" fmla="val 5161"/>
            </a:avLst>
          </a:prstGeom>
          <a:solidFill>
            <a:srgbClr val="EAF2FB"/>
          </a:solidFill>
        </p:spPr>
        <p:txBody>
          <a:bodyPr/>
          <a:lstStyle/>
          <a:p>
            <a:endParaRPr lang="en-US"/>
          </a:p>
        </p:txBody>
      </p:sp>
      <p:sp>
        <p:nvSpPr>
          <p:cNvPr id="22" name="Text 20"/>
          <p:cNvSpPr/>
          <p:nvPr/>
        </p:nvSpPr>
        <p:spPr>
          <a:xfrm>
            <a:off x="777240" y="4754880"/>
            <a:ext cx="10607040" cy="1143000"/>
          </a:xfrm>
          <a:prstGeom prst="rect">
            <a:avLst/>
          </a:prstGeom>
          <a:noFill/>
        </p:spPr>
        <p:txBody>
          <a:bodyPr wrap="square" lIns="0" tIns="0" rIns="0" bIns="0" rtlCol="0" anchor="ctr"/>
          <a:lstStyle/>
          <a:p>
            <a:pPr marL="0" indent="0">
              <a:lnSpc>
                <a:spcPct val="120000"/>
              </a:lnSpc>
              <a:buNone/>
            </a:pPr>
            <a:r>
              <a:rPr lang="en-US" sz="1400" b="1" dirty="0">
                <a:solidFill>
                  <a:srgbClr val="004182"/>
                </a:solidFill>
                <a:latin typeface="Calibri" panose="020F0502020204030204" pitchFamily="34" charset="0"/>
                <a:ea typeface="Calibri" panose="020F0502020204030204" pitchFamily="34" charset="-122"/>
                <a:cs typeface="Calibri" panose="020F0502020204030204" pitchFamily="34" charset="-120"/>
              </a:rPr>
              <a:t>The objective:  </a:t>
            </a:r>
            <a:r>
              <a:rPr lang="en-US" sz="1400" dirty="0">
                <a:solidFill>
                  <a:srgbClr val="191919"/>
                </a:solidFill>
                <a:latin typeface="Calibri" panose="020F0502020204030204" pitchFamily="34" charset="0"/>
                <a:ea typeface="Calibri" panose="020F0502020204030204" pitchFamily="34" charset="-122"/>
                <a:cs typeface="Calibri" panose="020F0502020204030204" pitchFamily="34" charset="-120"/>
              </a:rPr>
              <a:t>give every job seeker an automatic, real-time trust signal on the LinkedIn posting they're already viewing — combining a trained ML model, a human-reviewed blacklist, and quick rule-based checks into one 0–100% score, with no extra research required.</a:t>
            </a:r>
            <a:endParaRPr lang="en-US" sz="1400" dirty="0"/>
          </a:p>
        </p:txBody>
      </p:sp>
      <p:sp>
        <p:nvSpPr>
          <p:cNvPr id="23" name="Text 21"/>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02 / 07</a:t>
            </a:r>
            <a:endParaRPr lang="en-US" sz="1000" dirty="0"/>
          </a:p>
        </p:txBody>
      </p:sp>
      <p:sp>
        <p:nvSpPr>
          <p:cNvPr id="24" name="Text 22"/>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347472" cy="347472"/>
          </a:xfrm>
          <a:prstGeom prst="roundRect">
            <a:avLst>
              <a:gd name="adj" fmla="val 21053"/>
            </a:avLst>
          </a:prstGeom>
          <a:solidFill>
            <a:srgbClr val="0A66C2"/>
          </a:solidFill>
        </p:spPr>
        <p:txBody>
          <a:bodyPr/>
          <a:lstStyle/>
          <a:p>
            <a:endParaRPr lang="en-US"/>
          </a:p>
        </p:txBody>
      </p:sp>
      <p:sp>
        <p:nvSpPr>
          <p:cNvPr id="3" name="Text 1"/>
          <p:cNvSpPr/>
          <p:nvPr/>
        </p:nvSpPr>
        <p:spPr>
          <a:xfrm>
            <a:off x="457200" y="38404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1300" dirty="0"/>
          </a:p>
        </p:txBody>
      </p:sp>
      <p:sp>
        <p:nvSpPr>
          <p:cNvPr id="4" name="Text 2"/>
          <p:cNvSpPr/>
          <p:nvPr/>
        </p:nvSpPr>
        <p:spPr>
          <a:xfrm>
            <a:off x="914400" y="347472"/>
            <a:ext cx="7315200" cy="274320"/>
          </a:xfrm>
          <a:prstGeom prst="rect">
            <a:avLst/>
          </a:prstGeom>
          <a:noFill/>
        </p:spPr>
        <p:txBody>
          <a:bodyPr wrap="square" lIns="0" tIns="0" rIns="0" bIns="0" rtlCol="0" anchor="ctr"/>
          <a:lstStyle/>
          <a:p>
            <a:pPr marL="0" indent="0">
              <a:buNone/>
            </a:pPr>
            <a:r>
              <a:rPr lang="en-US" sz="1100" b="1" kern="0" spc="100" dirty="0">
                <a:solidFill>
                  <a:srgbClr val="0A66C2"/>
                </a:solidFill>
                <a:latin typeface="Calibri" panose="020F0502020204030204" pitchFamily="34" charset="0"/>
                <a:ea typeface="Calibri" panose="020F0502020204030204" pitchFamily="34" charset="-122"/>
                <a:cs typeface="Calibri" panose="020F0502020204030204" pitchFamily="34" charset="-120"/>
              </a:rPr>
              <a:t>SYSTEM CONFIGURATION</a:t>
            </a:r>
            <a:endParaRPr lang="en-US" sz="1100" dirty="0"/>
          </a:p>
        </p:txBody>
      </p:sp>
      <p:sp>
        <p:nvSpPr>
          <p:cNvPr id="5" name="Text 3"/>
          <p:cNvSpPr/>
          <p:nvPr/>
        </p:nvSpPr>
        <p:spPr>
          <a:xfrm>
            <a:off x="457200" y="658368"/>
            <a:ext cx="11247120" cy="594360"/>
          </a:xfrm>
          <a:prstGeom prst="rect">
            <a:avLst/>
          </a:prstGeom>
          <a:noFill/>
        </p:spPr>
        <p:txBody>
          <a:bodyPr wrap="square" lIns="0" tIns="0" rIns="0" bIns="0" rtlCol="0" anchor="ctr"/>
          <a:lstStyle/>
          <a:p>
            <a:pPr marL="0" indent="0">
              <a:buNone/>
            </a:pPr>
            <a:r>
              <a:rPr lang="en-US" sz="2800" b="1" dirty="0">
                <a:solidFill>
                  <a:srgbClr val="191919"/>
                </a:solidFill>
                <a:latin typeface="Calibri" panose="020F0502020204030204" pitchFamily="34" charset="0"/>
                <a:ea typeface="Calibri" panose="020F0502020204030204" pitchFamily="34" charset="-122"/>
                <a:cs typeface="Calibri" panose="020F0502020204030204" pitchFamily="34" charset="-120"/>
              </a:rPr>
              <a:t>Seven small programs, working as one system</a:t>
            </a:r>
            <a:endParaRPr lang="en-US" sz="2800" dirty="0"/>
          </a:p>
        </p:txBody>
      </p:sp>
      <p:sp>
        <p:nvSpPr>
          <p:cNvPr id="6" name="Shape 4"/>
          <p:cNvSpPr/>
          <p:nvPr/>
        </p:nvSpPr>
        <p:spPr>
          <a:xfrm>
            <a:off x="457200" y="1691640"/>
            <a:ext cx="11247120" cy="530352"/>
          </a:xfrm>
          <a:prstGeom prst="rect">
            <a:avLst/>
          </a:prstGeom>
          <a:solidFill>
            <a:srgbClr val="F3F2EF"/>
          </a:solidFill>
        </p:spPr>
        <p:txBody>
          <a:bodyPr/>
          <a:lstStyle/>
          <a:p>
            <a:endParaRPr lang="en-US"/>
          </a:p>
        </p:txBody>
      </p:sp>
      <p:sp>
        <p:nvSpPr>
          <p:cNvPr id="7" name="Shape 5"/>
          <p:cNvSpPr/>
          <p:nvPr/>
        </p:nvSpPr>
        <p:spPr>
          <a:xfrm>
            <a:off x="457200" y="1691640"/>
            <a:ext cx="54864" cy="530352"/>
          </a:xfrm>
          <a:prstGeom prst="rect">
            <a:avLst/>
          </a:prstGeom>
          <a:solidFill>
            <a:srgbClr val="0A66C2"/>
          </a:solidFill>
        </p:spPr>
        <p:txBody>
          <a:bodyPr/>
          <a:lstStyle/>
          <a:p>
            <a:endParaRPr lang="en-US"/>
          </a:p>
        </p:txBody>
      </p:sp>
      <p:sp>
        <p:nvSpPr>
          <p:cNvPr id="8" name="Text 6"/>
          <p:cNvSpPr/>
          <p:nvPr/>
        </p:nvSpPr>
        <p:spPr>
          <a:xfrm>
            <a:off x="685800" y="1691640"/>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Chrome Extension (Manifest V3)</a:t>
            </a:r>
            <a:endParaRPr lang="en-US" sz="1300" dirty="0"/>
          </a:p>
        </p:txBody>
      </p:sp>
      <p:sp>
        <p:nvSpPr>
          <p:cNvPr id="9" name="Text 7"/>
          <p:cNvSpPr/>
          <p:nvPr/>
        </p:nvSpPr>
        <p:spPr>
          <a:xfrm>
            <a:off x="4114800" y="1691640"/>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In-browser client — scrapes postings, injects the badge, provides popup &amp; dashboard</a:t>
            </a:r>
            <a:endParaRPr lang="en-US" sz="1200" dirty="0"/>
          </a:p>
        </p:txBody>
      </p:sp>
      <p:sp>
        <p:nvSpPr>
          <p:cNvPr id="10" name="Shape 8"/>
          <p:cNvSpPr/>
          <p:nvPr/>
        </p:nvSpPr>
        <p:spPr>
          <a:xfrm>
            <a:off x="457200" y="2295144"/>
            <a:ext cx="11247120" cy="530352"/>
          </a:xfrm>
          <a:prstGeom prst="rect">
            <a:avLst/>
          </a:prstGeom>
          <a:solidFill>
            <a:srgbClr val="FFFFFF"/>
          </a:solidFill>
        </p:spPr>
        <p:txBody>
          <a:bodyPr/>
          <a:lstStyle/>
          <a:p>
            <a:endParaRPr lang="en-US"/>
          </a:p>
        </p:txBody>
      </p:sp>
      <p:sp>
        <p:nvSpPr>
          <p:cNvPr id="11" name="Shape 9"/>
          <p:cNvSpPr/>
          <p:nvPr/>
        </p:nvSpPr>
        <p:spPr>
          <a:xfrm>
            <a:off x="457200" y="2295144"/>
            <a:ext cx="54864" cy="530352"/>
          </a:xfrm>
          <a:prstGeom prst="rect">
            <a:avLst/>
          </a:prstGeom>
          <a:solidFill>
            <a:srgbClr val="0A66C2"/>
          </a:solidFill>
        </p:spPr>
        <p:txBody>
          <a:bodyPr/>
          <a:lstStyle/>
          <a:p>
            <a:endParaRPr lang="en-US"/>
          </a:p>
        </p:txBody>
      </p:sp>
      <p:sp>
        <p:nvSpPr>
          <p:cNvPr id="12" name="Text 10"/>
          <p:cNvSpPr/>
          <p:nvPr/>
        </p:nvSpPr>
        <p:spPr>
          <a:xfrm>
            <a:off x="685800" y="2295144"/>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Node.js + Express</a:t>
            </a:r>
            <a:endParaRPr lang="en-US" sz="1300" dirty="0"/>
          </a:p>
        </p:txBody>
      </p:sp>
      <p:sp>
        <p:nvSpPr>
          <p:cNvPr id="13" name="Text 11"/>
          <p:cNvSpPr/>
          <p:nvPr/>
        </p:nvSpPr>
        <p:spPr>
          <a:xfrm>
            <a:off x="4114800" y="2295144"/>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Backend API — auth, scoring, quota, preferences, blacklist, saved jobs</a:t>
            </a:r>
            <a:endParaRPr lang="en-US" sz="1200" dirty="0"/>
          </a:p>
        </p:txBody>
      </p:sp>
      <p:sp>
        <p:nvSpPr>
          <p:cNvPr id="14" name="Shape 12"/>
          <p:cNvSpPr/>
          <p:nvPr/>
        </p:nvSpPr>
        <p:spPr>
          <a:xfrm>
            <a:off x="457200" y="2898648"/>
            <a:ext cx="11247120" cy="530352"/>
          </a:xfrm>
          <a:prstGeom prst="rect">
            <a:avLst/>
          </a:prstGeom>
          <a:solidFill>
            <a:srgbClr val="F3F2EF"/>
          </a:solidFill>
        </p:spPr>
        <p:txBody>
          <a:bodyPr/>
          <a:lstStyle/>
          <a:p>
            <a:endParaRPr lang="en-US"/>
          </a:p>
        </p:txBody>
      </p:sp>
      <p:sp>
        <p:nvSpPr>
          <p:cNvPr id="15" name="Shape 13"/>
          <p:cNvSpPr/>
          <p:nvPr/>
        </p:nvSpPr>
        <p:spPr>
          <a:xfrm>
            <a:off x="457200" y="2898648"/>
            <a:ext cx="54864" cy="530352"/>
          </a:xfrm>
          <a:prstGeom prst="rect">
            <a:avLst/>
          </a:prstGeom>
          <a:solidFill>
            <a:srgbClr val="057642"/>
          </a:solidFill>
        </p:spPr>
        <p:txBody>
          <a:bodyPr/>
          <a:lstStyle/>
          <a:p>
            <a:endParaRPr lang="en-US"/>
          </a:p>
        </p:txBody>
      </p:sp>
      <p:sp>
        <p:nvSpPr>
          <p:cNvPr id="16" name="Text 14"/>
          <p:cNvSpPr/>
          <p:nvPr/>
        </p:nvSpPr>
        <p:spPr>
          <a:xfrm>
            <a:off x="685800" y="2898648"/>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PostgreSQL</a:t>
            </a:r>
            <a:endParaRPr lang="en-US" sz="1300" dirty="0"/>
          </a:p>
        </p:txBody>
      </p:sp>
      <p:sp>
        <p:nvSpPr>
          <p:cNvPr id="17" name="Text 15"/>
          <p:cNvSpPr/>
          <p:nvPr/>
        </p:nvSpPr>
        <p:spPr>
          <a:xfrm>
            <a:off x="4114800" y="2898648"/>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Primary database for all persistent data</a:t>
            </a:r>
            <a:endParaRPr lang="en-US" sz="1200" dirty="0"/>
          </a:p>
        </p:txBody>
      </p:sp>
      <p:sp>
        <p:nvSpPr>
          <p:cNvPr id="18" name="Shape 16"/>
          <p:cNvSpPr/>
          <p:nvPr/>
        </p:nvSpPr>
        <p:spPr>
          <a:xfrm>
            <a:off x="457200" y="3502152"/>
            <a:ext cx="11247120" cy="530352"/>
          </a:xfrm>
          <a:prstGeom prst="rect">
            <a:avLst/>
          </a:prstGeom>
          <a:solidFill>
            <a:srgbClr val="FFFFFF"/>
          </a:solidFill>
        </p:spPr>
        <p:txBody>
          <a:bodyPr/>
          <a:lstStyle/>
          <a:p>
            <a:endParaRPr lang="en-US"/>
          </a:p>
        </p:txBody>
      </p:sp>
      <p:sp>
        <p:nvSpPr>
          <p:cNvPr id="19" name="Shape 17"/>
          <p:cNvSpPr/>
          <p:nvPr/>
        </p:nvSpPr>
        <p:spPr>
          <a:xfrm>
            <a:off x="457200" y="3502152"/>
            <a:ext cx="54864" cy="530352"/>
          </a:xfrm>
          <a:prstGeom prst="rect">
            <a:avLst/>
          </a:prstGeom>
          <a:solidFill>
            <a:srgbClr val="057642"/>
          </a:solidFill>
        </p:spPr>
        <p:txBody>
          <a:bodyPr/>
          <a:lstStyle/>
          <a:p>
            <a:endParaRPr lang="en-US"/>
          </a:p>
        </p:txBody>
      </p:sp>
      <p:sp>
        <p:nvSpPr>
          <p:cNvPr id="20" name="Text 18"/>
          <p:cNvSpPr/>
          <p:nvPr/>
        </p:nvSpPr>
        <p:spPr>
          <a:xfrm>
            <a:off x="685800" y="3502152"/>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node-cron</a:t>
            </a:r>
            <a:endParaRPr lang="en-US" sz="1300" dirty="0"/>
          </a:p>
        </p:txBody>
      </p:sp>
      <p:sp>
        <p:nvSpPr>
          <p:cNvPr id="21" name="Text 19"/>
          <p:cNvSpPr/>
          <p:nvPr/>
        </p:nvSpPr>
        <p:spPr>
          <a:xfrm>
            <a:off x="4114800" y="3502152"/>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Scheduled daily job — checks saved jobs for deadlines due tomorrow</a:t>
            </a:r>
            <a:endParaRPr lang="en-US" sz="1200" dirty="0"/>
          </a:p>
        </p:txBody>
      </p:sp>
      <p:sp>
        <p:nvSpPr>
          <p:cNvPr id="22" name="Shape 20"/>
          <p:cNvSpPr/>
          <p:nvPr/>
        </p:nvSpPr>
        <p:spPr>
          <a:xfrm>
            <a:off x="457200" y="4105656"/>
            <a:ext cx="11247120" cy="530352"/>
          </a:xfrm>
          <a:prstGeom prst="rect">
            <a:avLst/>
          </a:prstGeom>
          <a:solidFill>
            <a:srgbClr val="F3F2EF"/>
          </a:solidFill>
        </p:spPr>
        <p:txBody>
          <a:bodyPr/>
          <a:lstStyle/>
          <a:p>
            <a:endParaRPr lang="en-US"/>
          </a:p>
        </p:txBody>
      </p:sp>
      <p:sp>
        <p:nvSpPr>
          <p:cNvPr id="23" name="Shape 21"/>
          <p:cNvSpPr/>
          <p:nvPr/>
        </p:nvSpPr>
        <p:spPr>
          <a:xfrm>
            <a:off x="457200" y="4105656"/>
            <a:ext cx="54864" cy="530352"/>
          </a:xfrm>
          <a:prstGeom prst="rect">
            <a:avLst/>
          </a:prstGeom>
          <a:solidFill>
            <a:srgbClr val="B8860B"/>
          </a:solidFill>
        </p:spPr>
        <p:txBody>
          <a:bodyPr/>
          <a:lstStyle/>
          <a:p>
            <a:endParaRPr lang="en-US"/>
          </a:p>
        </p:txBody>
      </p:sp>
      <p:sp>
        <p:nvSpPr>
          <p:cNvPr id="24" name="Text 22"/>
          <p:cNvSpPr/>
          <p:nvPr/>
        </p:nvSpPr>
        <p:spPr>
          <a:xfrm>
            <a:off x="685800" y="4105656"/>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Python + scikit-learn</a:t>
            </a:r>
            <a:endParaRPr lang="en-US" sz="1300" dirty="0"/>
          </a:p>
        </p:txBody>
      </p:sp>
      <p:sp>
        <p:nvSpPr>
          <p:cNvPr id="25" name="Text 23"/>
          <p:cNvSpPr/>
          <p:nvPr/>
        </p:nvSpPr>
        <p:spPr>
          <a:xfrm>
            <a:off x="4114800" y="4105656"/>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Trains the fraud-detection logistic regression model</a:t>
            </a:r>
            <a:endParaRPr lang="en-US" sz="1200" dirty="0"/>
          </a:p>
        </p:txBody>
      </p:sp>
      <p:sp>
        <p:nvSpPr>
          <p:cNvPr id="26" name="Shape 24"/>
          <p:cNvSpPr/>
          <p:nvPr/>
        </p:nvSpPr>
        <p:spPr>
          <a:xfrm>
            <a:off x="457200" y="4709160"/>
            <a:ext cx="11247120" cy="530352"/>
          </a:xfrm>
          <a:prstGeom prst="rect">
            <a:avLst/>
          </a:prstGeom>
          <a:solidFill>
            <a:srgbClr val="FFFFFF"/>
          </a:solidFill>
        </p:spPr>
        <p:txBody>
          <a:bodyPr/>
          <a:lstStyle/>
          <a:p>
            <a:endParaRPr lang="en-US"/>
          </a:p>
        </p:txBody>
      </p:sp>
      <p:sp>
        <p:nvSpPr>
          <p:cNvPr id="27" name="Shape 25"/>
          <p:cNvSpPr/>
          <p:nvPr/>
        </p:nvSpPr>
        <p:spPr>
          <a:xfrm>
            <a:off x="457200" y="4709160"/>
            <a:ext cx="54864" cy="530352"/>
          </a:xfrm>
          <a:prstGeom prst="rect">
            <a:avLst/>
          </a:prstGeom>
          <a:solidFill>
            <a:srgbClr val="B8860B"/>
          </a:solidFill>
        </p:spPr>
        <p:txBody>
          <a:bodyPr/>
          <a:lstStyle/>
          <a:p>
            <a:endParaRPr lang="en-US"/>
          </a:p>
        </p:txBody>
      </p:sp>
      <p:sp>
        <p:nvSpPr>
          <p:cNvPr id="28" name="Text 26"/>
          <p:cNvSpPr/>
          <p:nvPr/>
        </p:nvSpPr>
        <p:spPr>
          <a:xfrm>
            <a:off x="685800" y="4709160"/>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Flask</a:t>
            </a:r>
            <a:endParaRPr lang="en-US" sz="1300" dirty="0"/>
          </a:p>
        </p:txBody>
      </p:sp>
      <p:sp>
        <p:nvSpPr>
          <p:cNvPr id="29" name="Text 27"/>
          <p:cNvSpPr/>
          <p:nvPr/>
        </p:nvSpPr>
        <p:spPr>
          <a:xfrm>
            <a:off x="4114800" y="4709160"/>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Small Python service — loads the trained model, serves predictions over HTTP</a:t>
            </a:r>
            <a:endParaRPr lang="en-US" sz="1200" dirty="0"/>
          </a:p>
        </p:txBody>
      </p:sp>
      <p:sp>
        <p:nvSpPr>
          <p:cNvPr id="30" name="Shape 28"/>
          <p:cNvSpPr/>
          <p:nvPr/>
        </p:nvSpPr>
        <p:spPr>
          <a:xfrm>
            <a:off x="457200" y="5312664"/>
            <a:ext cx="11247120" cy="530352"/>
          </a:xfrm>
          <a:prstGeom prst="rect">
            <a:avLst/>
          </a:prstGeom>
          <a:solidFill>
            <a:srgbClr val="F3F2EF"/>
          </a:solidFill>
        </p:spPr>
        <p:txBody>
          <a:bodyPr/>
          <a:lstStyle/>
          <a:p>
            <a:endParaRPr lang="en-US"/>
          </a:p>
        </p:txBody>
      </p:sp>
      <p:sp>
        <p:nvSpPr>
          <p:cNvPr id="31" name="Shape 29"/>
          <p:cNvSpPr/>
          <p:nvPr/>
        </p:nvSpPr>
        <p:spPr>
          <a:xfrm>
            <a:off x="457200" y="5312664"/>
            <a:ext cx="54864" cy="530352"/>
          </a:xfrm>
          <a:prstGeom prst="rect">
            <a:avLst/>
          </a:prstGeom>
          <a:solidFill>
            <a:srgbClr val="B8860B"/>
          </a:solidFill>
        </p:spPr>
        <p:txBody>
          <a:bodyPr/>
          <a:lstStyle/>
          <a:p>
            <a:endParaRPr lang="en-US"/>
          </a:p>
        </p:txBody>
      </p:sp>
      <p:sp>
        <p:nvSpPr>
          <p:cNvPr id="32" name="Text 30"/>
          <p:cNvSpPr/>
          <p:nvPr/>
        </p:nvSpPr>
        <p:spPr>
          <a:xfrm>
            <a:off x="685800" y="5312664"/>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Google Colab</a:t>
            </a:r>
            <a:endParaRPr lang="en-US" sz="1300" dirty="0"/>
          </a:p>
        </p:txBody>
      </p:sp>
      <p:sp>
        <p:nvSpPr>
          <p:cNvPr id="33" name="Text 31"/>
          <p:cNvSpPr/>
          <p:nvPr/>
        </p:nvSpPr>
        <p:spPr>
          <a:xfrm>
            <a:off x="4114800" y="5312664"/>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Environment where the model was originally trained</a:t>
            </a:r>
            <a:endParaRPr lang="en-US" sz="1200" dirty="0"/>
          </a:p>
        </p:txBody>
      </p:sp>
      <p:sp>
        <p:nvSpPr>
          <p:cNvPr id="34" name="Text 32"/>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03 / 07</a:t>
            </a:r>
            <a:endParaRPr lang="en-US" sz="1000" dirty="0"/>
          </a:p>
        </p:txBody>
      </p:sp>
      <p:sp>
        <p:nvSpPr>
          <p:cNvPr id="35" name="Text 33"/>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384048"/>
            <a:ext cx="347472" cy="347472"/>
          </a:xfrm>
          <a:prstGeom prst="roundRect">
            <a:avLst>
              <a:gd name="adj" fmla="val 21053"/>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panose="020F0502020204030204"/>
              </a:rPr>
              <a:t>eXD</a:t>
            </a:r>
            <a:endParaRPr sz="1300" b="1">
              <a:solidFill>
                <a:srgbClr val="FFFFFF"/>
              </a:solidFill>
              <a:latin typeface="Calibri" panose="020F0502020204030204"/>
            </a:endParaRPr>
          </a:p>
        </p:txBody>
      </p:sp>
      <p:sp>
        <p:nvSpPr>
          <p:cNvPr id="3" name="TextBox 2"/>
          <p:cNvSpPr txBox="1"/>
          <p:nvPr/>
        </p:nvSpPr>
        <p:spPr>
          <a:xfrm>
            <a:off x="914400" y="347472"/>
            <a:ext cx="7315200" cy="274320"/>
          </a:xfrm>
          <a:prstGeom prst="rect">
            <a:avLst/>
          </a:prstGeom>
          <a:noFill/>
        </p:spPr>
        <p:txBody>
          <a:bodyPr wrap="square" lIns="0" tIns="0" rIns="0" bIns="0" anchor="ctr">
            <a:spAutoFit/>
          </a:bodyPr>
          <a:lstStyle/>
          <a:p>
            <a:pPr algn="l"/>
            <a:r>
              <a:rPr sz="1100" b="1">
                <a:solidFill>
                  <a:srgbClr val="0A66C2"/>
                </a:solidFill>
                <a:latin typeface="Calibri" panose="020F0502020204030204"/>
              </a:rPr>
              <a:t>HOW A SCREENING HAPPENS</a:t>
            </a:r>
            <a:endParaRPr sz="1100" b="1">
              <a:solidFill>
                <a:srgbClr val="0A66C2"/>
              </a:solidFill>
              <a:latin typeface="Calibri" panose="020F0502020204030204"/>
            </a:endParaRPr>
          </a:p>
        </p:txBody>
      </p:sp>
      <p:sp>
        <p:nvSpPr>
          <p:cNvPr id="4" name="TextBox 3"/>
          <p:cNvSpPr txBox="1"/>
          <p:nvPr/>
        </p:nvSpPr>
        <p:spPr>
          <a:xfrm>
            <a:off x="457200" y="658368"/>
            <a:ext cx="11247120" cy="594360"/>
          </a:xfrm>
          <a:prstGeom prst="rect">
            <a:avLst/>
          </a:prstGeom>
          <a:noFill/>
        </p:spPr>
        <p:txBody>
          <a:bodyPr wrap="square" lIns="0" tIns="0" rIns="0" bIns="0" anchor="ctr">
            <a:spAutoFit/>
          </a:bodyPr>
          <a:lstStyle/>
          <a:p>
            <a:pPr algn="l"/>
            <a:r>
              <a:rPr sz="2500" b="1">
                <a:solidFill>
                  <a:srgbClr val="191919"/>
                </a:solidFill>
                <a:latin typeface="Calibri" panose="020F0502020204030204"/>
              </a:rPr>
              <a:t>Scrape → score → badge — and how the badge itself evolved</a:t>
            </a:r>
            <a:endParaRPr sz="2500" b="1">
              <a:solidFill>
                <a:srgbClr val="191919"/>
              </a:solidFill>
              <a:latin typeface="Calibri" panose="020F0502020204030204"/>
            </a:endParaRPr>
          </a:p>
        </p:txBody>
      </p:sp>
      <p:sp>
        <p:nvSpPr>
          <p:cNvPr id="5" name="Rounded Rectangle 4"/>
          <p:cNvSpPr/>
          <p:nvPr/>
        </p:nvSpPr>
        <p:spPr>
          <a:xfrm>
            <a:off x="457200" y="1691640"/>
            <a:ext cx="384048" cy="384048"/>
          </a:xfrm>
          <a:prstGeom prst="roundRect">
            <a:avLst>
              <a:gd name="adj" fmla="val 21053"/>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1</a:t>
            </a:r>
            <a:endParaRPr sz="1500" b="1">
              <a:solidFill>
                <a:srgbClr val="FFFFFF"/>
              </a:solidFill>
              <a:latin typeface="Calibri" panose="020F0502020204030204"/>
            </a:endParaRPr>
          </a:p>
        </p:txBody>
      </p:sp>
      <p:sp>
        <p:nvSpPr>
          <p:cNvPr id="6" name="TextBox 5"/>
          <p:cNvSpPr txBox="1"/>
          <p:nvPr/>
        </p:nvSpPr>
        <p:spPr>
          <a:xfrm>
            <a:off x="987552" y="1691640"/>
            <a:ext cx="5577840" cy="566928"/>
          </a:xfrm>
          <a:prstGeom prst="rect">
            <a:avLst/>
          </a:prstGeom>
          <a:noFill/>
        </p:spPr>
        <p:txBody>
          <a:bodyPr wrap="square" lIns="0" tIns="0" rIns="0" bIns="0" anchor="ctr">
            <a:spAutoFit/>
          </a:bodyPr>
          <a:lstStyle/>
          <a:p>
            <a:pPr algn="l">
              <a:lnSpc>
                <a:spcPct val="105000"/>
              </a:lnSpc>
            </a:pPr>
            <a:r>
              <a:rPr sz="1150" b="0">
                <a:solidFill>
                  <a:srgbClr val="191919"/>
                </a:solidFill>
                <a:latin typeface="Calibri" panose="020F0502020204030204"/>
              </a:rPr>
              <a:t>Content script scrapes 9 fields from the job posting</a:t>
            </a:r>
            <a:endParaRPr sz="1150" b="0">
              <a:solidFill>
                <a:srgbClr val="191919"/>
              </a:solidFill>
              <a:latin typeface="Calibri" panose="020F0502020204030204"/>
            </a:endParaRPr>
          </a:p>
        </p:txBody>
      </p:sp>
      <p:sp>
        <p:nvSpPr>
          <p:cNvPr id="7" name="Rounded Rectangle 6"/>
          <p:cNvSpPr/>
          <p:nvPr/>
        </p:nvSpPr>
        <p:spPr>
          <a:xfrm>
            <a:off x="457200" y="2258568"/>
            <a:ext cx="384048" cy="384048"/>
          </a:xfrm>
          <a:prstGeom prst="roundRect">
            <a:avLst>
              <a:gd name="adj" fmla="val 21053"/>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2</a:t>
            </a:r>
            <a:endParaRPr sz="1500" b="1">
              <a:solidFill>
                <a:srgbClr val="FFFFFF"/>
              </a:solidFill>
              <a:latin typeface="Calibri" panose="020F0502020204030204"/>
            </a:endParaRPr>
          </a:p>
        </p:txBody>
      </p:sp>
      <p:sp>
        <p:nvSpPr>
          <p:cNvPr id="8" name="TextBox 7"/>
          <p:cNvSpPr txBox="1"/>
          <p:nvPr/>
        </p:nvSpPr>
        <p:spPr>
          <a:xfrm>
            <a:off x="987552" y="2258568"/>
            <a:ext cx="5577840" cy="566928"/>
          </a:xfrm>
          <a:prstGeom prst="rect">
            <a:avLst/>
          </a:prstGeom>
          <a:noFill/>
        </p:spPr>
        <p:txBody>
          <a:bodyPr wrap="square" lIns="0" tIns="0" rIns="0" bIns="0" anchor="ctr">
            <a:spAutoFit/>
          </a:bodyPr>
          <a:lstStyle/>
          <a:p>
            <a:pPr algn="l">
              <a:lnSpc>
                <a:spcPct val="105000"/>
              </a:lnSpc>
            </a:pPr>
            <a:r>
              <a:rPr sz="1150" b="0">
                <a:solidFill>
                  <a:srgbClr val="191919"/>
                </a:solidFill>
                <a:latin typeface="Calibri" panose="020F0502020204030204"/>
              </a:rPr>
              <a:t>Node API checks the user's monthly quota first</a:t>
            </a:r>
            <a:endParaRPr sz="1150" b="0">
              <a:solidFill>
                <a:srgbClr val="191919"/>
              </a:solidFill>
              <a:latin typeface="Calibri" panose="020F0502020204030204"/>
            </a:endParaRPr>
          </a:p>
        </p:txBody>
      </p:sp>
      <p:sp>
        <p:nvSpPr>
          <p:cNvPr id="9" name="Rounded Rectangle 8"/>
          <p:cNvSpPr/>
          <p:nvPr/>
        </p:nvSpPr>
        <p:spPr>
          <a:xfrm>
            <a:off x="457200" y="2825496"/>
            <a:ext cx="384048" cy="384048"/>
          </a:xfrm>
          <a:prstGeom prst="roundRect">
            <a:avLst>
              <a:gd name="adj" fmla="val 21053"/>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3</a:t>
            </a:r>
            <a:endParaRPr sz="1500" b="1">
              <a:solidFill>
                <a:srgbClr val="FFFFFF"/>
              </a:solidFill>
              <a:latin typeface="Calibri" panose="020F0502020204030204"/>
            </a:endParaRPr>
          </a:p>
        </p:txBody>
      </p:sp>
      <p:sp>
        <p:nvSpPr>
          <p:cNvPr id="10" name="TextBox 9"/>
          <p:cNvSpPr txBox="1"/>
          <p:nvPr/>
        </p:nvSpPr>
        <p:spPr>
          <a:xfrm>
            <a:off x="987552" y="2825496"/>
            <a:ext cx="5577840" cy="566928"/>
          </a:xfrm>
          <a:prstGeom prst="rect">
            <a:avLst/>
          </a:prstGeom>
          <a:noFill/>
        </p:spPr>
        <p:txBody>
          <a:bodyPr wrap="square" lIns="0" tIns="0" rIns="0" bIns="0" anchor="ctr">
            <a:spAutoFit/>
          </a:bodyPr>
          <a:lstStyle/>
          <a:p>
            <a:pPr algn="l">
              <a:lnSpc>
                <a:spcPct val="105000"/>
              </a:lnSpc>
            </a:pPr>
            <a:r>
              <a:rPr sz="1150" b="0">
                <a:solidFill>
                  <a:srgbClr val="191919"/>
                </a:solidFill>
                <a:latin typeface="Calibri" panose="020F0502020204030204"/>
              </a:rPr>
              <a:t>Three checks run: ML model · blacklist · rule checks</a:t>
            </a:r>
            <a:endParaRPr sz="1150" b="0">
              <a:solidFill>
                <a:srgbClr val="191919"/>
              </a:solidFill>
              <a:latin typeface="Calibri" panose="020F0502020204030204"/>
            </a:endParaRPr>
          </a:p>
        </p:txBody>
      </p:sp>
      <p:sp>
        <p:nvSpPr>
          <p:cNvPr id="11" name="Rounded Rectangle 10"/>
          <p:cNvSpPr/>
          <p:nvPr/>
        </p:nvSpPr>
        <p:spPr>
          <a:xfrm>
            <a:off x="457200" y="3392424"/>
            <a:ext cx="384048" cy="384048"/>
          </a:xfrm>
          <a:prstGeom prst="roundRect">
            <a:avLst>
              <a:gd name="adj" fmla="val 21053"/>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4</a:t>
            </a:r>
            <a:endParaRPr sz="1500" b="1">
              <a:solidFill>
                <a:srgbClr val="FFFFFF"/>
              </a:solidFill>
              <a:latin typeface="Calibri" panose="020F0502020204030204"/>
            </a:endParaRPr>
          </a:p>
        </p:txBody>
      </p:sp>
      <p:sp>
        <p:nvSpPr>
          <p:cNvPr id="12" name="TextBox 11"/>
          <p:cNvSpPr txBox="1"/>
          <p:nvPr/>
        </p:nvSpPr>
        <p:spPr>
          <a:xfrm>
            <a:off x="987552" y="3392424"/>
            <a:ext cx="5577840" cy="566928"/>
          </a:xfrm>
          <a:prstGeom prst="rect">
            <a:avLst/>
          </a:prstGeom>
          <a:noFill/>
        </p:spPr>
        <p:txBody>
          <a:bodyPr wrap="square" lIns="0" tIns="0" rIns="0" bIns="0" anchor="ctr">
            <a:spAutoFit/>
          </a:bodyPr>
          <a:lstStyle/>
          <a:p>
            <a:pPr algn="l">
              <a:lnSpc>
                <a:spcPct val="105000"/>
              </a:lnSpc>
            </a:pPr>
            <a:r>
              <a:rPr sz="1150" b="0">
                <a:solidFill>
                  <a:srgbClr val="191919"/>
                </a:solidFill>
                <a:latin typeface="Calibri" panose="020F0502020204030204"/>
              </a:rPr>
              <a:t>Signals combine into one 0–100 fraud score + flags</a:t>
            </a:r>
            <a:endParaRPr sz="1150" b="0">
              <a:solidFill>
                <a:srgbClr val="191919"/>
              </a:solidFill>
              <a:latin typeface="Calibri" panose="020F0502020204030204"/>
            </a:endParaRPr>
          </a:p>
        </p:txBody>
      </p:sp>
      <p:sp>
        <p:nvSpPr>
          <p:cNvPr id="13" name="Rounded Rectangle 12"/>
          <p:cNvSpPr/>
          <p:nvPr/>
        </p:nvSpPr>
        <p:spPr>
          <a:xfrm>
            <a:off x="457200" y="3959352"/>
            <a:ext cx="384048" cy="384048"/>
          </a:xfrm>
          <a:prstGeom prst="roundRect">
            <a:avLst>
              <a:gd name="adj" fmla="val 21053"/>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5</a:t>
            </a:r>
            <a:endParaRPr sz="1500" b="1">
              <a:solidFill>
                <a:srgbClr val="FFFFFF"/>
              </a:solidFill>
              <a:latin typeface="Calibri" panose="020F0502020204030204"/>
            </a:endParaRPr>
          </a:p>
        </p:txBody>
      </p:sp>
      <p:sp>
        <p:nvSpPr>
          <p:cNvPr id="14" name="TextBox 13"/>
          <p:cNvSpPr txBox="1"/>
          <p:nvPr/>
        </p:nvSpPr>
        <p:spPr>
          <a:xfrm>
            <a:off x="987552" y="3959352"/>
            <a:ext cx="5577840" cy="566928"/>
          </a:xfrm>
          <a:prstGeom prst="rect">
            <a:avLst/>
          </a:prstGeom>
          <a:noFill/>
        </p:spPr>
        <p:txBody>
          <a:bodyPr wrap="square" lIns="0" tIns="0" rIns="0" bIns="0" anchor="ctr">
            <a:spAutoFit/>
          </a:bodyPr>
          <a:lstStyle/>
          <a:p>
            <a:pPr algn="l">
              <a:lnSpc>
                <a:spcPct val="105000"/>
              </a:lnSpc>
            </a:pPr>
            <a:r>
              <a:rPr sz="1150" b="0">
                <a:solidFill>
                  <a:srgbClr val="191919"/>
                </a:solidFill>
                <a:latin typeface="Calibri" panose="020F0502020204030204"/>
              </a:rPr>
              <a:t>Extension shows a color-coded Trust Score badge</a:t>
            </a:r>
            <a:endParaRPr sz="1150" b="0">
              <a:solidFill>
                <a:srgbClr val="191919"/>
              </a:solidFill>
              <a:latin typeface="Calibri" panose="020F0502020204030204"/>
            </a:endParaRPr>
          </a:p>
        </p:txBody>
      </p:sp>
      <p:sp>
        <p:nvSpPr>
          <p:cNvPr id="15" name="Rounded Rectangle 14"/>
          <p:cNvSpPr/>
          <p:nvPr/>
        </p:nvSpPr>
        <p:spPr>
          <a:xfrm>
            <a:off x="457200" y="4690872"/>
            <a:ext cx="6126480" cy="566928"/>
          </a:xfrm>
          <a:prstGeom prst="roundRect">
            <a:avLst>
              <a:gd name="adj" fmla="val 10000"/>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690872"/>
            <a:ext cx="5852160" cy="566928"/>
          </a:xfrm>
          <a:prstGeom prst="rect">
            <a:avLst/>
          </a:prstGeom>
          <a:noFill/>
        </p:spPr>
        <p:txBody>
          <a:bodyPr wrap="square" lIns="0" tIns="0" rIns="0" bIns="0" anchor="ctr">
            <a:spAutoFit/>
          </a:bodyPr>
          <a:lstStyle/>
          <a:p>
            <a:pPr algn="l"/>
            <a:r>
              <a:rPr sz="1300" b="1">
                <a:solidFill>
                  <a:srgbClr val="FFFFFF"/>
                </a:solidFill>
                <a:latin typeface="Calibri" panose="020F0502020204030204"/>
              </a:rPr>
              <a:t>Fraud Score = </a:t>
            </a:r>
            <a:r>
              <a:rPr sz="1300" b="1">
                <a:solidFill>
                  <a:srgbClr val="6FB2F5"/>
                </a:solidFill>
                <a:latin typeface="Calibri" panose="020F0502020204030204"/>
              </a:rPr>
              <a:t>0.6</a:t>
            </a:r>
            <a:r>
              <a:rPr sz="1300" b="0">
                <a:solidFill>
                  <a:srgbClr val="FFFFFF"/>
                </a:solidFill>
                <a:latin typeface="Calibri" panose="020F0502020204030204"/>
              </a:rPr>
              <a:t> × ML  +  </a:t>
            </a:r>
            <a:r>
              <a:rPr sz="1300" b="1">
                <a:solidFill>
                  <a:srgbClr val="F5A25A"/>
                </a:solidFill>
                <a:latin typeface="Calibri" panose="020F0502020204030204"/>
              </a:rPr>
              <a:t>0.3</a:t>
            </a:r>
            <a:r>
              <a:rPr sz="1300" b="0">
                <a:solidFill>
                  <a:srgbClr val="FFFFFF"/>
                </a:solidFill>
                <a:latin typeface="Calibri" panose="020F0502020204030204"/>
              </a:rPr>
              <a:t> × blacklist  +  </a:t>
            </a:r>
            <a:r>
              <a:rPr sz="1300" b="1">
                <a:solidFill>
                  <a:srgbClr val="8FE0A8"/>
                </a:solidFill>
                <a:latin typeface="Calibri" panose="020F0502020204030204"/>
              </a:rPr>
              <a:t>0.1</a:t>
            </a:r>
            <a:r>
              <a:rPr sz="1300" b="0">
                <a:solidFill>
                  <a:srgbClr val="FFFFFF"/>
                </a:solidFill>
                <a:latin typeface="Calibri" panose="020F0502020204030204"/>
              </a:rPr>
              <a:t> × rules</a:t>
            </a:r>
            <a:endParaRPr sz="1300" b="0">
              <a:solidFill>
                <a:srgbClr val="FFFFFF"/>
              </a:solidFill>
              <a:latin typeface="Calibri" panose="020F0502020204030204"/>
            </a:endParaRPr>
          </a:p>
        </p:txBody>
      </p:sp>
      <p:sp>
        <p:nvSpPr>
          <p:cNvPr id="17" name="Rounded Rectangle 16"/>
          <p:cNvSpPr/>
          <p:nvPr/>
        </p:nvSpPr>
        <p:spPr>
          <a:xfrm>
            <a:off x="457200" y="5404104"/>
            <a:ext cx="1947672" cy="457200"/>
          </a:xfrm>
          <a:prstGeom prst="roundRect">
            <a:avLst>
              <a:gd name="adj" fmla="val 1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404104"/>
            <a:ext cx="1947672" cy="457200"/>
          </a:xfrm>
          <a:prstGeom prst="rect">
            <a:avLst/>
          </a:prstGeom>
          <a:noFill/>
        </p:spPr>
        <p:txBody>
          <a:bodyPr wrap="square" lIns="0" tIns="0" rIns="0" bIns="0" anchor="ctr">
            <a:spAutoFit/>
          </a:bodyPr>
          <a:lstStyle/>
          <a:p>
            <a:pPr algn="ctr"/>
            <a:r>
              <a:rPr sz="1050" b="1">
                <a:solidFill>
                  <a:srgbClr val="057642"/>
                </a:solidFill>
                <a:latin typeface="Calibri" panose="020F0502020204030204"/>
              </a:rPr>
              <a:t>≥ 70%  Likely Real</a:t>
            </a:r>
            <a:endParaRPr sz="1050" b="1">
              <a:solidFill>
                <a:srgbClr val="057642"/>
              </a:solidFill>
              <a:latin typeface="Calibri" panose="020F0502020204030204"/>
            </a:endParaRPr>
          </a:p>
        </p:txBody>
      </p:sp>
      <p:sp>
        <p:nvSpPr>
          <p:cNvPr id="19" name="Rounded Rectangle 18"/>
          <p:cNvSpPr/>
          <p:nvPr/>
        </p:nvSpPr>
        <p:spPr>
          <a:xfrm>
            <a:off x="2496312" y="5404104"/>
            <a:ext cx="1947672" cy="457200"/>
          </a:xfrm>
          <a:prstGeom prst="roundRect">
            <a:avLst>
              <a:gd name="adj" fmla="val 18000"/>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96312" y="5404104"/>
            <a:ext cx="1947672" cy="457200"/>
          </a:xfrm>
          <a:prstGeom prst="rect">
            <a:avLst/>
          </a:prstGeom>
          <a:noFill/>
        </p:spPr>
        <p:txBody>
          <a:bodyPr wrap="square" lIns="0" tIns="0" rIns="0" bIns="0" anchor="ctr">
            <a:spAutoFit/>
          </a:bodyPr>
          <a:lstStyle/>
          <a:p>
            <a:pPr algn="ctr"/>
            <a:r>
              <a:rPr sz="1050" b="1">
                <a:solidFill>
                  <a:srgbClr val="B8860B"/>
                </a:solidFill>
                <a:latin typeface="Calibri" panose="020F0502020204030204"/>
              </a:rPr>
              <a:t>40–69%  Use Caution</a:t>
            </a:r>
            <a:endParaRPr sz="1050" b="1">
              <a:solidFill>
                <a:srgbClr val="B8860B"/>
              </a:solidFill>
              <a:latin typeface="Calibri" panose="020F0502020204030204"/>
            </a:endParaRPr>
          </a:p>
        </p:txBody>
      </p:sp>
      <p:sp>
        <p:nvSpPr>
          <p:cNvPr id="21" name="Rounded Rectangle 20"/>
          <p:cNvSpPr/>
          <p:nvPr/>
        </p:nvSpPr>
        <p:spPr>
          <a:xfrm>
            <a:off x="4535424" y="5404104"/>
            <a:ext cx="1947672" cy="457200"/>
          </a:xfrm>
          <a:prstGeom prst="roundRect">
            <a:avLst>
              <a:gd name="adj" fmla="val 18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35424" y="5404104"/>
            <a:ext cx="1947672" cy="457200"/>
          </a:xfrm>
          <a:prstGeom prst="rect">
            <a:avLst/>
          </a:prstGeom>
          <a:noFill/>
        </p:spPr>
        <p:txBody>
          <a:bodyPr wrap="square" lIns="0" tIns="0" rIns="0" bIns="0" anchor="ctr">
            <a:spAutoFit/>
          </a:bodyPr>
          <a:lstStyle/>
          <a:p>
            <a:pPr algn="ctr"/>
            <a:r>
              <a:rPr sz="1050" b="1">
                <a:solidFill>
                  <a:srgbClr val="CC1016"/>
                </a:solidFill>
                <a:latin typeface="Calibri" panose="020F0502020204030204"/>
              </a:rPr>
              <a:t>&lt; 40%  Likely Fake</a:t>
            </a:r>
            <a:endParaRPr sz="1050" b="1">
              <a:solidFill>
                <a:srgbClr val="CC1016"/>
              </a:solidFill>
              <a:latin typeface="Calibri" panose="020F0502020204030204"/>
            </a:endParaRPr>
          </a:p>
        </p:txBody>
      </p:sp>
      <p:sp>
        <p:nvSpPr>
          <p:cNvPr id="23" name="TextBox 22"/>
          <p:cNvSpPr txBox="1"/>
          <p:nvPr/>
        </p:nvSpPr>
        <p:spPr>
          <a:xfrm>
            <a:off x="7406640" y="1691640"/>
            <a:ext cx="4325112" cy="274320"/>
          </a:xfrm>
          <a:prstGeom prst="rect">
            <a:avLst/>
          </a:prstGeom>
          <a:noFill/>
        </p:spPr>
        <p:txBody>
          <a:bodyPr wrap="square" lIns="0" tIns="0" rIns="0" bIns="0" anchor="ctr">
            <a:spAutoFit/>
          </a:bodyPr>
          <a:lstStyle/>
          <a:p>
            <a:pPr algn="l"/>
            <a:r>
              <a:rPr sz="1100" b="1">
                <a:solidFill>
                  <a:srgbClr val="0A66C2"/>
                </a:solidFill>
                <a:latin typeface="Calibri" panose="020F0502020204030204"/>
              </a:rPr>
              <a:t>DESIGN EVOLUTION</a:t>
            </a:r>
            <a:endParaRPr sz="1100" b="1">
              <a:solidFill>
                <a:srgbClr val="0A66C2"/>
              </a:solidFill>
              <a:latin typeface="Calibri" panose="020F0502020204030204"/>
            </a:endParaRPr>
          </a:p>
        </p:txBody>
      </p:sp>
      <p:sp>
        <p:nvSpPr>
          <p:cNvPr id="24" name="Rounded Rectangle 23"/>
          <p:cNvSpPr/>
          <p:nvPr/>
        </p:nvSpPr>
        <p:spPr>
          <a:xfrm>
            <a:off x="7406640" y="2057400"/>
            <a:ext cx="4325112" cy="1965960"/>
          </a:xfrm>
          <a:prstGeom prst="roundRect">
            <a:avLst>
              <a:gd name="adj" fmla="val 4000"/>
            </a:avLst>
          </a:prstGeom>
          <a:solidFill>
            <a:srgbClr val="0F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89519" y="2240280"/>
            <a:ext cx="914400" cy="256032"/>
          </a:xfrm>
          <a:prstGeom prst="roundRect">
            <a:avLst>
              <a:gd name="adj" fmla="val 2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19" y="2240280"/>
            <a:ext cx="914400" cy="256032"/>
          </a:xfrm>
          <a:prstGeom prst="rect">
            <a:avLst/>
          </a:prstGeom>
          <a:noFill/>
        </p:spPr>
        <p:txBody>
          <a:bodyPr wrap="square" lIns="0" tIns="0" rIns="0" bIns="0" anchor="ctr">
            <a:spAutoFit/>
          </a:bodyPr>
          <a:lstStyle/>
          <a:p>
            <a:pPr algn="ctr"/>
            <a:r>
              <a:rPr sz="900" b="1">
                <a:solidFill>
                  <a:srgbClr val="0F0F1E"/>
                </a:solidFill>
                <a:latin typeface="Calibri" panose="020F0502020204030204"/>
              </a:rPr>
              <a:t>BEFORE</a:t>
            </a:r>
            <a:endParaRPr sz="900" b="1">
              <a:solidFill>
                <a:srgbClr val="0F0F1E"/>
              </a:solidFill>
              <a:latin typeface="Calibri" panose="020F0502020204030204"/>
            </a:endParaRPr>
          </a:p>
        </p:txBody>
      </p:sp>
      <p:sp>
        <p:nvSpPr>
          <p:cNvPr id="27" name="TextBox 26"/>
          <p:cNvSpPr txBox="1"/>
          <p:nvPr/>
        </p:nvSpPr>
        <p:spPr>
          <a:xfrm>
            <a:off x="7589519" y="2587752"/>
            <a:ext cx="2011680" cy="320040"/>
          </a:xfrm>
          <a:prstGeom prst="rect">
            <a:avLst/>
          </a:prstGeom>
          <a:noFill/>
        </p:spPr>
        <p:txBody>
          <a:bodyPr wrap="square" lIns="0" tIns="0" rIns="0" bIns="0" anchor="ctr">
            <a:spAutoFit/>
          </a:bodyPr>
          <a:lstStyle/>
          <a:p>
            <a:pPr algn="l"/>
            <a:r>
              <a:rPr sz="1100" b="1">
                <a:solidFill>
                  <a:srgbClr val="FFFFFF"/>
                </a:solidFill>
                <a:latin typeface="Calibri" panose="020F0502020204030204"/>
              </a:rPr>
              <a:t>eXD  NOKRIEXTENDDD</a:t>
            </a:r>
            <a:endParaRPr sz="1100" b="1">
              <a:solidFill>
                <a:srgbClr val="FFFFFF"/>
              </a:solidFill>
              <a:latin typeface="Calibri" panose="020F0502020204030204"/>
            </a:endParaRPr>
          </a:p>
        </p:txBody>
      </p:sp>
      <p:sp>
        <p:nvSpPr>
          <p:cNvPr id="28" name="TextBox 27"/>
          <p:cNvSpPr txBox="1"/>
          <p:nvPr/>
        </p:nvSpPr>
        <p:spPr>
          <a:xfrm>
            <a:off x="7589519" y="2898648"/>
            <a:ext cx="1463040" cy="502920"/>
          </a:xfrm>
          <a:prstGeom prst="rect">
            <a:avLst/>
          </a:prstGeom>
          <a:noFill/>
        </p:spPr>
        <p:txBody>
          <a:bodyPr wrap="square" lIns="0" tIns="0" rIns="0" bIns="0" anchor="ctr">
            <a:spAutoFit/>
          </a:bodyPr>
          <a:lstStyle/>
          <a:p>
            <a:pPr algn="l"/>
            <a:r>
              <a:rPr sz="2600" b="1">
                <a:solidFill>
                  <a:srgbClr val="4ADE80"/>
                </a:solidFill>
                <a:latin typeface="Calibri" panose="020F0502020204030204"/>
              </a:rPr>
              <a:t>87%</a:t>
            </a:r>
            <a:endParaRPr sz="2600" b="1">
              <a:solidFill>
                <a:srgbClr val="4ADE80"/>
              </a:solidFill>
              <a:latin typeface="Calibri" panose="020F0502020204030204"/>
            </a:endParaRPr>
          </a:p>
        </p:txBody>
      </p:sp>
      <p:sp>
        <p:nvSpPr>
          <p:cNvPr id="29" name="Rounded Rectangle 28"/>
          <p:cNvSpPr/>
          <p:nvPr/>
        </p:nvSpPr>
        <p:spPr>
          <a:xfrm>
            <a:off x="7589519" y="3429000"/>
            <a:ext cx="1234440" cy="292608"/>
          </a:xfrm>
          <a:prstGeom prst="roundRect">
            <a:avLst>
              <a:gd name="adj" fmla="val 2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19" y="3429000"/>
            <a:ext cx="1234440" cy="292608"/>
          </a:xfrm>
          <a:prstGeom prst="rect">
            <a:avLst/>
          </a:prstGeom>
          <a:noFill/>
        </p:spPr>
        <p:txBody>
          <a:bodyPr wrap="square" lIns="0" tIns="0" rIns="0" bIns="0" anchor="ctr">
            <a:spAutoFit/>
          </a:bodyPr>
          <a:lstStyle/>
          <a:p>
            <a:pPr algn="ctr"/>
            <a:r>
              <a:rPr sz="850" b="1">
                <a:solidFill>
                  <a:srgbClr val="0F0F1E"/>
                </a:solidFill>
                <a:latin typeface="Calibri" panose="020F0502020204030204"/>
              </a:rPr>
              <a:t>LIKELY REAL</a:t>
            </a:r>
            <a:endParaRPr sz="850" b="1">
              <a:solidFill>
                <a:srgbClr val="0F0F1E"/>
              </a:solidFill>
              <a:latin typeface="Calibri" panose="020F0502020204030204"/>
            </a:endParaRPr>
          </a:p>
        </p:txBody>
      </p:sp>
      <p:sp>
        <p:nvSpPr>
          <p:cNvPr id="31" name="TextBox 30"/>
          <p:cNvSpPr txBox="1"/>
          <p:nvPr/>
        </p:nvSpPr>
        <p:spPr>
          <a:xfrm>
            <a:off x="8961119" y="2898648"/>
            <a:ext cx="2587752" cy="822960"/>
          </a:xfrm>
          <a:prstGeom prst="rect">
            <a:avLst/>
          </a:prstGeom>
          <a:noFill/>
        </p:spPr>
        <p:txBody>
          <a:bodyPr wrap="square" lIns="0" tIns="0" rIns="0" bIns="0" anchor="ctr">
            <a:spAutoFit/>
          </a:bodyPr>
          <a:lstStyle/>
          <a:p>
            <a:pPr algn="l">
              <a:lnSpc>
                <a:spcPct val="115000"/>
              </a:lnSpc>
            </a:pPr>
            <a:r>
              <a:rPr sz="950" b="0">
                <a:solidFill>
                  <a:srgbClr val="C9D6E8"/>
                </a:solidFill>
                <a:latin typeface="Calibri" panose="020F0502020204030204"/>
              </a:rPr>
              <a:t>Hard pixel borders · monospace type · dark navy “game UI” frame</a:t>
            </a:r>
            <a:endParaRPr sz="950" b="0">
              <a:solidFill>
                <a:srgbClr val="C9D6E8"/>
              </a:solidFill>
              <a:latin typeface="Calibri" panose="020F0502020204030204"/>
            </a:endParaRPr>
          </a:p>
        </p:txBody>
      </p:sp>
      <p:sp>
        <p:nvSpPr>
          <p:cNvPr id="32" name="Rounded Rectangle 31"/>
          <p:cNvSpPr/>
          <p:nvPr/>
        </p:nvSpPr>
        <p:spPr>
          <a:xfrm>
            <a:off x="7406640" y="4160520"/>
            <a:ext cx="4325112" cy="1965960"/>
          </a:xfrm>
          <a:prstGeom prst="roundRect">
            <a:avLst>
              <a:gd name="adj" fmla="val 4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589519" y="4343400"/>
            <a:ext cx="822960" cy="256032"/>
          </a:xfrm>
          <a:prstGeom prst="roundRect">
            <a:avLst>
              <a:gd name="adj" fmla="val 20000"/>
            </a:avLst>
          </a:prstGeom>
          <a:solidFill>
            <a:srgbClr val="057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19" y="4343400"/>
            <a:ext cx="822960" cy="256032"/>
          </a:xfrm>
          <a:prstGeom prst="rect">
            <a:avLst/>
          </a:prstGeom>
          <a:noFill/>
        </p:spPr>
        <p:txBody>
          <a:bodyPr wrap="square" lIns="0" tIns="0" rIns="0" bIns="0" anchor="ctr">
            <a:spAutoFit/>
          </a:bodyPr>
          <a:lstStyle/>
          <a:p>
            <a:pPr algn="ctr"/>
            <a:r>
              <a:rPr sz="900" b="1">
                <a:solidFill>
                  <a:srgbClr val="FFFFFF"/>
                </a:solidFill>
                <a:latin typeface="Calibri" panose="020F0502020204030204"/>
              </a:rPr>
              <a:t>AFTER</a:t>
            </a:r>
            <a:endParaRPr sz="900" b="1">
              <a:solidFill>
                <a:srgbClr val="FFFFFF"/>
              </a:solidFill>
              <a:latin typeface="Calibri" panose="020F0502020204030204"/>
            </a:endParaRPr>
          </a:p>
        </p:txBody>
      </p:sp>
      <p:sp>
        <p:nvSpPr>
          <p:cNvPr id="35" name="Rounded Rectangle 34"/>
          <p:cNvSpPr/>
          <p:nvPr/>
        </p:nvSpPr>
        <p:spPr>
          <a:xfrm>
            <a:off x="7589519" y="4690872"/>
            <a:ext cx="310896" cy="310896"/>
          </a:xfrm>
          <a:prstGeom prst="roundRect">
            <a:avLst>
              <a:gd name="adj" fmla="val 21053"/>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panose="020F0502020204030204"/>
              </a:rPr>
              <a:t>eXD</a:t>
            </a:r>
            <a:endParaRPr sz="1000" b="1">
              <a:solidFill>
                <a:srgbClr val="FFFFFF"/>
              </a:solidFill>
              <a:latin typeface="Calibri" panose="020F0502020204030204"/>
            </a:endParaRPr>
          </a:p>
        </p:txBody>
      </p:sp>
      <p:sp>
        <p:nvSpPr>
          <p:cNvPr id="36" name="TextBox 35"/>
          <p:cNvSpPr txBox="1"/>
          <p:nvPr/>
        </p:nvSpPr>
        <p:spPr>
          <a:xfrm>
            <a:off x="8028431" y="4690872"/>
            <a:ext cx="1645920" cy="310896"/>
          </a:xfrm>
          <a:prstGeom prst="rect">
            <a:avLst/>
          </a:prstGeom>
          <a:noFill/>
        </p:spPr>
        <p:txBody>
          <a:bodyPr wrap="square" lIns="0" tIns="0" rIns="0" bIns="0" anchor="ctr">
            <a:spAutoFit/>
          </a:bodyPr>
          <a:lstStyle/>
          <a:p>
            <a:pPr algn="l"/>
            <a:r>
              <a:rPr sz="1100" b="1">
                <a:solidFill>
                  <a:srgbClr val="191919"/>
                </a:solidFill>
                <a:latin typeface="Calibri" panose="020F0502020204030204"/>
              </a:rPr>
              <a:t>NokriExtenddd</a:t>
            </a:r>
            <a:endParaRPr sz="1100" b="1">
              <a:solidFill>
                <a:srgbClr val="191919"/>
              </a:solidFill>
              <a:latin typeface="Calibri" panose="020F0502020204030204"/>
            </a:endParaRPr>
          </a:p>
        </p:txBody>
      </p:sp>
      <p:sp>
        <p:nvSpPr>
          <p:cNvPr id="37" name="TextBox 36"/>
          <p:cNvSpPr txBox="1"/>
          <p:nvPr/>
        </p:nvSpPr>
        <p:spPr>
          <a:xfrm>
            <a:off x="7589519" y="5056632"/>
            <a:ext cx="1463040" cy="502920"/>
          </a:xfrm>
          <a:prstGeom prst="rect">
            <a:avLst/>
          </a:prstGeom>
          <a:noFill/>
        </p:spPr>
        <p:txBody>
          <a:bodyPr wrap="square" lIns="0" tIns="0" rIns="0" bIns="0" anchor="ctr">
            <a:spAutoFit/>
          </a:bodyPr>
          <a:lstStyle/>
          <a:p>
            <a:pPr algn="l"/>
            <a:r>
              <a:rPr sz="2600" b="1">
                <a:solidFill>
                  <a:srgbClr val="057642"/>
                </a:solidFill>
                <a:latin typeface="Calibri" panose="020F0502020204030204"/>
              </a:rPr>
              <a:t>87%</a:t>
            </a:r>
            <a:endParaRPr sz="2600" b="1">
              <a:solidFill>
                <a:srgbClr val="057642"/>
              </a:solidFill>
              <a:latin typeface="Calibri" panose="020F0502020204030204"/>
            </a:endParaRPr>
          </a:p>
        </p:txBody>
      </p:sp>
      <p:sp>
        <p:nvSpPr>
          <p:cNvPr id="38" name="Rounded Rectangle 37"/>
          <p:cNvSpPr/>
          <p:nvPr/>
        </p:nvSpPr>
        <p:spPr>
          <a:xfrm>
            <a:off x="7589519" y="5577840"/>
            <a:ext cx="1234440" cy="274320"/>
          </a:xfrm>
          <a:prstGeom prst="roundRect">
            <a:avLst>
              <a:gd name="adj" fmla="val 2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9519" y="5577840"/>
            <a:ext cx="1234440" cy="274320"/>
          </a:xfrm>
          <a:prstGeom prst="rect">
            <a:avLst/>
          </a:prstGeom>
          <a:noFill/>
        </p:spPr>
        <p:txBody>
          <a:bodyPr wrap="square" lIns="0" tIns="0" rIns="0" bIns="0" anchor="ctr">
            <a:spAutoFit/>
          </a:bodyPr>
          <a:lstStyle/>
          <a:p>
            <a:pPr algn="ctr"/>
            <a:r>
              <a:rPr sz="900" b="1">
                <a:solidFill>
                  <a:srgbClr val="057642"/>
                </a:solidFill>
                <a:latin typeface="Calibri" panose="020F0502020204030204"/>
              </a:rPr>
              <a:t>Likely Real</a:t>
            </a:r>
            <a:endParaRPr sz="900" b="1">
              <a:solidFill>
                <a:srgbClr val="057642"/>
              </a:solidFill>
              <a:latin typeface="Calibri" panose="020F0502020204030204"/>
            </a:endParaRPr>
          </a:p>
        </p:txBody>
      </p:sp>
      <p:sp>
        <p:nvSpPr>
          <p:cNvPr id="40" name="TextBox 39"/>
          <p:cNvSpPr txBox="1"/>
          <p:nvPr/>
        </p:nvSpPr>
        <p:spPr>
          <a:xfrm>
            <a:off x="8961119" y="5056632"/>
            <a:ext cx="2587752" cy="822960"/>
          </a:xfrm>
          <a:prstGeom prst="rect">
            <a:avLst/>
          </a:prstGeom>
          <a:noFill/>
        </p:spPr>
        <p:txBody>
          <a:bodyPr wrap="square" lIns="0" tIns="0" rIns="0" bIns="0" anchor="ctr">
            <a:spAutoFit/>
          </a:bodyPr>
          <a:lstStyle/>
          <a:p>
            <a:pPr algn="l">
              <a:lnSpc>
                <a:spcPct val="115000"/>
              </a:lnSpc>
            </a:pPr>
            <a:r>
              <a:rPr sz="950" b="0">
                <a:solidFill>
                  <a:srgbClr val="666666"/>
                </a:solidFill>
                <a:latin typeface="Calibri" panose="020F0502020204030204"/>
              </a:rPr>
              <a:t>Soft rounded cards · LinkedIn blue · Trust Score</a:t>
            </a:r>
            <a:endParaRPr sz="950" b="0">
              <a:solidFill>
                <a:srgbClr val="666666"/>
              </a:solidFill>
              <a:latin typeface="Calibri" panose="020F0502020204030204"/>
            </a:endParaRPr>
          </a:p>
        </p:txBody>
      </p:sp>
      <p:sp>
        <p:nvSpPr>
          <p:cNvPr id="41" name="TextBox 40"/>
          <p:cNvSpPr txBox="1"/>
          <p:nvPr/>
        </p:nvSpPr>
        <p:spPr>
          <a:xfrm>
            <a:off x="457200" y="6537960"/>
            <a:ext cx="2743200" cy="274320"/>
          </a:xfrm>
          <a:prstGeom prst="rect">
            <a:avLst/>
          </a:prstGeom>
          <a:noFill/>
        </p:spPr>
        <p:txBody>
          <a:bodyPr wrap="square" lIns="0" tIns="0" rIns="0" bIns="0" anchor="ctr">
            <a:spAutoFit/>
          </a:bodyPr>
          <a:lstStyle/>
          <a:p>
            <a:pPr algn="l"/>
            <a:r>
              <a:rPr sz="1000" b="0">
                <a:solidFill>
                  <a:srgbClr val="666666"/>
                </a:solidFill>
                <a:latin typeface="Calibri" panose="020F0502020204030204"/>
              </a:rPr>
              <a:t>NokriExtenddd</a:t>
            </a:r>
            <a:endParaRPr sz="1000" b="0">
              <a:solidFill>
                <a:srgbClr val="666666"/>
              </a:solidFill>
              <a:latin typeface="Calibri" panose="020F0502020204030204"/>
            </a:endParaRPr>
          </a:p>
        </p:txBody>
      </p:sp>
      <p:sp>
        <p:nvSpPr>
          <p:cNvPr id="42" name="TextBox 41"/>
          <p:cNvSpPr txBox="1"/>
          <p:nvPr/>
        </p:nvSpPr>
        <p:spPr>
          <a:xfrm>
            <a:off x="9966960" y="6537960"/>
            <a:ext cx="1764792" cy="274320"/>
          </a:xfrm>
          <a:prstGeom prst="rect">
            <a:avLst/>
          </a:prstGeom>
          <a:noFill/>
        </p:spPr>
        <p:txBody>
          <a:bodyPr wrap="square" lIns="0" tIns="0" rIns="0" bIns="0" anchor="ctr">
            <a:spAutoFit/>
          </a:bodyPr>
          <a:lstStyle/>
          <a:p>
            <a:pPr algn="r"/>
            <a:r>
              <a:rPr sz="1000" b="0">
                <a:solidFill>
                  <a:srgbClr val="666666"/>
                </a:solidFill>
                <a:latin typeface="Calibri" panose="020F0502020204030204"/>
              </a:rPr>
              <a:t>04 / 07</a:t>
            </a:r>
            <a:endParaRPr sz="1000" b="0">
              <a:solidFill>
                <a:srgbClr val="666666"/>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384048"/>
            <a:ext cx="347472" cy="347472"/>
          </a:xfrm>
          <a:prstGeom prst="roundRect">
            <a:avLst>
              <a:gd name="adj" fmla="val 21053"/>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panose="020F0502020204030204"/>
              </a:rPr>
              <a:t>eXD</a:t>
            </a:r>
            <a:endParaRPr sz="1300" b="1">
              <a:solidFill>
                <a:srgbClr val="FFFFFF"/>
              </a:solidFill>
              <a:latin typeface="Calibri" panose="020F0502020204030204"/>
            </a:endParaRPr>
          </a:p>
        </p:txBody>
      </p:sp>
      <p:sp>
        <p:nvSpPr>
          <p:cNvPr id="3" name="TextBox 2"/>
          <p:cNvSpPr txBox="1"/>
          <p:nvPr/>
        </p:nvSpPr>
        <p:spPr>
          <a:xfrm>
            <a:off x="914400" y="347472"/>
            <a:ext cx="7315200" cy="274320"/>
          </a:xfrm>
          <a:prstGeom prst="rect">
            <a:avLst/>
          </a:prstGeom>
          <a:noFill/>
        </p:spPr>
        <p:txBody>
          <a:bodyPr wrap="square" lIns="0" tIns="0" rIns="0" bIns="0" anchor="ctr">
            <a:spAutoFit/>
          </a:bodyPr>
          <a:lstStyle/>
          <a:p>
            <a:pPr algn="l"/>
            <a:r>
              <a:rPr sz="1100" b="1">
                <a:solidFill>
                  <a:srgbClr val="0A66C2"/>
                </a:solidFill>
                <a:latin typeface="Calibri" panose="020F0502020204030204"/>
              </a:rPr>
              <a:t>RESULTS &amp; WHAT'S BUILT</a:t>
            </a:r>
            <a:endParaRPr sz="1100" b="1">
              <a:solidFill>
                <a:srgbClr val="0A66C2"/>
              </a:solidFill>
              <a:latin typeface="Calibri" panose="020F0502020204030204"/>
            </a:endParaRPr>
          </a:p>
        </p:txBody>
      </p:sp>
      <p:sp>
        <p:nvSpPr>
          <p:cNvPr id="4" name="TextBox 3"/>
          <p:cNvSpPr txBox="1"/>
          <p:nvPr/>
        </p:nvSpPr>
        <p:spPr>
          <a:xfrm>
            <a:off x="457200" y="658368"/>
            <a:ext cx="11247120" cy="594360"/>
          </a:xfrm>
          <a:prstGeom prst="rect">
            <a:avLst/>
          </a:prstGeom>
          <a:noFill/>
        </p:spPr>
        <p:txBody>
          <a:bodyPr wrap="square" lIns="0" tIns="0" rIns="0" bIns="0" anchor="ctr">
            <a:spAutoFit/>
          </a:bodyPr>
          <a:lstStyle/>
          <a:p>
            <a:pPr algn="l"/>
            <a:r>
              <a:rPr sz="2500" b="1">
                <a:solidFill>
                  <a:srgbClr val="191919"/>
                </a:solidFill>
                <a:latin typeface="Calibri" panose="020F0502020204030204"/>
              </a:rPr>
              <a:t>How well it scores, and everything that got built</a:t>
            </a:r>
            <a:endParaRPr sz="2500" b="1">
              <a:solidFill>
                <a:srgbClr val="191919"/>
              </a:solidFill>
              <a:latin typeface="Calibri" panose="020F0502020204030204"/>
            </a:endParaRPr>
          </a:p>
        </p:txBody>
      </p:sp>
      <p:sp>
        <p:nvSpPr>
          <p:cNvPr id="5" name="TextBox 4"/>
          <p:cNvSpPr txBox="1"/>
          <p:nvPr/>
        </p:nvSpPr>
        <p:spPr>
          <a:xfrm>
            <a:off x="457200" y="1691640"/>
            <a:ext cx="3520440" cy="274320"/>
          </a:xfrm>
          <a:prstGeom prst="rect">
            <a:avLst/>
          </a:prstGeom>
          <a:noFill/>
        </p:spPr>
        <p:txBody>
          <a:bodyPr wrap="square" lIns="0" tIns="0" rIns="0" bIns="0" anchor="ctr">
            <a:spAutoFit/>
          </a:bodyPr>
          <a:lstStyle/>
          <a:p>
            <a:pPr algn="l"/>
            <a:r>
              <a:rPr sz="1050" b="1">
                <a:solidFill>
                  <a:srgbClr val="666666"/>
                </a:solidFill>
                <a:latin typeface="Calibri" panose="020F0502020204030204"/>
              </a:rPr>
              <a:t>MODEL RESULTS (41-row test set)</a:t>
            </a:r>
            <a:endParaRPr sz="1050" b="1">
              <a:solidFill>
                <a:srgbClr val="666666"/>
              </a:solidFill>
              <a:latin typeface="Calibri" panose="020F0502020204030204"/>
            </a:endParaRPr>
          </a:p>
        </p:txBody>
      </p:sp>
      <p:sp>
        <p:nvSpPr>
          <p:cNvPr id="6" name="Rounded Rectangle 5"/>
          <p:cNvSpPr/>
          <p:nvPr/>
        </p:nvSpPr>
        <p:spPr>
          <a:xfrm>
            <a:off x="457200" y="2011680"/>
            <a:ext cx="3520440" cy="1234440"/>
          </a:xfrm>
          <a:prstGeom prst="roundRect">
            <a:avLst>
              <a:gd name="adj" fmla="val 6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21408"/>
            <a:ext cx="3063240" cy="685800"/>
          </a:xfrm>
          <a:prstGeom prst="rect">
            <a:avLst/>
          </a:prstGeom>
          <a:noFill/>
        </p:spPr>
        <p:txBody>
          <a:bodyPr wrap="square" lIns="0" tIns="0" rIns="0" bIns="0" anchor="ctr">
            <a:spAutoFit/>
          </a:bodyPr>
          <a:lstStyle/>
          <a:p>
            <a:pPr algn="l"/>
            <a:r>
              <a:rPr sz="3400" b="1">
                <a:solidFill>
                  <a:srgbClr val="0A66C2"/>
                </a:solidFill>
                <a:latin typeface="Calibri" panose="020F0502020204030204"/>
              </a:rPr>
              <a:t>0.758</a:t>
            </a:r>
            <a:endParaRPr sz="3400" b="1">
              <a:solidFill>
                <a:srgbClr val="0A66C2"/>
              </a:solidFill>
              <a:latin typeface="Calibri" panose="020F0502020204030204"/>
            </a:endParaRPr>
          </a:p>
        </p:txBody>
      </p:sp>
      <p:sp>
        <p:nvSpPr>
          <p:cNvPr id="8" name="TextBox 7"/>
          <p:cNvSpPr txBox="1"/>
          <p:nvPr/>
        </p:nvSpPr>
        <p:spPr>
          <a:xfrm>
            <a:off x="685800" y="2788920"/>
            <a:ext cx="3063240" cy="320040"/>
          </a:xfrm>
          <a:prstGeom prst="rect">
            <a:avLst/>
          </a:prstGeom>
          <a:noFill/>
        </p:spPr>
        <p:txBody>
          <a:bodyPr wrap="square" lIns="0" tIns="0" rIns="0" bIns="0" anchor="ctr">
            <a:spAutoFit/>
          </a:bodyPr>
          <a:lstStyle/>
          <a:p>
            <a:pPr algn="l"/>
            <a:r>
              <a:rPr sz="1100" b="1">
                <a:solidFill>
                  <a:srgbClr val="0A66C2"/>
                </a:solidFill>
                <a:latin typeface="Calibri" panose="020F0502020204030204"/>
              </a:rPr>
              <a:t>F2 SCORE</a:t>
            </a:r>
            <a:endParaRPr sz="1100" b="1">
              <a:solidFill>
                <a:srgbClr val="0A66C2"/>
              </a:solidFill>
              <a:latin typeface="Calibri" panose="020F0502020204030204"/>
            </a:endParaRPr>
          </a:p>
        </p:txBody>
      </p:sp>
      <p:sp>
        <p:nvSpPr>
          <p:cNvPr id="9" name="Rounded Rectangle 8"/>
          <p:cNvSpPr/>
          <p:nvPr/>
        </p:nvSpPr>
        <p:spPr>
          <a:xfrm>
            <a:off x="457200" y="3383280"/>
            <a:ext cx="3520440" cy="77724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383280"/>
            <a:ext cx="3154680" cy="777240"/>
          </a:xfrm>
          <a:prstGeom prst="rect">
            <a:avLst/>
          </a:prstGeom>
          <a:noFill/>
        </p:spPr>
        <p:txBody>
          <a:bodyPr wrap="square" lIns="0" tIns="0" rIns="0" bIns="0" anchor="ctr">
            <a:spAutoFit/>
          </a:bodyPr>
          <a:lstStyle/>
          <a:p>
            <a:pPr algn="l"/>
            <a:r>
              <a:rPr sz="1400" b="1">
                <a:solidFill>
                  <a:srgbClr val="057642"/>
                </a:solidFill>
                <a:latin typeface="Calibri" panose="020F0502020204030204"/>
              </a:rPr>
              <a:t>90% overall accuracy</a:t>
            </a:r>
            <a:endParaRPr sz="1400" b="1">
              <a:solidFill>
                <a:srgbClr val="057642"/>
              </a:solidFill>
              <a:latin typeface="Calibri" panose="020F0502020204030204"/>
            </a:endParaRPr>
          </a:p>
        </p:txBody>
      </p:sp>
      <p:sp>
        <p:nvSpPr>
          <p:cNvPr id="11" name="TextBox 10"/>
          <p:cNvSpPr txBox="1"/>
          <p:nvPr/>
        </p:nvSpPr>
        <p:spPr>
          <a:xfrm>
            <a:off x="457200" y="4297680"/>
            <a:ext cx="3520440" cy="502920"/>
          </a:xfrm>
          <a:prstGeom prst="rect">
            <a:avLst/>
          </a:prstGeom>
          <a:noFill/>
        </p:spPr>
        <p:txBody>
          <a:bodyPr wrap="square" lIns="0" tIns="0" rIns="0" bIns="0" anchor="ctr">
            <a:spAutoFit/>
          </a:bodyPr>
          <a:lstStyle/>
          <a:p>
            <a:pPr algn="l">
              <a:lnSpc>
                <a:spcPct val="110000"/>
              </a:lnSpc>
            </a:pPr>
            <a:r>
              <a:rPr sz="1050" b="1">
                <a:solidFill>
                  <a:srgbClr val="191919"/>
                </a:solidFill>
                <a:latin typeface="Calibri" panose="020F0502020204030204"/>
              </a:rPr>
              <a:t>Real postings (27): </a:t>
            </a:r>
            <a:endParaRPr sz="1050" b="1">
              <a:solidFill>
                <a:srgbClr val="191919"/>
              </a:solidFill>
              <a:latin typeface="Calibri" panose="020F0502020204030204"/>
            </a:endParaRPr>
          </a:p>
        </p:txBody>
      </p:sp>
      <p:sp>
        <p:nvSpPr>
          <p:cNvPr id="12" name="TextBox 11"/>
          <p:cNvSpPr txBox="1"/>
          <p:nvPr/>
        </p:nvSpPr>
        <p:spPr>
          <a:xfrm>
            <a:off x="457200" y="4553712"/>
            <a:ext cx="3520440" cy="365760"/>
          </a:xfrm>
          <a:prstGeom prst="rect">
            <a:avLst/>
          </a:prstGeom>
          <a:noFill/>
        </p:spPr>
        <p:txBody>
          <a:bodyPr wrap="square" lIns="0" tIns="0" rIns="0" bIns="0" anchor="ctr">
            <a:spAutoFit/>
          </a:bodyPr>
          <a:lstStyle/>
          <a:p>
            <a:pPr algn="l"/>
            <a:r>
              <a:rPr sz="1050" b="0">
                <a:solidFill>
                  <a:srgbClr val="057642"/>
                </a:solidFill>
                <a:latin typeface="Calibri" panose="020F0502020204030204"/>
              </a:rPr>
              <a:t>100% recall · 87% precision</a:t>
            </a:r>
            <a:endParaRPr sz="1050" b="0">
              <a:solidFill>
                <a:srgbClr val="057642"/>
              </a:solidFill>
              <a:latin typeface="Calibri" panose="020F0502020204030204"/>
            </a:endParaRPr>
          </a:p>
        </p:txBody>
      </p:sp>
      <p:sp>
        <p:nvSpPr>
          <p:cNvPr id="13" name="TextBox 12"/>
          <p:cNvSpPr txBox="1"/>
          <p:nvPr/>
        </p:nvSpPr>
        <p:spPr>
          <a:xfrm>
            <a:off x="457200" y="4983480"/>
            <a:ext cx="3520440" cy="502920"/>
          </a:xfrm>
          <a:prstGeom prst="rect">
            <a:avLst/>
          </a:prstGeom>
          <a:noFill/>
        </p:spPr>
        <p:txBody>
          <a:bodyPr wrap="square" lIns="0" tIns="0" rIns="0" bIns="0" anchor="ctr">
            <a:spAutoFit/>
          </a:bodyPr>
          <a:lstStyle/>
          <a:p>
            <a:pPr algn="l">
              <a:lnSpc>
                <a:spcPct val="110000"/>
              </a:lnSpc>
            </a:pPr>
            <a:r>
              <a:rPr sz="1050" b="1">
                <a:solidFill>
                  <a:srgbClr val="191919"/>
                </a:solidFill>
                <a:latin typeface="Calibri" panose="020F0502020204030204"/>
              </a:rPr>
              <a:t>Fake postings (14): </a:t>
            </a:r>
            <a:endParaRPr sz="1050" b="1">
              <a:solidFill>
                <a:srgbClr val="191919"/>
              </a:solidFill>
              <a:latin typeface="Calibri" panose="020F0502020204030204"/>
            </a:endParaRPr>
          </a:p>
        </p:txBody>
      </p:sp>
      <p:sp>
        <p:nvSpPr>
          <p:cNvPr id="14" name="TextBox 13"/>
          <p:cNvSpPr txBox="1"/>
          <p:nvPr/>
        </p:nvSpPr>
        <p:spPr>
          <a:xfrm>
            <a:off x="457200" y="5239512"/>
            <a:ext cx="3520440" cy="365760"/>
          </a:xfrm>
          <a:prstGeom prst="rect">
            <a:avLst/>
          </a:prstGeom>
          <a:noFill/>
        </p:spPr>
        <p:txBody>
          <a:bodyPr wrap="square" lIns="0" tIns="0" rIns="0" bIns="0" anchor="ctr">
            <a:spAutoFit/>
          </a:bodyPr>
          <a:lstStyle/>
          <a:p>
            <a:pPr algn="l"/>
            <a:r>
              <a:rPr sz="1050" b="0">
                <a:solidFill>
                  <a:srgbClr val="CC1016"/>
                </a:solidFill>
                <a:latin typeface="Calibri" panose="020F0502020204030204"/>
              </a:rPr>
              <a:t>71% recall (10/14) · 100% precision</a:t>
            </a:r>
            <a:endParaRPr sz="1050" b="0">
              <a:solidFill>
                <a:srgbClr val="CC1016"/>
              </a:solidFill>
              <a:latin typeface="Calibri" panose="020F0502020204030204"/>
            </a:endParaRPr>
          </a:p>
        </p:txBody>
      </p:sp>
      <p:sp>
        <p:nvSpPr>
          <p:cNvPr id="15" name="TextBox 14"/>
          <p:cNvSpPr txBox="1"/>
          <p:nvPr/>
        </p:nvSpPr>
        <p:spPr>
          <a:xfrm>
            <a:off x="457200" y="5806440"/>
            <a:ext cx="3520440" cy="502920"/>
          </a:xfrm>
          <a:prstGeom prst="rect">
            <a:avLst/>
          </a:prstGeom>
          <a:noFill/>
        </p:spPr>
        <p:txBody>
          <a:bodyPr wrap="square" lIns="0" tIns="0" rIns="0" bIns="0" anchor="ctr">
            <a:spAutoFit/>
          </a:bodyPr>
          <a:lstStyle/>
          <a:p>
            <a:pPr algn="l">
              <a:lnSpc>
                <a:spcPct val="110000"/>
              </a:lnSpc>
            </a:pPr>
            <a:r>
              <a:rPr sz="850" b="0">
                <a:solidFill>
                  <a:srgbClr val="666666"/>
                </a:solidFill>
                <a:latin typeface="Calibri" panose="020F0502020204030204"/>
              </a:rPr>
              <a:t>Only 202 total rows — signal blended with blacklist + rule checks, not trusted alone.</a:t>
            </a:r>
            <a:endParaRPr sz="850" b="0">
              <a:solidFill>
                <a:srgbClr val="666666"/>
              </a:solidFill>
              <a:latin typeface="Calibri" panose="020F0502020204030204"/>
            </a:endParaRPr>
          </a:p>
        </p:txBody>
      </p:sp>
      <p:sp>
        <p:nvSpPr>
          <p:cNvPr id="16" name="TextBox 15"/>
          <p:cNvSpPr txBox="1"/>
          <p:nvPr/>
        </p:nvSpPr>
        <p:spPr>
          <a:xfrm>
            <a:off x="4251960" y="1691640"/>
            <a:ext cx="7498079" cy="274320"/>
          </a:xfrm>
          <a:prstGeom prst="rect">
            <a:avLst/>
          </a:prstGeom>
          <a:noFill/>
        </p:spPr>
        <p:txBody>
          <a:bodyPr wrap="square" lIns="0" tIns="0" rIns="0" bIns="0" anchor="ctr">
            <a:spAutoFit/>
          </a:bodyPr>
          <a:lstStyle/>
          <a:p>
            <a:pPr algn="l"/>
            <a:r>
              <a:rPr sz="1050" b="1">
                <a:solidFill>
                  <a:srgbClr val="666666"/>
                </a:solidFill>
                <a:latin typeface="Calibri" panose="020F0502020204030204"/>
              </a:rPr>
              <a:t>ALL 11 SPEC REQUIREMENTS, PLUS 4 ADD-ONS</a:t>
            </a:r>
            <a:endParaRPr sz="1050" b="1">
              <a:solidFill>
                <a:srgbClr val="666666"/>
              </a:solidFill>
              <a:latin typeface="Calibri" panose="020F0502020204030204"/>
            </a:endParaRPr>
          </a:p>
        </p:txBody>
      </p:sp>
      <p:sp>
        <p:nvSpPr>
          <p:cNvPr id="17" name="Rounded Rectangle 16"/>
          <p:cNvSpPr/>
          <p:nvPr/>
        </p:nvSpPr>
        <p:spPr>
          <a:xfrm>
            <a:off x="4251960" y="2103120"/>
            <a:ext cx="128016" cy="128016"/>
          </a:xfrm>
          <a:prstGeom prst="roundRect">
            <a:avLst>
              <a:gd name="adj" fmla="val 50000"/>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2057400"/>
            <a:ext cx="2121407" cy="521207"/>
          </a:xfrm>
          <a:prstGeom prst="rect">
            <a:avLst/>
          </a:prstGeom>
          <a:noFill/>
        </p:spPr>
        <p:txBody>
          <a:bodyPr wrap="square" lIns="0" tIns="0" rIns="0" bIns="0" anchor="ctr">
            <a:spAutoFit/>
          </a:bodyPr>
          <a:lstStyle/>
          <a:p>
            <a:pPr algn="l">
              <a:lnSpc>
                <a:spcPct val="105000"/>
              </a:lnSpc>
            </a:pPr>
            <a:r>
              <a:rPr sz="1000" b="0">
                <a:solidFill>
                  <a:srgbClr val="191919"/>
                </a:solidFill>
                <a:latin typeface="Calibri" panose="020F0502020204030204"/>
              </a:rPr>
              <a:t>Scrape + score every posting (ML + blacklist + rules)</a:t>
            </a:r>
            <a:endParaRPr sz="1000" b="0">
              <a:solidFill>
                <a:srgbClr val="191919"/>
              </a:solidFill>
              <a:latin typeface="Calibri" panose="020F0502020204030204"/>
            </a:endParaRPr>
          </a:p>
        </p:txBody>
      </p:sp>
      <p:sp>
        <p:nvSpPr>
          <p:cNvPr id="19" name="Rounded Rectangle 18"/>
          <p:cNvSpPr/>
          <p:nvPr/>
        </p:nvSpPr>
        <p:spPr>
          <a:xfrm>
            <a:off x="4251960" y="2670048"/>
            <a:ext cx="128016" cy="128016"/>
          </a:xfrm>
          <a:prstGeom prst="roundRect">
            <a:avLst>
              <a:gd name="adj" fmla="val 50000"/>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07992" y="2624328"/>
            <a:ext cx="2121407" cy="521207"/>
          </a:xfrm>
          <a:prstGeom prst="rect">
            <a:avLst/>
          </a:prstGeom>
          <a:noFill/>
        </p:spPr>
        <p:txBody>
          <a:bodyPr wrap="square" lIns="0" tIns="0" rIns="0" bIns="0" anchor="ctr">
            <a:spAutoFit/>
          </a:bodyPr>
          <a:lstStyle/>
          <a:p>
            <a:pPr algn="l">
              <a:lnSpc>
                <a:spcPct val="105000"/>
              </a:lnSpc>
            </a:pPr>
            <a:r>
              <a:rPr sz="1000" b="0">
                <a:solidFill>
                  <a:srgbClr val="191919"/>
                </a:solidFill>
                <a:latin typeface="Calibri" panose="020F0502020204030204"/>
              </a:rPr>
              <a:t>Custom preference matching (multiple saved profiles)</a:t>
            </a:r>
            <a:endParaRPr sz="1000" b="0">
              <a:solidFill>
                <a:srgbClr val="191919"/>
              </a:solidFill>
              <a:latin typeface="Calibri" panose="020F0502020204030204"/>
            </a:endParaRPr>
          </a:p>
        </p:txBody>
      </p:sp>
      <p:sp>
        <p:nvSpPr>
          <p:cNvPr id="21" name="Rounded Rectangle 20"/>
          <p:cNvSpPr/>
          <p:nvPr/>
        </p:nvSpPr>
        <p:spPr>
          <a:xfrm>
            <a:off x="4251960" y="3236976"/>
            <a:ext cx="128016" cy="128016"/>
          </a:xfrm>
          <a:prstGeom prst="roundRect">
            <a:avLst>
              <a:gd name="adj" fmla="val 50000"/>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7992" y="3191256"/>
            <a:ext cx="2121407" cy="521207"/>
          </a:xfrm>
          <a:prstGeom prst="rect">
            <a:avLst/>
          </a:prstGeom>
          <a:noFill/>
        </p:spPr>
        <p:txBody>
          <a:bodyPr wrap="square" lIns="0" tIns="0" rIns="0" bIns="0" anchor="ctr">
            <a:spAutoFit/>
          </a:bodyPr>
          <a:lstStyle/>
          <a:p>
            <a:pPr algn="l">
              <a:lnSpc>
                <a:spcPct val="105000"/>
              </a:lnSpc>
            </a:pPr>
            <a:r>
              <a:rPr sz="1000" b="0">
                <a:solidFill>
                  <a:srgbClr val="191919"/>
                </a:solidFill>
                <a:latin typeface="Calibri" panose="020F0502020204030204"/>
              </a:rPr>
              <a:t>200/month quota, enforced server-side</a:t>
            </a:r>
            <a:endParaRPr sz="1000" b="0">
              <a:solidFill>
                <a:srgbClr val="191919"/>
              </a:solidFill>
              <a:latin typeface="Calibri" panose="020F0502020204030204"/>
            </a:endParaRPr>
          </a:p>
        </p:txBody>
      </p:sp>
      <p:sp>
        <p:nvSpPr>
          <p:cNvPr id="23" name="Rounded Rectangle 22"/>
          <p:cNvSpPr/>
          <p:nvPr/>
        </p:nvSpPr>
        <p:spPr>
          <a:xfrm>
            <a:off x="6812280" y="2103120"/>
            <a:ext cx="128016" cy="128016"/>
          </a:xfrm>
          <a:prstGeom prst="roundRect">
            <a:avLst>
              <a:gd name="adj" fmla="val 50000"/>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68312" y="2057400"/>
            <a:ext cx="2121407" cy="521207"/>
          </a:xfrm>
          <a:prstGeom prst="rect">
            <a:avLst/>
          </a:prstGeom>
          <a:noFill/>
        </p:spPr>
        <p:txBody>
          <a:bodyPr wrap="square" lIns="0" tIns="0" rIns="0" bIns="0" anchor="ctr">
            <a:spAutoFit/>
          </a:bodyPr>
          <a:lstStyle/>
          <a:p>
            <a:pPr algn="l">
              <a:lnSpc>
                <a:spcPct val="105000"/>
              </a:lnSpc>
            </a:pPr>
            <a:r>
              <a:rPr sz="1000" b="0">
                <a:solidFill>
                  <a:srgbClr val="191919"/>
                </a:solidFill>
                <a:latin typeface="Calibri" panose="020F0502020204030204"/>
              </a:rPr>
              <a:t>On-page badge for every screened posting</a:t>
            </a:r>
            <a:endParaRPr sz="1000" b="0">
              <a:solidFill>
                <a:srgbClr val="191919"/>
              </a:solidFill>
              <a:latin typeface="Calibri" panose="020F0502020204030204"/>
            </a:endParaRPr>
          </a:p>
        </p:txBody>
      </p:sp>
      <p:sp>
        <p:nvSpPr>
          <p:cNvPr id="25" name="Rounded Rectangle 24"/>
          <p:cNvSpPr/>
          <p:nvPr/>
        </p:nvSpPr>
        <p:spPr>
          <a:xfrm>
            <a:off x="6812280" y="2670048"/>
            <a:ext cx="128016" cy="128016"/>
          </a:xfrm>
          <a:prstGeom prst="roundRect">
            <a:avLst>
              <a:gd name="adj" fmla="val 50000"/>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68312" y="2624328"/>
            <a:ext cx="2121407" cy="521207"/>
          </a:xfrm>
          <a:prstGeom prst="rect">
            <a:avLst/>
          </a:prstGeom>
          <a:noFill/>
        </p:spPr>
        <p:txBody>
          <a:bodyPr wrap="square" lIns="0" tIns="0" rIns="0" bIns="0" anchor="ctr">
            <a:spAutoFit/>
          </a:bodyPr>
          <a:lstStyle/>
          <a:p>
            <a:pPr algn="l">
              <a:lnSpc>
                <a:spcPct val="105000"/>
              </a:lnSpc>
            </a:pPr>
            <a:r>
              <a:rPr sz="1000" b="0">
                <a:solidFill>
                  <a:srgbClr val="191919"/>
                </a:solidFill>
                <a:latin typeface="Calibri" panose="020F0502020204030204"/>
              </a:rPr>
              <a:t>Real-time flags + Pro-only deadline reminders</a:t>
            </a:r>
            <a:endParaRPr sz="1000" b="0">
              <a:solidFill>
                <a:srgbClr val="191919"/>
              </a:solidFill>
              <a:latin typeface="Calibri" panose="020F0502020204030204"/>
            </a:endParaRPr>
          </a:p>
        </p:txBody>
      </p:sp>
      <p:sp>
        <p:nvSpPr>
          <p:cNvPr id="27" name="Rounded Rectangle 26"/>
          <p:cNvSpPr/>
          <p:nvPr/>
        </p:nvSpPr>
        <p:spPr>
          <a:xfrm>
            <a:off x="6812280" y="3236976"/>
            <a:ext cx="128016" cy="128016"/>
          </a:xfrm>
          <a:prstGeom prst="roundRect">
            <a:avLst>
              <a:gd name="adj" fmla="val 50000"/>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68312" y="3191256"/>
            <a:ext cx="2121407" cy="521207"/>
          </a:xfrm>
          <a:prstGeom prst="rect">
            <a:avLst/>
          </a:prstGeom>
          <a:noFill/>
        </p:spPr>
        <p:txBody>
          <a:bodyPr wrap="square" lIns="0" tIns="0" rIns="0" bIns="0" anchor="ctr">
            <a:spAutoFit/>
          </a:bodyPr>
          <a:lstStyle/>
          <a:p>
            <a:pPr algn="l">
              <a:lnSpc>
                <a:spcPct val="105000"/>
              </a:lnSpc>
            </a:pPr>
            <a:r>
              <a:rPr sz="1000" b="0">
                <a:solidFill>
                  <a:srgbClr val="191919"/>
                </a:solidFill>
                <a:latin typeface="Calibri" panose="020F0502020204030204"/>
              </a:rPr>
              <a:t>Centralized, human-reviewed company blacklist</a:t>
            </a:r>
            <a:endParaRPr sz="1000" b="0">
              <a:solidFill>
                <a:srgbClr val="191919"/>
              </a:solidFill>
              <a:latin typeface="Calibri" panose="020F0502020204030204"/>
            </a:endParaRPr>
          </a:p>
        </p:txBody>
      </p:sp>
      <p:sp>
        <p:nvSpPr>
          <p:cNvPr id="29" name="Rounded Rectangle 28"/>
          <p:cNvSpPr/>
          <p:nvPr/>
        </p:nvSpPr>
        <p:spPr>
          <a:xfrm>
            <a:off x="9372600" y="2103120"/>
            <a:ext cx="128016" cy="128016"/>
          </a:xfrm>
          <a:prstGeom prst="roundRect">
            <a:avLst>
              <a:gd name="adj" fmla="val 50000"/>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28632" y="2057400"/>
            <a:ext cx="2121407" cy="521207"/>
          </a:xfrm>
          <a:prstGeom prst="rect">
            <a:avLst/>
          </a:prstGeom>
          <a:noFill/>
        </p:spPr>
        <p:txBody>
          <a:bodyPr wrap="square" lIns="0" tIns="0" rIns="0" bIns="0" anchor="ctr">
            <a:spAutoFit/>
          </a:bodyPr>
          <a:lstStyle/>
          <a:p>
            <a:pPr algn="l">
              <a:lnSpc>
                <a:spcPct val="105000"/>
              </a:lnSpc>
            </a:pPr>
            <a:r>
              <a:rPr sz="1000" b="0">
                <a:solidFill>
                  <a:srgbClr val="191919"/>
                </a:solidFill>
                <a:latin typeface="Calibri" panose="020F0502020204030204"/>
              </a:rPr>
              <a:t>Tiered dashboard — aggregate stats vs. full history</a:t>
            </a:r>
            <a:endParaRPr sz="1000" b="0">
              <a:solidFill>
                <a:srgbClr val="191919"/>
              </a:solidFill>
              <a:latin typeface="Calibri" panose="020F0502020204030204"/>
            </a:endParaRPr>
          </a:p>
        </p:txBody>
      </p:sp>
      <p:sp>
        <p:nvSpPr>
          <p:cNvPr id="31" name="Rounded Rectangle 30"/>
          <p:cNvSpPr/>
          <p:nvPr/>
        </p:nvSpPr>
        <p:spPr>
          <a:xfrm>
            <a:off x="9372600" y="2670048"/>
            <a:ext cx="128016" cy="128016"/>
          </a:xfrm>
          <a:prstGeom prst="roundRect">
            <a:avLst>
              <a:gd name="adj" fmla="val 50000"/>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28632" y="2624328"/>
            <a:ext cx="2121407" cy="521207"/>
          </a:xfrm>
          <a:prstGeom prst="rect">
            <a:avLst/>
          </a:prstGeom>
          <a:noFill/>
        </p:spPr>
        <p:txBody>
          <a:bodyPr wrap="square" lIns="0" tIns="0" rIns="0" bIns="0" anchor="ctr">
            <a:spAutoFit/>
          </a:bodyPr>
          <a:lstStyle/>
          <a:p>
            <a:pPr algn="l">
              <a:lnSpc>
                <a:spcPct val="105000"/>
              </a:lnSpc>
            </a:pPr>
            <a:r>
              <a:rPr sz="1000" b="0">
                <a:solidFill>
                  <a:srgbClr val="191919"/>
                </a:solidFill>
                <a:latin typeface="Calibri" panose="020F0502020204030204"/>
              </a:rPr>
              <a:t>Behavior logging (apply / save)</a:t>
            </a:r>
            <a:endParaRPr sz="1000" b="0">
              <a:solidFill>
                <a:srgbClr val="191919"/>
              </a:solidFill>
              <a:latin typeface="Calibri" panose="020F0502020204030204"/>
            </a:endParaRPr>
          </a:p>
        </p:txBody>
      </p:sp>
      <p:sp>
        <p:nvSpPr>
          <p:cNvPr id="33" name="Rounded Rectangle 32"/>
          <p:cNvSpPr/>
          <p:nvPr/>
        </p:nvSpPr>
        <p:spPr>
          <a:xfrm>
            <a:off x="9372600" y="3236976"/>
            <a:ext cx="128016" cy="128016"/>
          </a:xfrm>
          <a:prstGeom prst="roundRect">
            <a:avLst>
              <a:gd name="adj" fmla="val 50000"/>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28632" y="3191256"/>
            <a:ext cx="2121407" cy="521207"/>
          </a:xfrm>
          <a:prstGeom prst="rect">
            <a:avLst/>
          </a:prstGeom>
          <a:noFill/>
        </p:spPr>
        <p:txBody>
          <a:bodyPr wrap="square" lIns="0" tIns="0" rIns="0" bIns="0" anchor="ctr">
            <a:spAutoFit/>
          </a:bodyPr>
          <a:lstStyle/>
          <a:p>
            <a:pPr algn="l">
              <a:lnSpc>
                <a:spcPct val="105000"/>
              </a:lnSpc>
            </a:pPr>
            <a:r>
              <a:rPr sz="1000" b="0">
                <a:solidFill>
                  <a:srgbClr val="191919"/>
                </a:solidFill>
                <a:latin typeface="Calibri" panose="020F0502020204030204"/>
              </a:rPr>
              <a:t>Public blacklist page (scoped to logged-in users)</a:t>
            </a:r>
            <a:endParaRPr sz="1000" b="0">
              <a:solidFill>
                <a:srgbClr val="191919"/>
              </a:solidFill>
              <a:latin typeface="Calibri" panose="020F0502020204030204"/>
            </a:endParaRPr>
          </a:p>
        </p:txBody>
      </p:sp>
      <p:sp>
        <p:nvSpPr>
          <p:cNvPr id="35" name="TextBox 34"/>
          <p:cNvSpPr txBox="1"/>
          <p:nvPr/>
        </p:nvSpPr>
        <p:spPr>
          <a:xfrm>
            <a:off x="4251960" y="3895344"/>
            <a:ext cx="7498079" cy="411480"/>
          </a:xfrm>
          <a:prstGeom prst="rect">
            <a:avLst/>
          </a:prstGeom>
          <a:noFill/>
        </p:spPr>
        <p:txBody>
          <a:bodyPr wrap="square" lIns="0" tIns="0" rIns="0" bIns="0" anchor="ctr">
            <a:spAutoFit/>
          </a:bodyPr>
          <a:lstStyle/>
          <a:p>
            <a:pPr algn="l">
              <a:lnSpc>
                <a:spcPct val="110000"/>
              </a:lnSpc>
            </a:pPr>
            <a:r>
              <a:rPr sz="1050" b="1">
                <a:solidFill>
                  <a:srgbClr val="0A66C2"/>
                </a:solidFill>
                <a:latin typeface="Calibri" panose="020F0502020204030204"/>
              </a:rPr>
              <a:t>Add-ons: </a:t>
            </a:r>
            <a:r>
              <a:rPr sz="1050" b="0">
                <a:solidFill>
                  <a:srgbClr val="191919"/>
                </a:solidFill>
                <a:latin typeface="Calibri" panose="020F0502020204030204"/>
              </a:rPr>
              <a:t>Contact Us form · editable saved-job deadlines · about us page · basic tutorial</a:t>
            </a:r>
            <a:endParaRPr sz="1050" b="0">
              <a:solidFill>
                <a:srgbClr val="191919"/>
              </a:solidFill>
              <a:latin typeface="Calibri" panose="020F0502020204030204"/>
            </a:endParaRPr>
          </a:p>
        </p:txBody>
      </p:sp>
      <p:sp>
        <p:nvSpPr>
          <p:cNvPr id="36" name="Rounded Rectangle 35"/>
          <p:cNvSpPr/>
          <p:nvPr/>
        </p:nvSpPr>
        <p:spPr>
          <a:xfrm>
            <a:off x="4251960" y="4398264"/>
            <a:ext cx="3611879" cy="1051560"/>
          </a:xfrm>
          <a:prstGeom prst="roundRect">
            <a:avLst>
              <a:gd name="adj" fmla="val 8000"/>
            </a:avLst>
          </a:prstGeom>
          <a:solidFill>
            <a:srgbClr val="F3F2E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60" y="4535424"/>
            <a:ext cx="1371600" cy="320040"/>
          </a:xfrm>
          <a:prstGeom prst="rect">
            <a:avLst/>
          </a:prstGeom>
          <a:noFill/>
        </p:spPr>
        <p:txBody>
          <a:bodyPr wrap="square" lIns="0" tIns="0" rIns="0" bIns="0" anchor="ctr">
            <a:spAutoFit/>
          </a:bodyPr>
          <a:lstStyle/>
          <a:p>
            <a:pPr algn="l"/>
            <a:r>
              <a:rPr sz="1300" b="1">
                <a:solidFill>
                  <a:srgbClr val="191919"/>
                </a:solidFill>
                <a:latin typeface="Calibri" panose="020F0502020204030204"/>
              </a:rPr>
              <a:t>FREE</a:t>
            </a:r>
            <a:endParaRPr sz="1300" b="1">
              <a:solidFill>
                <a:srgbClr val="191919"/>
              </a:solidFill>
              <a:latin typeface="Calibri" panose="020F0502020204030204"/>
            </a:endParaRPr>
          </a:p>
        </p:txBody>
      </p:sp>
      <p:sp>
        <p:nvSpPr>
          <p:cNvPr id="38" name="TextBox 37"/>
          <p:cNvSpPr txBox="1"/>
          <p:nvPr/>
        </p:nvSpPr>
        <p:spPr>
          <a:xfrm>
            <a:off x="4480560" y="4901183"/>
            <a:ext cx="3154679" cy="502920"/>
          </a:xfrm>
          <a:prstGeom prst="rect">
            <a:avLst/>
          </a:prstGeom>
          <a:noFill/>
        </p:spPr>
        <p:txBody>
          <a:bodyPr wrap="square" lIns="0" tIns="0" rIns="0" bIns="0" anchor="ctr">
            <a:spAutoFit/>
          </a:bodyPr>
          <a:lstStyle/>
          <a:p>
            <a:pPr algn="l">
              <a:lnSpc>
                <a:spcPct val="110000"/>
              </a:lnSpc>
            </a:pPr>
            <a:r>
              <a:rPr sz="950" b="0">
                <a:solidFill>
                  <a:srgbClr val="666666"/>
                </a:solidFill>
                <a:latin typeface="Calibri" panose="020F0502020204030204"/>
              </a:rPr>
              <a:t>200 screenings/mo · 1 preference · aggregate dashboard</a:t>
            </a:r>
            <a:endParaRPr sz="950" b="0">
              <a:solidFill>
                <a:srgbClr val="666666"/>
              </a:solidFill>
              <a:latin typeface="Calibri" panose="020F0502020204030204"/>
            </a:endParaRPr>
          </a:p>
        </p:txBody>
      </p:sp>
      <p:sp>
        <p:nvSpPr>
          <p:cNvPr id="39" name="Rounded Rectangle 38"/>
          <p:cNvSpPr/>
          <p:nvPr/>
        </p:nvSpPr>
        <p:spPr>
          <a:xfrm>
            <a:off x="8138160" y="4398264"/>
            <a:ext cx="3611879" cy="10515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66760" y="4535424"/>
            <a:ext cx="1371600" cy="320040"/>
          </a:xfrm>
          <a:prstGeom prst="rect">
            <a:avLst/>
          </a:prstGeom>
          <a:noFill/>
        </p:spPr>
        <p:txBody>
          <a:bodyPr wrap="square" lIns="0" tIns="0" rIns="0" bIns="0" anchor="ctr">
            <a:spAutoFit/>
          </a:bodyPr>
          <a:lstStyle/>
          <a:p>
            <a:pPr algn="l"/>
            <a:r>
              <a:rPr sz="1300" b="1">
                <a:solidFill>
                  <a:srgbClr val="0A66C2"/>
                </a:solidFill>
                <a:latin typeface="Calibri" panose="020F0502020204030204"/>
              </a:rPr>
              <a:t>PRO</a:t>
            </a:r>
            <a:endParaRPr sz="1300" b="1">
              <a:solidFill>
                <a:srgbClr val="0A66C2"/>
              </a:solidFill>
              <a:latin typeface="Calibri" panose="020F0502020204030204"/>
            </a:endParaRPr>
          </a:p>
        </p:txBody>
      </p:sp>
      <p:sp>
        <p:nvSpPr>
          <p:cNvPr id="41" name="TextBox 40"/>
          <p:cNvSpPr txBox="1"/>
          <p:nvPr/>
        </p:nvSpPr>
        <p:spPr>
          <a:xfrm>
            <a:off x="8366760" y="4901183"/>
            <a:ext cx="3154679" cy="502920"/>
          </a:xfrm>
          <a:prstGeom prst="rect">
            <a:avLst/>
          </a:prstGeom>
          <a:noFill/>
        </p:spPr>
        <p:txBody>
          <a:bodyPr wrap="square" lIns="0" tIns="0" rIns="0" bIns="0" anchor="ctr">
            <a:spAutoFit/>
          </a:bodyPr>
          <a:lstStyle/>
          <a:p>
            <a:pPr algn="l">
              <a:lnSpc>
                <a:spcPct val="110000"/>
              </a:lnSpc>
            </a:pPr>
            <a:r>
              <a:rPr sz="950" b="0">
                <a:solidFill>
                  <a:srgbClr val="0A66C2"/>
                </a:solidFill>
                <a:latin typeface="Calibri" panose="020F0502020204030204"/>
              </a:rPr>
              <a:t>Unlimited screenings · 10 preferences · full history · deadline reminders</a:t>
            </a:r>
            <a:endParaRPr sz="950" b="0">
              <a:solidFill>
                <a:srgbClr val="0A66C2"/>
              </a:solidFill>
              <a:latin typeface="Calibri" panose="020F0502020204030204"/>
            </a:endParaRPr>
          </a:p>
        </p:txBody>
      </p:sp>
      <p:sp>
        <p:nvSpPr>
          <p:cNvPr id="42" name="TextBox 41"/>
          <p:cNvSpPr txBox="1"/>
          <p:nvPr/>
        </p:nvSpPr>
        <p:spPr>
          <a:xfrm>
            <a:off x="457200" y="6537960"/>
            <a:ext cx="2743200" cy="274320"/>
          </a:xfrm>
          <a:prstGeom prst="rect">
            <a:avLst/>
          </a:prstGeom>
          <a:noFill/>
        </p:spPr>
        <p:txBody>
          <a:bodyPr wrap="square" lIns="0" tIns="0" rIns="0" bIns="0" anchor="ctr">
            <a:spAutoFit/>
          </a:bodyPr>
          <a:lstStyle/>
          <a:p>
            <a:pPr algn="l"/>
            <a:r>
              <a:rPr sz="1000" b="0">
                <a:solidFill>
                  <a:srgbClr val="666666"/>
                </a:solidFill>
                <a:latin typeface="Calibri" panose="020F0502020204030204"/>
              </a:rPr>
              <a:t>NokriExtenddd</a:t>
            </a:r>
            <a:endParaRPr sz="1000" b="0">
              <a:solidFill>
                <a:srgbClr val="666666"/>
              </a:solidFill>
              <a:latin typeface="Calibri" panose="020F0502020204030204"/>
            </a:endParaRPr>
          </a:p>
        </p:txBody>
      </p:sp>
      <p:sp>
        <p:nvSpPr>
          <p:cNvPr id="43" name="TextBox 42"/>
          <p:cNvSpPr txBox="1"/>
          <p:nvPr/>
        </p:nvSpPr>
        <p:spPr>
          <a:xfrm>
            <a:off x="9966960" y="6537960"/>
            <a:ext cx="1764792" cy="274320"/>
          </a:xfrm>
          <a:prstGeom prst="rect">
            <a:avLst/>
          </a:prstGeom>
          <a:noFill/>
        </p:spPr>
        <p:txBody>
          <a:bodyPr wrap="square" lIns="0" tIns="0" rIns="0" bIns="0" anchor="ctr">
            <a:spAutoFit/>
          </a:bodyPr>
          <a:lstStyle/>
          <a:p>
            <a:pPr algn="r"/>
            <a:r>
              <a:rPr sz="1000" b="0">
                <a:solidFill>
                  <a:srgbClr val="666666"/>
                </a:solidFill>
                <a:latin typeface="Calibri" panose="020F0502020204030204"/>
              </a:rPr>
              <a:t>05 / 07</a:t>
            </a:r>
            <a:endParaRPr sz="1000" b="0">
              <a:solidFill>
                <a:srgbClr val="666666"/>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384048"/>
            <a:ext cx="347472" cy="347472"/>
          </a:xfrm>
          <a:prstGeom prst="roundRect">
            <a:avLst>
              <a:gd name="adj" fmla="val 21053"/>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panose="020F0502020204030204"/>
              </a:rPr>
              <a:t>eXD</a:t>
            </a:r>
            <a:endParaRPr sz="1300" b="1">
              <a:solidFill>
                <a:srgbClr val="FFFFFF"/>
              </a:solidFill>
              <a:latin typeface="Calibri" panose="020F0502020204030204"/>
            </a:endParaRPr>
          </a:p>
        </p:txBody>
      </p:sp>
      <p:sp>
        <p:nvSpPr>
          <p:cNvPr id="3" name="TextBox 2"/>
          <p:cNvSpPr txBox="1"/>
          <p:nvPr/>
        </p:nvSpPr>
        <p:spPr>
          <a:xfrm>
            <a:off x="914400" y="347472"/>
            <a:ext cx="7315200" cy="274320"/>
          </a:xfrm>
          <a:prstGeom prst="rect">
            <a:avLst/>
          </a:prstGeom>
          <a:noFill/>
        </p:spPr>
        <p:txBody>
          <a:bodyPr wrap="square" lIns="0" tIns="0" rIns="0" bIns="0" anchor="ctr">
            <a:spAutoFit/>
          </a:bodyPr>
          <a:lstStyle/>
          <a:p>
            <a:pPr algn="l"/>
            <a:r>
              <a:rPr sz="1100" b="1">
                <a:solidFill>
                  <a:srgbClr val="0A66C2"/>
                </a:solidFill>
                <a:latin typeface="Calibri" panose="020F0502020204030204"/>
              </a:rPr>
              <a:t>WHAT WENT WRONG — AND WHERE THE LIMITS ARE</a:t>
            </a:r>
            <a:endParaRPr sz="1100" b="1">
              <a:solidFill>
                <a:srgbClr val="0A66C2"/>
              </a:solidFill>
              <a:latin typeface="Calibri" panose="020F0502020204030204"/>
            </a:endParaRPr>
          </a:p>
        </p:txBody>
      </p:sp>
      <p:sp>
        <p:nvSpPr>
          <p:cNvPr id="4" name="TextBox 3"/>
          <p:cNvSpPr txBox="1"/>
          <p:nvPr/>
        </p:nvSpPr>
        <p:spPr>
          <a:xfrm>
            <a:off x="457200" y="658368"/>
            <a:ext cx="11247120" cy="594360"/>
          </a:xfrm>
          <a:prstGeom prst="rect">
            <a:avLst/>
          </a:prstGeom>
          <a:noFill/>
        </p:spPr>
        <p:txBody>
          <a:bodyPr wrap="square" lIns="0" tIns="0" rIns="0" bIns="0" anchor="ctr">
            <a:spAutoFit/>
          </a:bodyPr>
          <a:lstStyle/>
          <a:p>
            <a:pPr algn="l"/>
            <a:r>
              <a:rPr sz="2600" b="1">
                <a:solidFill>
                  <a:srgbClr val="191919"/>
                </a:solidFill>
                <a:latin typeface="Calibri" panose="020F0502020204030204"/>
              </a:rPr>
              <a:t>Five real constraints worth understanding</a:t>
            </a:r>
            <a:endParaRPr sz="2600" b="1">
              <a:solidFill>
                <a:srgbClr val="191919"/>
              </a:solidFill>
              <a:latin typeface="Calibri" panose="020F0502020204030204"/>
            </a:endParaRPr>
          </a:p>
        </p:txBody>
      </p:sp>
      <p:sp>
        <p:nvSpPr>
          <p:cNvPr id="5" name="Rounded Rectangle 4"/>
          <p:cNvSpPr/>
          <p:nvPr/>
        </p:nvSpPr>
        <p:spPr>
          <a:xfrm>
            <a:off x="457200" y="1691640"/>
            <a:ext cx="3575304" cy="1965960"/>
          </a:xfrm>
          <a:prstGeom prst="roundRect">
            <a:avLst>
              <a:gd name="adj" fmla="val 3500"/>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892808"/>
            <a:ext cx="384048" cy="384048"/>
          </a:xfrm>
          <a:prstGeom prst="roundRect">
            <a:avLst>
              <a:gd name="adj" fmla="val 21053"/>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1</a:t>
            </a:r>
            <a:endParaRPr sz="1500" b="1">
              <a:solidFill>
                <a:srgbClr val="FFFFFF"/>
              </a:solidFill>
              <a:latin typeface="Calibri" panose="020F0502020204030204"/>
            </a:endParaRPr>
          </a:p>
        </p:txBody>
      </p:sp>
      <p:sp>
        <p:nvSpPr>
          <p:cNvPr id="7" name="TextBox 6"/>
          <p:cNvSpPr txBox="1"/>
          <p:nvPr/>
        </p:nvSpPr>
        <p:spPr>
          <a:xfrm>
            <a:off x="685800" y="2377440"/>
            <a:ext cx="3118104" cy="365760"/>
          </a:xfrm>
          <a:prstGeom prst="rect">
            <a:avLst/>
          </a:prstGeom>
          <a:noFill/>
        </p:spPr>
        <p:txBody>
          <a:bodyPr wrap="square" lIns="0" tIns="0" rIns="0" bIns="0" anchor="ctr">
            <a:spAutoFit/>
          </a:bodyPr>
          <a:lstStyle/>
          <a:p>
            <a:pPr algn="l"/>
            <a:r>
              <a:rPr sz="1350" b="1">
                <a:solidFill>
                  <a:srgbClr val="B8860B"/>
                </a:solidFill>
                <a:latin typeface="Calibri" panose="020F0502020204030204"/>
              </a:rPr>
              <a:t>Brittle web scraping</a:t>
            </a:r>
            <a:endParaRPr sz="1350" b="1">
              <a:solidFill>
                <a:srgbClr val="B8860B"/>
              </a:solidFill>
              <a:latin typeface="Calibri" panose="020F0502020204030204"/>
            </a:endParaRPr>
          </a:p>
        </p:txBody>
      </p:sp>
      <p:sp>
        <p:nvSpPr>
          <p:cNvPr id="8" name="TextBox 7"/>
          <p:cNvSpPr txBox="1"/>
          <p:nvPr/>
        </p:nvSpPr>
        <p:spPr>
          <a:xfrm>
            <a:off x="685800" y="2770632"/>
            <a:ext cx="3118104" cy="731519"/>
          </a:xfrm>
          <a:prstGeom prst="rect">
            <a:avLst/>
          </a:prstGeom>
          <a:noFill/>
        </p:spPr>
        <p:txBody>
          <a:bodyPr wrap="square" lIns="0" tIns="0" rIns="0" bIns="0" anchor="t">
            <a:spAutoFit/>
          </a:bodyPr>
          <a:lstStyle/>
          <a:p>
            <a:pPr algn="l">
              <a:lnSpc>
                <a:spcPct val="110000"/>
              </a:lnSpc>
            </a:pPr>
            <a:r>
              <a:rPr sz="950" b="0">
                <a:solidFill>
                  <a:srgbClr val="191919"/>
                </a:solidFill>
                <a:latin typeface="Calibri" panose="020F0502020204030204"/>
              </a:rPr>
              <a:t>LinkedIn's auto-generated CSS class names (e.g. “f18eb30d”) change on every deploy — sometimes between page loads of the same listing. The first scraper broke almost immediately. Fixed by matching on page structure and stable attributes instead of exact class names.</a:t>
            </a:r>
            <a:endParaRPr sz="950" b="0">
              <a:solidFill>
                <a:srgbClr val="191919"/>
              </a:solidFill>
              <a:latin typeface="Calibri" panose="020F0502020204030204"/>
            </a:endParaRPr>
          </a:p>
        </p:txBody>
      </p:sp>
      <p:sp>
        <p:nvSpPr>
          <p:cNvPr id="9" name="Rounded Rectangle 8"/>
          <p:cNvSpPr/>
          <p:nvPr/>
        </p:nvSpPr>
        <p:spPr>
          <a:xfrm>
            <a:off x="4306824" y="1691640"/>
            <a:ext cx="3575304" cy="1965960"/>
          </a:xfrm>
          <a:prstGeom prst="roundRect">
            <a:avLst>
              <a:gd name="adj" fmla="val 35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35424" y="1892808"/>
            <a:ext cx="384048" cy="384048"/>
          </a:xfrm>
          <a:prstGeom prst="roundRect">
            <a:avLst>
              <a:gd name="adj" fmla="val 21053"/>
            </a:avLst>
          </a:prstGeom>
          <a:solidFill>
            <a:srgbClr val="CC101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2</a:t>
            </a:r>
            <a:endParaRPr sz="1500" b="1">
              <a:solidFill>
                <a:srgbClr val="FFFFFF"/>
              </a:solidFill>
              <a:latin typeface="Calibri" panose="020F0502020204030204"/>
            </a:endParaRPr>
          </a:p>
        </p:txBody>
      </p:sp>
      <p:sp>
        <p:nvSpPr>
          <p:cNvPr id="11" name="TextBox 10"/>
          <p:cNvSpPr txBox="1"/>
          <p:nvPr/>
        </p:nvSpPr>
        <p:spPr>
          <a:xfrm>
            <a:off x="4535424" y="2377440"/>
            <a:ext cx="3118104" cy="365760"/>
          </a:xfrm>
          <a:prstGeom prst="rect">
            <a:avLst/>
          </a:prstGeom>
          <a:noFill/>
        </p:spPr>
        <p:txBody>
          <a:bodyPr wrap="square" lIns="0" tIns="0" rIns="0" bIns="0" anchor="ctr">
            <a:spAutoFit/>
          </a:bodyPr>
          <a:lstStyle/>
          <a:p>
            <a:pPr algn="l"/>
            <a:r>
              <a:rPr sz="1350" b="1">
                <a:solidFill>
                  <a:srgbClr val="CC1016"/>
                </a:solidFill>
                <a:latin typeface="Calibri" panose="020F0502020204030204"/>
              </a:rPr>
              <a:t>Incomplete salary scraping</a:t>
            </a:r>
            <a:endParaRPr sz="1350" b="1">
              <a:solidFill>
                <a:srgbClr val="CC1016"/>
              </a:solidFill>
              <a:latin typeface="Calibri" panose="020F0502020204030204"/>
            </a:endParaRPr>
          </a:p>
        </p:txBody>
      </p:sp>
      <p:sp>
        <p:nvSpPr>
          <p:cNvPr id="12" name="TextBox 11"/>
          <p:cNvSpPr txBox="1"/>
          <p:nvPr/>
        </p:nvSpPr>
        <p:spPr>
          <a:xfrm>
            <a:off x="4535424" y="2770632"/>
            <a:ext cx="3118104" cy="731519"/>
          </a:xfrm>
          <a:prstGeom prst="rect">
            <a:avLst/>
          </a:prstGeom>
          <a:noFill/>
        </p:spPr>
        <p:txBody>
          <a:bodyPr wrap="square" lIns="0" tIns="0" rIns="0" bIns="0" anchor="t">
            <a:spAutoFit/>
          </a:bodyPr>
          <a:lstStyle/>
          <a:p>
            <a:pPr algn="l">
              <a:lnSpc>
                <a:spcPct val="110000"/>
              </a:lnSpc>
            </a:pPr>
            <a:r>
              <a:rPr sz="950" b="0">
                <a:solidFill>
                  <a:srgbClr val="191919"/>
                </a:solidFill>
                <a:latin typeface="Calibri" panose="020F0502020204030204"/>
              </a:rPr>
              <a:t>The salary field is pulled with a regex over free-text description content, so it only succeeds when a posting states pay in an anticipated format. Unusual phrasing or omitted salary correctly returns null — but this means salary is genuinely under-reported. Still unresolved.</a:t>
            </a:r>
            <a:endParaRPr sz="950" b="0">
              <a:solidFill>
                <a:srgbClr val="191919"/>
              </a:solidFill>
              <a:latin typeface="Calibri" panose="020F0502020204030204"/>
            </a:endParaRPr>
          </a:p>
        </p:txBody>
      </p:sp>
      <p:sp>
        <p:nvSpPr>
          <p:cNvPr id="13" name="Rounded Rectangle 12"/>
          <p:cNvSpPr/>
          <p:nvPr/>
        </p:nvSpPr>
        <p:spPr>
          <a:xfrm>
            <a:off x="8156448" y="1691640"/>
            <a:ext cx="3575304" cy="1965960"/>
          </a:xfrm>
          <a:prstGeom prst="roundRect">
            <a:avLst>
              <a:gd name="adj" fmla="val 35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85048" y="1892808"/>
            <a:ext cx="384048" cy="384048"/>
          </a:xfrm>
          <a:prstGeom prst="roundRect">
            <a:avLst>
              <a:gd name="adj" fmla="val 21053"/>
            </a:avLst>
          </a:prstGeom>
          <a:solidFill>
            <a:srgbClr val="0576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3</a:t>
            </a:r>
            <a:endParaRPr sz="1500" b="1">
              <a:solidFill>
                <a:srgbClr val="FFFFFF"/>
              </a:solidFill>
              <a:latin typeface="Calibri" panose="020F0502020204030204"/>
            </a:endParaRPr>
          </a:p>
        </p:txBody>
      </p:sp>
      <p:sp>
        <p:nvSpPr>
          <p:cNvPr id="15" name="TextBox 14"/>
          <p:cNvSpPr txBox="1"/>
          <p:nvPr/>
        </p:nvSpPr>
        <p:spPr>
          <a:xfrm>
            <a:off x="8385048" y="2377440"/>
            <a:ext cx="3118104" cy="365760"/>
          </a:xfrm>
          <a:prstGeom prst="rect">
            <a:avLst/>
          </a:prstGeom>
          <a:noFill/>
        </p:spPr>
        <p:txBody>
          <a:bodyPr wrap="square" lIns="0" tIns="0" rIns="0" bIns="0" anchor="ctr">
            <a:spAutoFit/>
          </a:bodyPr>
          <a:lstStyle/>
          <a:p>
            <a:pPr algn="l"/>
            <a:r>
              <a:rPr sz="1350" b="1">
                <a:solidFill>
                  <a:srgbClr val="057642"/>
                </a:solidFill>
                <a:latin typeface="Calibri" panose="020F0502020204030204"/>
              </a:rPr>
              <a:t>Silent timezone bug</a:t>
            </a:r>
            <a:endParaRPr sz="1350" b="1">
              <a:solidFill>
                <a:srgbClr val="057642"/>
              </a:solidFill>
              <a:latin typeface="Calibri" panose="020F0502020204030204"/>
            </a:endParaRPr>
          </a:p>
        </p:txBody>
      </p:sp>
      <p:sp>
        <p:nvSpPr>
          <p:cNvPr id="16" name="TextBox 15"/>
          <p:cNvSpPr txBox="1"/>
          <p:nvPr/>
        </p:nvSpPr>
        <p:spPr>
          <a:xfrm>
            <a:off x="8385048" y="2770632"/>
            <a:ext cx="3118104" cy="731519"/>
          </a:xfrm>
          <a:prstGeom prst="rect">
            <a:avLst/>
          </a:prstGeom>
          <a:noFill/>
        </p:spPr>
        <p:txBody>
          <a:bodyPr wrap="square" lIns="0" tIns="0" rIns="0" bIns="0" anchor="t">
            <a:spAutoFit/>
          </a:bodyPr>
          <a:lstStyle/>
          <a:p>
            <a:pPr algn="l">
              <a:lnSpc>
                <a:spcPct val="110000"/>
              </a:lnSpc>
            </a:pPr>
            <a:r>
              <a:rPr sz="950" b="0">
                <a:solidFill>
                  <a:srgbClr val="191919"/>
                </a:solidFill>
                <a:latin typeface="Calibri" panose="020F0502020204030204"/>
              </a:rPr>
              <a:t>PostgreSQL stored deadline dates correctly, but the Node driver's timezone conversion — and the return trip back to text — silently shifted saved deadlines back by a day. Invisible until specifically tested, and would have made reminders quietly never fire.</a:t>
            </a:r>
            <a:endParaRPr sz="950" b="0">
              <a:solidFill>
                <a:srgbClr val="191919"/>
              </a:solidFill>
              <a:latin typeface="Calibri" panose="020F0502020204030204"/>
            </a:endParaRPr>
          </a:p>
        </p:txBody>
      </p:sp>
      <p:sp>
        <p:nvSpPr>
          <p:cNvPr id="17" name="Rounded Rectangle 16"/>
          <p:cNvSpPr/>
          <p:nvPr/>
        </p:nvSpPr>
        <p:spPr>
          <a:xfrm>
            <a:off x="457200" y="3840480"/>
            <a:ext cx="5500116" cy="2148840"/>
          </a:xfrm>
          <a:prstGeom prst="roundRect">
            <a:avLst>
              <a:gd name="adj" fmla="val 3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 y="4069080"/>
            <a:ext cx="402336" cy="402336"/>
          </a:xfrm>
          <a:prstGeom prst="roundRect">
            <a:avLst>
              <a:gd name="adj" fmla="val 21053"/>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panose="020F0502020204030204"/>
              </a:rPr>
              <a:t>4</a:t>
            </a:r>
            <a:endParaRPr sz="1600" b="1">
              <a:solidFill>
                <a:srgbClr val="FFFFFF"/>
              </a:solidFill>
              <a:latin typeface="Calibri" panose="020F0502020204030204"/>
            </a:endParaRPr>
          </a:p>
        </p:txBody>
      </p:sp>
      <p:sp>
        <p:nvSpPr>
          <p:cNvPr id="19" name="TextBox 18"/>
          <p:cNvSpPr txBox="1"/>
          <p:nvPr/>
        </p:nvSpPr>
        <p:spPr>
          <a:xfrm>
            <a:off x="713232" y="4590288"/>
            <a:ext cx="4988052" cy="365760"/>
          </a:xfrm>
          <a:prstGeom prst="rect">
            <a:avLst/>
          </a:prstGeom>
          <a:noFill/>
        </p:spPr>
        <p:txBody>
          <a:bodyPr wrap="square" lIns="0" tIns="0" rIns="0" bIns="0" anchor="ctr">
            <a:spAutoFit/>
          </a:bodyPr>
          <a:lstStyle/>
          <a:p>
            <a:pPr algn="l"/>
            <a:r>
              <a:rPr sz="1450" b="1">
                <a:solidFill>
                  <a:srgbClr val="0A66C2"/>
                </a:solidFill>
                <a:latin typeface="Calibri" panose="020F0502020204030204"/>
              </a:rPr>
              <a:t>Scarce, credible datasets</a:t>
            </a:r>
            <a:endParaRPr sz="1450" b="1">
              <a:solidFill>
                <a:srgbClr val="0A66C2"/>
              </a:solidFill>
              <a:latin typeface="Calibri" panose="020F0502020204030204"/>
            </a:endParaRPr>
          </a:p>
        </p:txBody>
      </p:sp>
      <p:sp>
        <p:nvSpPr>
          <p:cNvPr id="20" name="TextBox 19"/>
          <p:cNvSpPr txBox="1"/>
          <p:nvPr/>
        </p:nvSpPr>
        <p:spPr>
          <a:xfrm>
            <a:off x="713232" y="4983480"/>
            <a:ext cx="4988052" cy="822960"/>
          </a:xfrm>
          <a:prstGeom prst="rect">
            <a:avLst/>
          </a:prstGeom>
          <a:noFill/>
        </p:spPr>
        <p:txBody>
          <a:bodyPr wrap="square" lIns="0" tIns="0" rIns="0" bIns="0" anchor="t">
            <a:spAutoFit/>
          </a:bodyPr>
          <a:lstStyle/>
          <a:p>
            <a:pPr algn="l">
              <a:lnSpc>
                <a:spcPct val="112000"/>
              </a:lnSpc>
            </a:pPr>
            <a:r>
              <a:rPr sz="1000" b="0">
                <a:solidFill>
                  <a:srgbClr val="191919"/>
                </a:solidFill>
                <a:latin typeface="Calibri" panose="020F0502020204030204"/>
              </a:rPr>
              <a:t>Finding a usable fraud-labeled dataset was its own struggle: most Kaggle/GitHub options had missing data, poor usability, or no credible sourcing behind their labels. After an extended search, I settled for a small, well-structured Kaggle dataset of Nigerian job postings for training.</a:t>
            </a:r>
            <a:endParaRPr sz="1000" b="0">
              <a:solidFill>
                <a:srgbClr val="191919"/>
              </a:solidFill>
              <a:latin typeface="Calibri" panose="020F0502020204030204"/>
            </a:endParaRPr>
          </a:p>
        </p:txBody>
      </p:sp>
      <p:sp>
        <p:nvSpPr>
          <p:cNvPr id="21" name="Rounded Rectangle 20"/>
          <p:cNvSpPr/>
          <p:nvPr/>
        </p:nvSpPr>
        <p:spPr>
          <a:xfrm>
            <a:off x="6231636" y="3840480"/>
            <a:ext cx="5500116" cy="2148840"/>
          </a:xfrm>
          <a:prstGeom prst="roundRect">
            <a:avLst>
              <a:gd name="adj" fmla="val 3000"/>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87668" y="4069080"/>
            <a:ext cx="402336" cy="402336"/>
          </a:xfrm>
          <a:prstGeom prst="roundRect">
            <a:avLst>
              <a:gd name="adj" fmla="val 21053"/>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panose="020F0502020204030204"/>
              </a:rPr>
              <a:t>5</a:t>
            </a:r>
            <a:endParaRPr sz="1600" b="1">
              <a:solidFill>
                <a:srgbClr val="FFFFFF"/>
              </a:solidFill>
              <a:latin typeface="Calibri" panose="020F0502020204030204"/>
            </a:endParaRPr>
          </a:p>
        </p:txBody>
      </p:sp>
      <p:sp>
        <p:nvSpPr>
          <p:cNvPr id="23" name="TextBox 22"/>
          <p:cNvSpPr txBox="1"/>
          <p:nvPr/>
        </p:nvSpPr>
        <p:spPr>
          <a:xfrm>
            <a:off x="6487668" y="4590288"/>
            <a:ext cx="4988052" cy="365760"/>
          </a:xfrm>
          <a:prstGeom prst="rect">
            <a:avLst/>
          </a:prstGeom>
          <a:noFill/>
        </p:spPr>
        <p:txBody>
          <a:bodyPr wrap="square" lIns="0" tIns="0" rIns="0" bIns="0" anchor="ctr">
            <a:spAutoFit/>
          </a:bodyPr>
          <a:lstStyle/>
          <a:p>
            <a:pPr algn="l"/>
            <a:r>
              <a:rPr sz="1450" b="1">
                <a:solidFill>
                  <a:srgbClr val="191919"/>
                </a:solidFill>
                <a:latin typeface="Calibri" panose="020F0502020204030204"/>
              </a:rPr>
              <a:t>Structured postings only</a:t>
            </a:r>
            <a:endParaRPr sz="1450" b="1">
              <a:solidFill>
                <a:srgbClr val="191919"/>
              </a:solidFill>
              <a:latin typeface="Calibri" panose="020F0502020204030204"/>
            </a:endParaRPr>
          </a:p>
        </p:txBody>
      </p:sp>
      <p:sp>
        <p:nvSpPr>
          <p:cNvPr id="24" name="TextBox 23"/>
          <p:cNvSpPr txBox="1"/>
          <p:nvPr/>
        </p:nvSpPr>
        <p:spPr>
          <a:xfrm>
            <a:off x="6487668" y="4983480"/>
            <a:ext cx="4988052" cy="822960"/>
          </a:xfrm>
          <a:prstGeom prst="rect">
            <a:avLst/>
          </a:prstGeom>
          <a:noFill/>
        </p:spPr>
        <p:txBody>
          <a:bodyPr wrap="square" lIns="0" tIns="0" rIns="0" bIns="0" anchor="t">
            <a:spAutoFit/>
          </a:bodyPr>
          <a:lstStyle/>
          <a:p>
            <a:pPr algn="l">
              <a:lnSpc>
                <a:spcPct val="112000"/>
              </a:lnSpc>
            </a:pPr>
            <a:r>
              <a:rPr sz="1000" b="0">
                <a:solidFill>
                  <a:srgbClr val="191919"/>
                </a:solidFill>
                <a:latin typeface="Calibri" panose="020F0502020204030204"/>
              </a:rPr>
              <a:t>The extension reads named, structured DOM fields (title, company, description...) that only exist on LinkedIn's dedicated job pages. It can't yet screen free-text hiring posts shared in the main feed — those have no structured fields to extract, and would need a fundamentally different technique (natural-language extraction, not DOM scraping).</a:t>
            </a:r>
            <a:endParaRPr sz="1000" b="0">
              <a:solidFill>
                <a:srgbClr val="191919"/>
              </a:solidFill>
              <a:latin typeface="Calibri" panose="020F0502020204030204"/>
            </a:endParaRPr>
          </a:p>
        </p:txBody>
      </p:sp>
      <p:sp>
        <p:nvSpPr>
          <p:cNvPr id="25" name="TextBox 24"/>
          <p:cNvSpPr txBox="1"/>
          <p:nvPr/>
        </p:nvSpPr>
        <p:spPr>
          <a:xfrm>
            <a:off x="457200" y="6537960"/>
            <a:ext cx="2743200" cy="274320"/>
          </a:xfrm>
          <a:prstGeom prst="rect">
            <a:avLst/>
          </a:prstGeom>
          <a:noFill/>
        </p:spPr>
        <p:txBody>
          <a:bodyPr wrap="square" lIns="0" tIns="0" rIns="0" bIns="0" anchor="ctr">
            <a:spAutoFit/>
          </a:bodyPr>
          <a:lstStyle/>
          <a:p>
            <a:pPr algn="l"/>
            <a:r>
              <a:rPr sz="1000" b="0">
                <a:solidFill>
                  <a:srgbClr val="666666"/>
                </a:solidFill>
                <a:latin typeface="Calibri" panose="020F0502020204030204"/>
              </a:rPr>
              <a:t>NokriExtenddd</a:t>
            </a:r>
            <a:endParaRPr sz="1000" b="0">
              <a:solidFill>
                <a:srgbClr val="666666"/>
              </a:solidFill>
              <a:latin typeface="Calibri" panose="020F0502020204030204"/>
            </a:endParaRPr>
          </a:p>
        </p:txBody>
      </p:sp>
      <p:sp>
        <p:nvSpPr>
          <p:cNvPr id="26" name="TextBox 25"/>
          <p:cNvSpPr txBox="1"/>
          <p:nvPr/>
        </p:nvSpPr>
        <p:spPr>
          <a:xfrm>
            <a:off x="9966960" y="6537960"/>
            <a:ext cx="1764792" cy="274320"/>
          </a:xfrm>
          <a:prstGeom prst="rect">
            <a:avLst/>
          </a:prstGeom>
          <a:noFill/>
        </p:spPr>
        <p:txBody>
          <a:bodyPr wrap="square" lIns="0" tIns="0" rIns="0" bIns="0" anchor="ctr">
            <a:spAutoFit/>
          </a:bodyPr>
          <a:lstStyle/>
          <a:p>
            <a:pPr algn="r"/>
            <a:r>
              <a:rPr sz="1000" b="0">
                <a:solidFill>
                  <a:srgbClr val="666666"/>
                </a:solidFill>
                <a:latin typeface="Calibri" panose="020F0502020204030204"/>
              </a:rPr>
              <a:t>06 / 07</a:t>
            </a:r>
            <a:endParaRPr sz="1000" b="0">
              <a:solidFill>
                <a:srgbClr val="666666"/>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548640" y="502920"/>
            <a:ext cx="7315200" cy="64008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Next Steps</a:t>
            </a:r>
            <a:endParaRPr lang="en-US" sz="3200" dirty="0"/>
          </a:p>
        </p:txBody>
      </p:sp>
      <p:sp>
        <p:nvSpPr>
          <p:cNvPr id="3" name="Text 1"/>
          <p:cNvSpPr/>
          <p:nvPr/>
        </p:nvSpPr>
        <p:spPr>
          <a:xfrm>
            <a:off x="566928" y="1097280"/>
            <a:ext cx="8229600" cy="365760"/>
          </a:xfrm>
          <a:prstGeom prst="rect">
            <a:avLst/>
          </a:prstGeom>
          <a:noFill/>
        </p:spPr>
        <p:txBody>
          <a:bodyPr wrap="square" lIns="0" tIns="0" rIns="0" bIns="0" rtlCol="0" anchor="ctr"/>
          <a:lstStyle/>
          <a:p>
            <a:pPr marL="0" indent="0">
              <a:buNone/>
            </a:pPr>
            <a:r>
              <a:rPr lang="en-US" sz="1400" dirty="0">
                <a:solidFill>
                  <a:srgbClr val="8FA3BF"/>
                </a:solidFill>
                <a:latin typeface="Calibri" panose="020F0502020204030204" pitchFamily="34" charset="0"/>
                <a:ea typeface="Calibri" panose="020F0502020204030204" pitchFamily="34" charset="-122"/>
                <a:cs typeface="Calibri" panose="020F0502020204030204" pitchFamily="34" charset="-120"/>
              </a:rPr>
              <a:t>What moves this from prototype to product</a:t>
            </a:r>
            <a:endParaRPr lang="en-US" sz="1400" dirty="0"/>
          </a:p>
        </p:txBody>
      </p:sp>
      <p:sp>
        <p:nvSpPr>
          <p:cNvPr id="4" name="Shape 2"/>
          <p:cNvSpPr/>
          <p:nvPr/>
        </p:nvSpPr>
        <p:spPr>
          <a:xfrm>
            <a:off x="548640" y="1737360"/>
            <a:ext cx="5440680" cy="1417320"/>
          </a:xfrm>
          <a:prstGeom prst="roundRect">
            <a:avLst>
              <a:gd name="adj" fmla="val 4516"/>
            </a:avLst>
          </a:prstGeom>
          <a:solidFill>
            <a:srgbClr val="1B2333"/>
          </a:solidFill>
        </p:spPr>
        <p:txBody>
          <a:bodyPr/>
          <a:lstStyle/>
          <a:p>
            <a:endParaRPr lang="en-US"/>
          </a:p>
        </p:txBody>
      </p:sp>
      <p:sp>
        <p:nvSpPr>
          <p:cNvPr id="5" name="Shape 3"/>
          <p:cNvSpPr/>
          <p:nvPr/>
        </p:nvSpPr>
        <p:spPr>
          <a:xfrm>
            <a:off x="749808" y="1938528"/>
            <a:ext cx="73152" cy="1014984"/>
          </a:xfrm>
          <a:prstGeom prst="roundRect">
            <a:avLst/>
          </a:prstGeom>
          <a:solidFill>
            <a:srgbClr val="0A66C2"/>
          </a:solidFill>
        </p:spPr>
        <p:txBody>
          <a:bodyPr/>
          <a:lstStyle/>
          <a:p>
            <a:endParaRPr lang="en-US"/>
          </a:p>
        </p:txBody>
      </p:sp>
      <p:sp>
        <p:nvSpPr>
          <p:cNvPr id="6" name="Text 4"/>
          <p:cNvSpPr/>
          <p:nvPr/>
        </p:nvSpPr>
        <p:spPr>
          <a:xfrm>
            <a:off x="932688" y="1883664"/>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Build a 100,000+ row labeled dataset</a:t>
            </a:r>
            <a:endParaRPr lang="en-US" sz="1350" dirty="0"/>
          </a:p>
        </p:txBody>
      </p:sp>
      <p:sp>
        <p:nvSpPr>
          <p:cNvPr id="7" name="Text 5"/>
          <p:cNvSpPr/>
          <p:nvPr/>
        </p:nvSpPr>
        <p:spPr>
          <a:xfrm>
            <a:off x="932688" y="2267712"/>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Manually label a far larger set of real and fake postings to retrain the model well past today's 202-row prototype scale.</a:t>
            </a:r>
            <a:endParaRPr lang="en-US" sz="1080" dirty="0"/>
          </a:p>
        </p:txBody>
      </p:sp>
      <p:sp>
        <p:nvSpPr>
          <p:cNvPr id="8" name="Shape 6"/>
          <p:cNvSpPr/>
          <p:nvPr/>
        </p:nvSpPr>
        <p:spPr>
          <a:xfrm>
            <a:off x="6309360" y="1737360"/>
            <a:ext cx="5440680" cy="1417320"/>
          </a:xfrm>
          <a:prstGeom prst="roundRect">
            <a:avLst>
              <a:gd name="adj" fmla="val 4516"/>
            </a:avLst>
          </a:prstGeom>
          <a:solidFill>
            <a:srgbClr val="1B2333"/>
          </a:solidFill>
        </p:spPr>
        <p:txBody>
          <a:bodyPr/>
          <a:lstStyle/>
          <a:p>
            <a:endParaRPr lang="en-US"/>
          </a:p>
        </p:txBody>
      </p:sp>
      <p:sp>
        <p:nvSpPr>
          <p:cNvPr id="9" name="Shape 7"/>
          <p:cNvSpPr/>
          <p:nvPr/>
        </p:nvSpPr>
        <p:spPr>
          <a:xfrm>
            <a:off x="6510528" y="1938528"/>
            <a:ext cx="73152" cy="1014984"/>
          </a:xfrm>
          <a:prstGeom prst="roundRect">
            <a:avLst/>
          </a:prstGeom>
          <a:solidFill>
            <a:srgbClr val="0A66C2"/>
          </a:solidFill>
        </p:spPr>
        <p:txBody>
          <a:bodyPr/>
          <a:lstStyle/>
          <a:p>
            <a:endParaRPr lang="en-US"/>
          </a:p>
        </p:txBody>
      </p:sp>
      <p:sp>
        <p:nvSpPr>
          <p:cNvPr id="10" name="Text 8"/>
          <p:cNvSpPr/>
          <p:nvPr/>
        </p:nvSpPr>
        <p:spPr>
          <a:xfrm>
            <a:off x="6693408" y="1883664"/>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Detect “is this a job post at all” first</a:t>
            </a:r>
            <a:endParaRPr lang="en-US" sz="1350" dirty="0"/>
          </a:p>
        </p:txBody>
      </p:sp>
      <p:sp>
        <p:nvSpPr>
          <p:cNvPr id="11" name="Text 9"/>
          <p:cNvSpPr/>
          <p:nvPr/>
        </p:nvSpPr>
        <p:spPr>
          <a:xfrm>
            <a:off x="6693408" y="2267712"/>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Add a classification step ahead of fraud scoring so the system can eventually screen general feed content, not just structured job pages.</a:t>
            </a:r>
            <a:endParaRPr lang="en-US" sz="1080" dirty="0"/>
          </a:p>
        </p:txBody>
      </p:sp>
      <p:sp>
        <p:nvSpPr>
          <p:cNvPr id="12" name="Shape 10"/>
          <p:cNvSpPr/>
          <p:nvPr/>
        </p:nvSpPr>
        <p:spPr>
          <a:xfrm>
            <a:off x="548640" y="3355848"/>
            <a:ext cx="5440680" cy="1417320"/>
          </a:xfrm>
          <a:prstGeom prst="roundRect">
            <a:avLst>
              <a:gd name="adj" fmla="val 4516"/>
            </a:avLst>
          </a:prstGeom>
          <a:solidFill>
            <a:srgbClr val="1B2333"/>
          </a:solidFill>
        </p:spPr>
        <p:txBody>
          <a:bodyPr/>
          <a:lstStyle/>
          <a:p>
            <a:endParaRPr lang="en-US"/>
          </a:p>
        </p:txBody>
      </p:sp>
      <p:sp>
        <p:nvSpPr>
          <p:cNvPr id="13" name="Shape 11"/>
          <p:cNvSpPr/>
          <p:nvPr/>
        </p:nvSpPr>
        <p:spPr>
          <a:xfrm>
            <a:off x="749808" y="3557016"/>
            <a:ext cx="73152" cy="1014984"/>
          </a:xfrm>
          <a:prstGeom prst="roundRect">
            <a:avLst/>
          </a:prstGeom>
          <a:solidFill>
            <a:srgbClr val="0A66C2"/>
          </a:solidFill>
        </p:spPr>
        <p:txBody>
          <a:bodyPr/>
          <a:lstStyle/>
          <a:p>
            <a:endParaRPr lang="en-US"/>
          </a:p>
        </p:txBody>
      </p:sp>
      <p:sp>
        <p:nvSpPr>
          <p:cNvPr id="14" name="Text 12"/>
          <p:cNvSpPr/>
          <p:nvPr/>
        </p:nvSpPr>
        <p:spPr>
          <a:xfrm>
            <a:off x="932688" y="3502152"/>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Refine the formula against research literature</a:t>
            </a:r>
            <a:endParaRPr lang="en-US" sz="1350" dirty="0"/>
          </a:p>
        </p:txBody>
      </p:sp>
      <p:sp>
        <p:nvSpPr>
          <p:cNvPr id="15" name="Text 13"/>
          <p:cNvSpPr/>
          <p:nvPr/>
        </p:nvSpPr>
        <p:spPr>
          <a:xfrm>
            <a:off x="932688" y="3886200"/>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Review published job-fraud-detection research to validate or adjust the current 0.6 / 0.3 / 0.1 weighting, rather than relying on an educated guess.</a:t>
            </a:r>
            <a:endParaRPr lang="en-US" sz="1080" dirty="0"/>
          </a:p>
        </p:txBody>
      </p:sp>
      <p:sp>
        <p:nvSpPr>
          <p:cNvPr id="16" name="Shape 14"/>
          <p:cNvSpPr/>
          <p:nvPr/>
        </p:nvSpPr>
        <p:spPr>
          <a:xfrm>
            <a:off x="6309360" y="3355848"/>
            <a:ext cx="5440680" cy="1417320"/>
          </a:xfrm>
          <a:prstGeom prst="roundRect">
            <a:avLst>
              <a:gd name="adj" fmla="val 4516"/>
            </a:avLst>
          </a:prstGeom>
          <a:solidFill>
            <a:srgbClr val="1B2333"/>
          </a:solidFill>
        </p:spPr>
        <p:txBody>
          <a:bodyPr/>
          <a:lstStyle/>
          <a:p>
            <a:endParaRPr lang="en-US"/>
          </a:p>
        </p:txBody>
      </p:sp>
      <p:sp>
        <p:nvSpPr>
          <p:cNvPr id="17" name="Shape 15"/>
          <p:cNvSpPr/>
          <p:nvPr/>
        </p:nvSpPr>
        <p:spPr>
          <a:xfrm>
            <a:off x="6510528" y="3557016"/>
            <a:ext cx="73152" cy="1014984"/>
          </a:xfrm>
          <a:prstGeom prst="roundRect">
            <a:avLst/>
          </a:prstGeom>
          <a:solidFill>
            <a:srgbClr val="057642"/>
          </a:solidFill>
        </p:spPr>
        <p:txBody>
          <a:bodyPr/>
          <a:lstStyle/>
          <a:p>
            <a:endParaRPr lang="en-US"/>
          </a:p>
        </p:txBody>
      </p:sp>
      <p:sp>
        <p:nvSpPr>
          <p:cNvPr id="18" name="Text 16"/>
          <p:cNvSpPr/>
          <p:nvPr/>
        </p:nvSpPr>
        <p:spPr>
          <a:xfrm>
            <a:off x="6693408" y="3502152"/>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Fix the known scraping gaps</a:t>
            </a:r>
            <a:endParaRPr lang="en-US" sz="1350" dirty="0"/>
          </a:p>
        </p:txBody>
      </p:sp>
      <p:sp>
        <p:nvSpPr>
          <p:cNvPr id="19" name="Text 17"/>
          <p:cNvSpPr/>
          <p:nvPr/>
        </p:nvSpPr>
        <p:spPr>
          <a:xfrm>
            <a:off x="6693408" y="3886200"/>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Resolve salary under-reporting and continue hardening the scraper against LinkedIn layout changes.</a:t>
            </a:r>
            <a:endParaRPr lang="en-US" sz="1080" dirty="0"/>
          </a:p>
        </p:txBody>
      </p:sp>
      <p:sp>
        <p:nvSpPr>
          <p:cNvPr id="20" name="Shape 18"/>
          <p:cNvSpPr/>
          <p:nvPr/>
        </p:nvSpPr>
        <p:spPr>
          <a:xfrm>
            <a:off x="548640" y="4974336"/>
            <a:ext cx="5440680" cy="1417320"/>
          </a:xfrm>
          <a:prstGeom prst="roundRect">
            <a:avLst>
              <a:gd name="adj" fmla="val 4516"/>
            </a:avLst>
          </a:prstGeom>
          <a:solidFill>
            <a:srgbClr val="1B2333"/>
          </a:solidFill>
        </p:spPr>
        <p:txBody>
          <a:bodyPr/>
          <a:lstStyle/>
          <a:p>
            <a:endParaRPr lang="en-US"/>
          </a:p>
        </p:txBody>
      </p:sp>
      <p:sp>
        <p:nvSpPr>
          <p:cNvPr id="21" name="Shape 19"/>
          <p:cNvSpPr/>
          <p:nvPr/>
        </p:nvSpPr>
        <p:spPr>
          <a:xfrm>
            <a:off x="749808" y="5175504"/>
            <a:ext cx="73152" cy="1014984"/>
          </a:xfrm>
          <a:prstGeom prst="roundRect">
            <a:avLst/>
          </a:prstGeom>
          <a:solidFill>
            <a:srgbClr val="057642"/>
          </a:solidFill>
        </p:spPr>
        <p:txBody>
          <a:bodyPr/>
          <a:lstStyle/>
          <a:p>
            <a:endParaRPr lang="en-US"/>
          </a:p>
        </p:txBody>
      </p:sp>
      <p:sp>
        <p:nvSpPr>
          <p:cNvPr id="22" name="Text 20"/>
          <p:cNvSpPr/>
          <p:nvPr/>
        </p:nvSpPr>
        <p:spPr>
          <a:xfrm>
            <a:off x="932688" y="5120640"/>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Move off localhost</a:t>
            </a:r>
            <a:endParaRPr lang="en-US" sz="1350" dirty="0"/>
          </a:p>
        </p:txBody>
      </p:sp>
      <p:sp>
        <p:nvSpPr>
          <p:cNvPr id="23" name="Text 21"/>
          <p:cNvSpPr/>
          <p:nvPr/>
        </p:nvSpPr>
        <p:spPr>
          <a:xfrm>
            <a:off x="932688" y="5504688"/>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Choose a hosting provider, enable HTTPS, and prepare the Chrome Web Store submission + privacy policy.</a:t>
            </a:r>
            <a:endParaRPr lang="en-US" sz="1080" dirty="0"/>
          </a:p>
        </p:txBody>
      </p:sp>
      <p:sp>
        <p:nvSpPr>
          <p:cNvPr id="24" name="Shape 22"/>
          <p:cNvSpPr/>
          <p:nvPr/>
        </p:nvSpPr>
        <p:spPr>
          <a:xfrm>
            <a:off x="6309360" y="4974336"/>
            <a:ext cx="5440680" cy="1417320"/>
          </a:xfrm>
          <a:prstGeom prst="roundRect">
            <a:avLst>
              <a:gd name="adj" fmla="val 4516"/>
            </a:avLst>
          </a:prstGeom>
          <a:solidFill>
            <a:srgbClr val="1B2333"/>
          </a:solidFill>
        </p:spPr>
        <p:txBody>
          <a:bodyPr/>
          <a:lstStyle/>
          <a:p>
            <a:endParaRPr lang="en-US"/>
          </a:p>
        </p:txBody>
      </p:sp>
      <p:sp>
        <p:nvSpPr>
          <p:cNvPr id="25" name="Shape 23"/>
          <p:cNvSpPr/>
          <p:nvPr/>
        </p:nvSpPr>
        <p:spPr>
          <a:xfrm>
            <a:off x="6510528" y="5175504"/>
            <a:ext cx="73152" cy="1014984"/>
          </a:xfrm>
          <a:prstGeom prst="roundRect">
            <a:avLst/>
          </a:prstGeom>
          <a:solidFill>
            <a:srgbClr val="057642"/>
          </a:solidFill>
        </p:spPr>
        <p:txBody>
          <a:bodyPr/>
          <a:lstStyle/>
          <a:p>
            <a:endParaRPr lang="en-US"/>
          </a:p>
        </p:txBody>
      </p:sp>
      <p:sp>
        <p:nvSpPr>
          <p:cNvPr id="26" name="Text 24"/>
          <p:cNvSpPr/>
          <p:nvPr/>
        </p:nvSpPr>
        <p:spPr>
          <a:xfrm>
            <a:off x="6693408" y="5120640"/>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Expand to mobile &amp; other browsers</a:t>
            </a:r>
            <a:endParaRPr lang="en-US" sz="1350" dirty="0"/>
          </a:p>
        </p:txBody>
      </p:sp>
      <p:sp>
        <p:nvSpPr>
          <p:cNvPr id="27" name="Text 25"/>
          <p:cNvSpPr/>
          <p:nvPr/>
        </p:nvSpPr>
        <p:spPr>
          <a:xfrm>
            <a:off x="6693408" y="5504688"/>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Build a mobile companion app and add support for other Chromium/WebExtension browsers like Edge, so protection isn't limited to one desktop browser.</a:t>
            </a:r>
            <a:endParaRPr lang="en-US" sz="1080" dirty="0"/>
          </a:p>
        </p:txBody>
      </p:sp>
      <p:sp>
        <p:nvSpPr>
          <p:cNvPr id="29" name="Text 27"/>
          <p:cNvSpPr/>
          <p:nvPr/>
        </p:nvSpPr>
        <p:spPr>
          <a:xfrm>
            <a:off x="713232" y="6355080"/>
            <a:ext cx="10735056" cy="566928"/>
          </a:xfrm>
          <a:prstGeom prst="rect">
            <a:avLst/>
          </a:prstGeom>
          <a:noFill/>
        </p:spPr>
        <p:txBody>
          <a:bodyPr wrap="square" lIns="0" tIns="0" rIns="0" bIns="0" rtlCol="0" anchor="ctr"/>
          <a:lstStyle/>
          <a:p>
            <a:pPr marL="0" indent="0">
              <a:buNone/>
            </a:pPr>
            <a:endParaRPr lang="en-US" sz="1100" dirty="0"/>
          </a:p>
        </p:txBody>
      </p:sp>
      <p:sp>
        <p:nvSpPr>
          <p:cNvPr id="30" name="Text 28"/>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07 / 07</a:t>
            </a:r>
            <a:endParaRPr lang="en-US" sz="1000" dirty="0"/>
          </a:p>
        </p:txBody>
      </p:sp>
      <p:sp>
        <p:nvSpPr>
          <p:cNvPr id="31" name="Text 29"/>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6031</Words>
  <Application>WPS Presentation</Application>
  <PresentationFormat>Custom</PresentationFormat>
  <Paragraphs>274</Paragraphs>
  <Slides>7</Slides>
  <Notes>10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SimSun</vt:lpstr>
      <vt:lpstr>Wingdings</vt:lpstr>
      <vt:lpstr>Calibri</vt:lpstr>
      <vt:lpstr>Calibri</vt:lpstr>
      <vt:lpstr>Calibri</vt:lpstr>
      <vt:lpstr>Calibri</vt:lpstr>
      <vt:lpstr>Microsoft YaHei</vt:lpstr>
      <vt:lpstr>Arial Unicode MS</vt:lpstr>
      <vt:lpstr>Aptos</vt:lpstr>
      <vt:lpstr>Segoe UI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amahb</cp:lastModifiedBy>
  <cp:revision>12</cp:revision>
  <dcterms:created xsi:type="dcterms:W3CDTF">2026-07-26T06:59:00Z</dcterms:created>
  <dcterms:modified xsi:type="dcterms:W3CDTF">2026-08-03T08:13:52Z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78CAF33CBCF946619FBC914B1E8E39CF_12</vt:lpwstr>
  </property>
</Properties>
</file>